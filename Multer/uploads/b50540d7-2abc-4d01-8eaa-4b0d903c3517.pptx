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hyperledger-fabric.readthedocs.io/en/release-2.5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nsdcindia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cvet.gov.in/guidelines/" TargetMode="External"/><Relationship Id="rId5" Type="http://schemas.openxmlformats.org/officeDocument/2006/relationships/hyperlink" Target="https://www.w3.org/TR/did-1.0/" TargetMode="External"/><Relationship Id="rId10" Type="http://schemas.openxmlformats.org/officeDocument/2006/relationships/hyperlink" Target="https://link.springer.com/chapter/10.1007/978-3-031-42467-0_85" TargetMode="External"/><Relationship Id="rId4" Type="http://schemas.openxmlformats.org/officeDocument/2006/relationships/hyperlink" Target="https://www.w3.org/TR/vc-overview/" TargetMode="External"/><Relationship Id="rId9" Type="http://schemas.openxmlformats.org/officeDocument/2006/relationships/hyperlink" Target="https://ieeexplore.ieee.org/document/110872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67467" y="253561"/>
            <a:ext cx="8534400" cy="106726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514" y="1006913"/>
            <a:ext cx="6767831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SIH25200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Blockchain-Based Skill Credentialing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/>
              <a:t>83855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/>
              <a:t>_</a:t>
            </a:r>
            <a:r>
              <a:rPr lang="en-US" sz="2400" b="1" dirty="0" err="1"/>
              <a:t>OmnitriX</a:t>
            </a:r>
            <a:r>
              <a:rPr lang="en-US" sz="2400" b="1" dirty="0"/>
              <a:t>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-44528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5137" y="-20950"/>
            <a:ext cx="2058316" cy="80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2A5FC6-3885-5AB8-A1D9-D280122517C3}"/>
              </a:ext>
            </a:extLst>
          </p:cNvPr>
          <p:cNvSpPr txBox="1"/>
          <p:nvPr/>
        </p:nvSpPr>
        <p:spPr>
          <a:xfrm>
            <a:off x="329773" y="1422592"/>
            <a:ext cx="5766228" cy="554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>
              <a:spcAft>
                <a:spcPts val="225"/>
              </a:spcAft>
            </a:pPr>
            <a:r>
              <a:rPr lang="en-US" sz="1600" dirty="0"/>
              <a:t>A </a:t>
            </a:r>
            <a:r>
              <a:rPr lang="en-US" sz="1600" b="1" dirty="0"/>
              <a:t>blockchain</a:t>
            </a:r>
            <a:r>
              <a:rPr lang="en-US" sz="1600" dirty="0"/>
              <a:t> platform that issues and verifies </a:t>
            </a:r>
            <a:r>
              <a:rPr lang="en-US" sz="1600" b="1" dirty="0"/>
              <a:t>Skill &amp; Identity Tokens (SITs)  </a:t>
            </a:r>
            <a:r>
              <a:rPr lang="en-US" sz="1600" dirty="0"/>
              <a:t>securely, digitally, learner-owned credentials built using the concept of </a:t>
            </a:r>
            <a:r>
              <a:rPr lang="en-US" sz="1600" b="1" dirty="0" err="1"/>
              <a:t>Soulbound</a:t>
            </a:r>
            <a:r>
              <a:rPr lang="en-US" sz="1600" b="1" dirty="0"/>
              <a:t> Tokens (SBTs).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Tamper-proof</a:t>
            </a:r>
            <a:r>
              <a:rPr lang="en-US" sz="1600" dirty="0"/>
              <a:t> &amp;</a:t>
            </a:r>
            <a:r>
              <a:rPr lang="en-US" sz="1600" b="1" dirty="0"/>
              <a:t> non-transferable </a:t>
            </a:r>
            <a:r>
              <a:rPr lang="en-US" sz="1600" dirty="0"/>
              <a:t>digital credentials built on </a:t>
            </a:r>
            <a:r>
              <a:rPr lang="en-US" sz="1600" b="1" dirty="0" err="1"/>
              <a:t>Soulbound</a:t>
            </a:r>
            <a:r>
              <a:rPr lang="en-US" sz="1600" b="1" dirty="0"/>
              <a:t> Token </a:t>
            </a:r>
            <a:r>
              <a:rPr lang="en-US" sz="1600" dirty="0"/>
              <a:t>(SBT) concepts.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Credentials bound to learners verified identities &amp; </a:t>
            </a:r>
            <a:r>
              <a:rPr lang="en-US" sz="1600" b="1" dirty="0"/>
              <a:t>Selective Disclosure</a:t>
            </a:r>
            <a:r>
              <a:rPr lang="en-US" sz="1600" dirty="0"/>
              <a:t>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Stored in learner’s </a:t>
            </a:r>
            <a:r>
              <a:rPr lang="en-US" sz="1600" b="1" dirty="0"/>
              <a:t>digital wallet </a:t>
            </a:r>
            <a:r>
              <a:rPr lang="en-US" sz="1600" dirty="0"/>
              <a:t>for lifelong access.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Permissioned Hyperledger Fabric blockchain </a:t>
            </a:r>
            <a:r>
              <a:rPr lang="en-US" sz="1600" dirty="0"/>
              <a:t>ensures security, governance, and auditability.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Instant verification via </a:t>
            </a:r>
            <a:r>
              <a:rPr lang="en-US" sz="1600" b="1" dirty="0"/>
              <a:t>QR code </a:t>
            </a:r>
            <a:r>
              <a:rPr lang="en-US" sz="1600" dirty="0"/>
              <a:t>or </a:t>
            </a:r>
            <a:r>
              <a:rPr lang="en-US" sz="1600" b="1" dirty="0"/>
              <a:t>REST API </a:t>
            </a:r>
            <a:r>
              <a:rPr lang="en-US" sz="1600" dirty="0"/>
              <a:t>for employers and institutions.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Integrated &amp; compliant with </a:t>
            </a:r>
            <a:r>
              <a:rPr lang="en-US" sz="1600" b="1" dirty="0"/>
              <a:t>Aadhaar, DigiLocker, Skill India Portal.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Future-Ready Architecture: </a:t>
            </a:r>
            <a:r>
              <a:rPr lang="en-US" sz="1600" b="1" dirty="0"/>
              <a:t>Scalable</a:t>
            </a:r>
            <a:r>
              <a:rPr lang="en-US" sz="1600" dirty="0"/>
              <a:t>, supports </a:t>
            </a:r>
            <a:r>
              <a:rPr lang="en-US" sz="1600" b="1" dirty="0"/>
              <a:t>millions of credentials</a:t>
            </a:r>
            <a:r>
              <a:rPr lang="en-US" sz="1600" dirty="0"/>
              <a:t>, compatible with global standards.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Privacy by Design: Only </a:t>
            </a:r>
            <a:r>
              <a:rPr lang="en-US" sz="1600" b="1" dirty="0"/>
              <a:t>hashes stored on-chain sensitive data kept off-chain for security and compliance</a:t>
            </a:r>
            <a:r>
              <a:rPr lang="en-US" sz="1600" dirty="0"/>
              <a:t>.</a:t>
            </a:r>
          </a:p>
          <a:p>
            <a:pPr>
              <a:spcAft>
                <a:spcPts val="225"/>
              </a:spcAft>
            </a:pPr>
            <a:endParaRPr lang="en-US" sz="1600" b="1" dirty="0"/>
          </a:p>
          <a:p>
            <a:pPr>
              <a:spcAft>
                <a:spcPts val="225"/>
              </a:spcAft>
            </a:pPr>
            <a:endParaRPr 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88876-6E3D-2F53-236D-EF2356081FD0}"/>
              </a:ext>
            </a:extLst>
          </p:cNvPr>
          <p:cNvSpPr txBox="1"/>
          <p:nvPr/>
        </p:nvSpPr>
        <p:spPr>
          <a:xfrm>
            <a:off x="329773" y="848746"/>
            <a:ext cx="11439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Problem Addressed: Current vocational certificates in India face forgery, delays, and lack of interoperability, reducing trust and creating barriers for learners, employers, and institutions.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87D75-A608-1431-D233-D42587F08653}"/>
              </a:ext>
            </a:extLst>
          </p:cNvPr>
          <p:cNvSpPr txBox="1"/>
          <p:nvPr/>
        </p:nvSpPr>
        <p:spPr>
          <a:xfrm>
            <a:off x="6250200" y="1495883"/>
            <a:ext cx="5519013" cy="256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25"/>
              </a:spcAft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Unique Value Proposition:</a:t>
            </a:r>
          </a:p>
          <a:p>
            <a:pPr>
              <a:lnSpc>
                <a:spcPts val="1500"/>
              </a:lnSpc>
              <a:spcAft>
                <a:spcPts val="225"/>
              </a:spcAft>
            </a:pPr>
            <a:endParaRPr lang="en-US" sz="1600" b="1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Learner-Owned Credentials: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Learners truly control and own their skills record.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Non-Transferable SITs: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Each credential is bound to the learner’s identity → eliminates fraud.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Instant Global Verification: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Employers and institutions verify credentials in seconds.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Privacy by Design: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Only hashes stored on-chain, sensitive data stays off-chain.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Scalable &amp; Future-Ready: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Supports millions of learners, compatible with global standards.</a:t>
            </a:r>
            <a:endParaRPr lang="en-US" sz="1600" i="0" dirty="0"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CD50EF79-189A-85DF-C715-22CE6802E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102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pic>
        <p:nvPicPr>
          <p:cNvPr id="10" name="Picture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1DFB1CB-398D-55E8-4FD1-E2F00CFE8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00" y="4013692"/>
            <a:ext cx="5833253" cy="2055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9C940F75-9D6E-BD2C-66B9-519CD16D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5" y="426570"/>
            <a:ext cx="7379017" cy="56252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39F2B8D-B666-4709-BE5C-15C1C9AB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655" y="1095375"/>
            <a:ext cx="4374572" cy="4948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27AC5-512B-B080-C125-009C2246C0F4}"/>
              </a:ext>
            </a:extLst>
          </p:cNvPr>
          <p:cNvSpPr txBox="1"/>
          <p:nvPr/>
        </p:nvSpPr>
        <p:spPr>
          <a:xfrm>
            <a:off x="9076494" y="5984564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4D598FD5-0F3E-710B-36FE-DFBFAFD7A2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0208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F99E0-901A-B35D-0ECE-C408865C5C67}"/>
              </a:ext>
            </a:extLst>
          </p:cNvPr>
          <p:cNvSpPr txBox="1"/>
          <p:nvPr/>
        </p:nvSpPr>
        <p:spPr>
          <a:xfrm>
            <a:off x="2590636" y="5983514"/>
            <a:ext cx="242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AC9AA-C107-D321-2F76-95D123879B23}"/>
              </a:ext>
            </a:extLst>
          </p:cNvPr>
          <p:cNvSpPr txBox="1"/>
          <p:nvPr/>
        </p:nvSpPr>
        <p:spPr>
          <a:xfrm>
            <a:off x="329773" y="1414327"/>
            <a:ext cx="5457963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FEASIBILITY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Technical:</a:t>
            </a:r>
            <a:r>
              <a:rPr lang="en-US" dirty="0"/>
              <a:t> Utilizes mature, enterprise-grade technologies (Hyperledger Fabric, DID) proven for high-throughput, secure applications.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Operational:</a:t>
            </a:r>
            <a:r>
              <a:rPr lang="en-US" dirty="0"/>
              <a:t> Intuitive for all users. Learners use a simple mobile wallet, and employers use a QR scanner. NCVET's governance provides a clear operational framework.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Economic:</a:t>
            </a:r>
            <a:r>
              <a:rPr lang="en-US" dirty="0"/>
              <a:t> Drastically reduces administrative and verification costs (75% reduction). Low transaction costs after initial setup make it highly scalable and sustainable.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7701-B5BC-16CB-9C6B-658554EF284F}"/>
              </a:ext>
            </a:extLst>
          </p:cNvPr>
          <p:cNvSpPr txBox="1"/>
          <p:nvPr/>
        </p:nvSpPr>
        <p:spPr>
          <a:xfrm>
            <a:off x="6103064" y="1397675"/>
            <a:ext cx="5759163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Potential challenges and risks: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Adoption:</a:t>
            </a:r>
            <a:r>
              <a:rPr lang="en-US" dirty="0"/>
              <a:t> Onboarding thousands of institutes and millions of learners.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Integration:</a:t>
            </a:r>
            <a:r>
              <a:rPr lang="en-US" dirty="0"/>
              <a:t> Ensuring seamless API connectivity with diverse government systems (Aadhaar, DigiLocker , Skill India Portal).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Connectivity:</a:t>
            </a:r>
            <a:r>
              <a:rPr lang="en-US" dirty="0"/>
              <a:t> Ensuring verification works in low-internet areas.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6B3B7-4C6C-87DD-7454-65479591D893}"/>
              </a:ext>
            </a:extLst>
          </p:cNvPr>
          <p:cNvSpPr txBox="1"/>
          <p:nvPr/>
        </p:nvSpPr>
        <p:spPr>
          <a:xfrm>
            <a:off x="6103064" y="3879274"/>
            <a:ext cx="5759163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Strategies for overcoming these challenges: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Phased Rollout: </a:t>
            </a:r>
            <a:r>
              <a:rPr lang="en-US" dirty="0"/>
              <a:t>Provide clear onboarding guides and run awareness campaigns.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Robust APIs &amp; Partnerships:</a:t>
            </a:r>
            <a:r>
              <a:rPr lang="en-US" dirty="0"/>
              <a:t> Work directly with government bodies to ensure smooth integration.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Offline Verification:</a:t>
            </a:r>
            <a:r>
              <a:rPr lang="en-US" dirty="0"/>
              <a:t> The wallet will have a feature for offline QR code verification using cached credentials.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B0F1BAD-3064-2A50-3E27-8230170A3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9894" y="3929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B0897-6F7E-B8FE-8402-97BA9592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4" y="1610591"/>
            <a:ext cx="5928874" cy="4654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862278-5259-7F87-0F67-FD527D4D4ECE}"/>
              </a:ext>
            </a:extLst>
          </p:cNvPr>
          <p:cNvSpPr txBox="1"/>
          <p:nvPr/>
        </p:nvSpPr>
        <p:spPr>
          <a:xfrm>
            <a:off x="6507382" y="1642404"/>
            <a:ext cx="526472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Benefits of the solution (social, economic, environmental, etc.):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Social Benefit:</a:t>
            </a:r>
            <a:r>
              <a:rPr lang="en-US" dirty="0"/>
              <a:t> Increases trust and transparency in the national vocational education system. Empowers youth with control over their achievements.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Economic Benefit:</a:t>
            </a:r>
            <a:r>
              <a:rPr lang="en-US" dirty="0"/>
              <a:t> Significant cost savings for businesses, reduces unemployment delays, and boosts the value of skilled labor.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/>
              <a:t>Environmental Benefit:</a:t>
            </a:r>
            <a:r>
              <a:rPr lang="en-US" dirty="0"/>
              <a:t> Reduces reliance on paper-based certificates and manual verification processes.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E9F4694-50C7-0C52-A02F-2E2850961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6A2C36C-6B80-B462-A5AC-365D12F09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A8C36-33D0-1019-557B-7B00FF4E0B3B}"/>
              </a:ext>
            </a:extLst>
          </p:cNvPr>
          <p:cNvSpPr txBox="1"/>
          <p:nvPr/>
        </p:nvSpPr>
        <p:spPr>
          <a:xfrm>
            <a:off x="475488" y="1359451"/>
            <a:ext cx="11831030" cy="39703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References:</a:t>
            </a:r>
            <a:br>
              <a:rPr lang="en-IN" b="1" dirty="0"/>
            </a:br>
            <a:r>
              <a:rPr lang="en-IN" b="1" dirty="0"/>
              <a:t>[1] </a:t>
            </a:r>
            <a:r>
              <a:rPr lang="en-US" b="1" dirty="0">
                <a:hlinkClick r:id="rId4"/>
              </a:rPr>
              <a:t>W3C Verifiable Credentials (VC): Global standard for digital credentials</a:t>
            </a:r>
            <a:endParaRPr lang="en-US" b="1" dirty="0"/>
          </a:p>
          <a:p>
            <a:endParaRPr lang="en-US" b="1" dirty="0"/>
          </a:p>
          <a:p>
            <a:r>
              <a:rPr lang="en-IN" dirty="0"/>
              <a:t>[2] </a:t>
            </a:r>
            <a:r>
              <a:rPr lang="en-US" dirty="0">
                <a:hlinkClick r:id="rId5"/>
              </a:rPr>
              <a:t>Decentralized Identifiers (DID): Foundation for self-sovereign identity (SSI).</a:t>
            </a:r>
            <a:endParaRPr lang="en-US" dirty="0"/>
          </a:p>
          <a:p>
            <a:endParaRPr lang="en-US" dirty="0"/>
          </a:p>
          <a:p>
            <a:r>
              <a:rPr lang="en-US" dirty="0"/>
              <a:t>[3] </a:t>
            </a:r>
            <a:r>
              <a:rPr lang="en-US" dirty="0">
                <a:hlinkClick r:id="rId6"/>
              </a:rPr>
              <a:t>NCVET (National Council for Vocational Education and Training): Credential governance &amp; policy.</a:t>
            </a:r>
            <a:endParaRPr lang="en-US" dirty="0"/>
          </a:p>
          <a:p>
            <a:endParaRPr lang="en-US" dirty="0"/>
          </a:p>
          <a:p>
            <a:r>
              <a:rPr lang="en-US" dirty="0"/>
              <a:t>[4] </a:t>
            </a:r>
            <a:r>
              <a:rPr lang="en-US" dirty="0">
                <a:hlinkClick r:id="rId7"/>
              </a:rPr>
              <a:t>NSDC (National Skill Development Corporation): Skill development programs &amp; reporting standards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[5] </a:t>
            </a:r>
            <a:r>
              <a:rPr lang="en-US" dirty="0">
                <a:hlinkClick r:id="rId8"/>
              </a:rPr>
              <a:t>Hyperledger Fabric Documentation: Enterprise-grade permissioned blockchain framework.</a:t>
            </a:r>
            <a:endParaRPr lang="en-US" dirty="0"/>
          </a:p>
          <a:p>
            <a:endParaRPr lang="en-US" dirty="0"/>
          </a:p>
          <a:p>
            <a:r>
              <a:rPr lang="en-US" dirty="0"/>
              <a:t>[6] </a:t>
            </a:r>
            <a:r>
              <a:rPr lang="en-US" dirty="0">
                <a:hlinkClick r:id="rId9"/>
              </a:rPr>
              <a:t>Blockchain-Based Credential Models: Enhancing Verification With </a:t>
            </a:r>
            <a:r>
              <a:rPr lang="en-US" dirty="0" err="1">
                <a:hlinkClick r:id="rId9"/>
              </a:rPr>
              <a:t>Soulbound</a:t>
            </a:r>
            <a:r>
              <a:rPr lang="en-US" dirty="0">
                <a:hlinkClick r:id="rId9"/>
              </a:rPr>
              <a:t> Tokens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[7] </a:t>
            </a:r>
            <a:r>
              <a:rPr lang="en-US" dirty="0">
                <a:hlinkClick r:id="rId10"/>
              </a:rPr>
              <a:t>Blockchain Technology and Vocational Open Online Courses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683</Words>
  <Application>Microsoft Office PowerPoint</Application>
  <PresentationFormat>Widescreen</PresentationFormat>
  <Paragraphs>89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Prathamesh Madane</cp:lastModifiedBy>
  <cp:revision>152</cp:revision>
  <dcterms:created xsi:type="dcterms:W3CDTF">2013-12-12T18:46:50Z</dcterms:created>
  <dcterms:modified xsi:type="dcterms:W3CDTF">2025-10-15T17:11:40Z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2025-10-15T16:16:16Z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b3392217-3426-4ef2-85ae-bda038aed164</vt:lpwstr>
  </property>
  <property fmtid="{D5CDD505-2E9C-101B-9397-08002B2CF9AE}" pid="7" name="MSIP_Label_defa4170-0d19-0005-0004-bc88714345d2_ActionId">
    <vt:lpwstr>99cb7262-0c67-446b-b395-2325db224abb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