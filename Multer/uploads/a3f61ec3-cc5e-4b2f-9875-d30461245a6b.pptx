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91"/>
      </p:cViewPr>
      <p:guideLst>
        <p:guide orient="horz" pos="2137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67467" y="253561"/>
            <a:ext cx="8534400" cy="1067267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2024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1514" y="1006913"/>
            <a:ext cx="6767831" cy="5434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SIH25200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Blockchain-Based Skill Credentialing System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Smart Education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2400" b="1" dirty="0"/>
              <a:t>83855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400" b="1" dirty="0"/>
              <a:t>_</a:t>
            </a:r>
            <a:r>
              <a:rPr lang="en-US" sz="2400" b="1" dirty="0" err="1"/>
              <a:t>OmnitriX</a:t>
            </a:r>
            <a:r>
              <a:rPr lang="en-US" sz="2400" b="1" dirty="0"/>
              <a:t> 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29772" y="-445285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25137" y="-20950"/>
            <a:ext cx="2058316" cy="8073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2A5FC6-3885-5AB8-A1D9-D280122517C3}"/>
              </a:ext>
            </a:extLst>
          </p:cNvPr>
          <p:cNvSpPr txBox="1"/>
          <p:nvPr/>
        </p:nvSpPr>
        <p:spPr>
          <a:xfrm>
            <a:off x="329773" y="1422592"/>
            <a:ext cx="5766228" cy="5545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"/>
              </a:spcAf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pPr>
              <a:spcAft>
                <a:spcPts val="225"/>
              </a:spcAft>
            </a:pPr>
            <a:r>
              <a:rPr lang="en-US" sz="1600" dirty="0"/>
              <a:t>A </a:t>
            </a:r>
            <a:r>
              <a:rPr lang="en-US" sz="1600" b="1" dirty="0"/>
              <a:t>blockchain</a:t>
            </a:r>
            <a:r>
              <a:rPr lang="en-US" sz="1600" dirty="0"/>
              <a:t> platform that issues and verifies </a:t>
            </a:r>
            <a:r>
              <a:rPr lang="en-US" sz="1600" b="1" dirty="0"/>
              <a:t>Skill &amp; Identity Tokens (SITs)  </a:t>
            </a:r>
            <a:r>
              <a:rPr lang="en-US" sz="1600" dirty="0"/>
              <a:t>securely, digitally, learner-owned credentials built using the concept of </a:t>
            </a:r>
            <a:r>
              <a:rPr lang="en-US" sz="1600" b="1" dirty="0" err="1"/>
              <a:t>Soulbound</a:t>
            </a:r>
            <a:r>
              <a:rPr lang="en-US" sz="1600" b="1" dirty="0"/>
              <a:t> Tokens (SBTs).</a:t>
            </a:r>
          </a:p>
          <a:p>
            <a:pPr marL="285750" indent="-285750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1" dirty="0"/>
              <a:t>Tamper-proof</a:t>
            </a:r>
            <a:r>
              <a:rPr lang="en-US" sz="1600" dirty="0"/>
              <a:t> &amp;</a:t>
            </a:r>
            <a:r>
              <a:rPr lang="en-US" sz="1600" b="1" dirty="0"/>
              <a:t> non-transferable </a:t>
            </a:r>
            <a:r>
              <a:rPr lang="en-US" sz="1600" dirty="0"/>
              <a:t>digital credentials built on </a:t>
            </a:r>
            <a:r>
              <a:rPr lang="en-US" sz="1600" b="1" dirty="0" err="1"/>
              <a:t>Soulbound</a:t>
            </a:r>
            <a:r>
              <a:rPr lang="en-US" sz="1600" b="1" dirty="0"/>
              <a:t> Token </a:t>
            </a:r>
            <a:r>
              <a:rPr lang="en-US" sz="1600" dirty="0"/>
              <a:t>(SBT) concepts.</a:t>
            </a:r>
          </a:p>
          <a:p>
            <a:pPr marL="285750" indent="-285750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Credentials bound to learners verified identities &amp; </a:t>
            </a:r>
            <a:r>
              <a:rPr lang="en-US" sz="1600" b="1" dirty="0"/>
              <a:t>Selective Disclosure</a:t>
            </a:r>
            <a:r>
              <a:rPr lang="en-US" sz="1600" dirty="0"/>
              <a:t>.</a:t>
            </a:r>
          </a:p>
          <a:p>
            <a:pPr marL="285750" indent="-285750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Stored in learner’s </a:t>
            </a:r>
            <a:r>
              <a:rPr lang="en-US" sz="1600" b="1" dirty="0"/>
              <a:t>digital wallet </a:t>
            </a:r>
            <a:r>
              <a:rPr lang="en-US" sz="1600" dirty="0"/>
              <a:t>for lifelong access.</a:t>
            </a:r>
          </a:p>
          <a:p>
            <a:pPr marL="285750" indent="-285750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1" dirty="0"/>
              <a:t>Permissioned Hyperledger Fabric blockchain </a:t>
            </a:r>
            <a:r>
              <a:rPr lang="en-US" sz="1600" dirty="0"/>
              <a:t>ensures security, governance, and auditability.</a:t>
            </a:r>
          </a:p>
          <a:p>
            <a:pPr marL="285750" indent="-285750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Instant verification via </a:t>
            </a:r>
            <a:r>
              <a:rPr lang="en-US" sz="1600" b="1" dirty="0"/>
              <a:t>QR code </a:t>
            </a:r>
            <a:r>
              <a:rPr lang="en-US" sz="1600" dirty="0"/>
              <a:t>or </a:t>
            </a:r>
            <a:r>
              <a:rPr lang="en-US" sz="1600" b="1" dirty="0"/>
              <a:t>REST API </a:t>
            </a:r>
            <a:r>
              <a:rPr lang="en-US" sz="1600" dirty="0"/>
              <a:t>for employers and institutions.</a:t>
            </a:r>
          </a:p>
          <a:p>
            <a:pPr marL="285750" indent="-285750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Integrated &amp; compliant with </a:t>
            </a:r>
            <a:r>
              <a:rPr lang="en-US" sz="1600" b="1" dirty="0"/>
              <a:t>Aadhaar, DigiLocker, Skill India Portal.</a:t>
            </a:r>
          </a:p>
          <a:p>
            <a:pPr marL="285750" indent="-285750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Future-Ready Architecture: </a:t>
            </a:r>
            <a:r>
              <a:rPr lang="en-US" sz="1600" b="1" dirty="0"/>
              <a:t>Scalable</a:t>
            </a:r>
            <a:r>
              <a:rPr lang="en-US" sz="1600" dirty="0"/>
              <a:t>, supports </a:t>
            </a:r>
            <a:r>
              <a:rPr lang="en-US" sz="1600" b="1" dirty="0"/>
              <a:t>millions of credentials</a:t>
            </a:r>
            <a:r>
              <a:rPr lang="en-US" sz="1600" dirty="0"/>
              <a:t>, compatible with global standards.</a:t>
            </a:r>
          </a:p>
          <a:p>
            <a:pPr marL="285750" indent="-285750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Privacy by Design: Only </a:t>
            </a:r>
            <a:r>
              <a:rPr lang="en-US" sz="1600" b="1" dirty="0"/>
              <a:t>hashes stored on-chain sensitive data kept off-chain for security and compliance</a:t>
            </a:r>
            <a:r>
              <a:rPr lang="en-US" sz="1600" dirty="0"/>
              <a:t>.</a:t>
            </a:r>
          </a:p>
          <a:p>
            <a:pPr>
              <a:spcAft>
                <a:spcPts val="225"/>
              </a:spcAft>
            </a:pPr>
            <a:endParaRPr lang="en-US" sz="1600" b="1" dirty="0"/>
          </a:p>
          <a:p>
            <a:pPr>
              <a:spcAft>
                <a:spcPts val="225"/>
              </a:spcAft>
            </a:pPr>
            <a:endParaRPr lang="en-US" sz="1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C88876-6E3D-2F53-236D-EF2356081FD0}"/>
              </a:ext>
            </a:extLst>
          </p:cNvPr>
          <p:cNvSpPr txBox="1"/>
          <p:nvPr/>
        </p:nvSpPr>
        <p:spPr>
          <a:xfrm>
            <a:off x="329773" y="848746"/>
            <a:ext cx="11439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Problem Addressed: Current vocational certificates in India face forgery, delays, and lack of interoperability, reducing trust and creating barriers for learners, employers, and institutions.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987D75-A608-1431-D233-D42587F08653}"/>
              </a:ext>
            </a:extLst>
          </p:cNvPr>
          <p:cNvSpPr txBox="1"/>
          <p:nvPr/>
        </p:nvSpPr>
        <p:spPr>
          <a:xfrm>
            <a:off x="6250200" y="1495883"/>
            <a:ext cx="5519013" cy="2560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225"/>
              </a:spcAft>
            </a:pPr>
            <a:r>
              <a:rPr lang="en-US" sz="1600" b="1" dirty="0">
                <a:latin typeface="+mj-lt"/>
                <a:cs typeface="Times New Roman" panose="02020603050405020304" pitchFamily="18" charset="0"/>
              </a:rPr>
              <a:t>Unique Value Proposition:</a:t>
            </a:r>
          </a:p>
          <a:p>
            <a:pPr>
              <a:lnSpc>
                <a:spcPts val="1500"/>
              </a:lnSpc>
              <a:spcAft>
                <a:spcPts val="225"/>
              </a:spcAft>
            </a:pPr>
            <a:endParaRPr lang="en-US" sz="1600" b="1" dirty="0">
              <a:latin typeface="+mj-lt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5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1" dirty="0">
                <a:latin typeface="+mj-lt"/>
                <a:cs typeface="Times New Roman" panose="02020603050405020304" pitchFamily="18" charset="0"/>
              </a:rPr>
              <a:t>Learner-Owned Credentials: </a:t>
            </a:r>
            <a:r>
              <a:rPr lang="en-US" sz="1600" dirty="0">
                <a:latin typeface="+mj-lt"/>
                <a:cs typeface="Times New Roman" panose="02020603050405020304" pitchFamily="18" charset="0"/>
              </a:rPr>
              <a:t>Learners truly control and own their skills record.</a:t>
            </a:r>
          </a:p>
          <a:p>
            <a:pPr marL="285750" indent="-285750">
              <a:lnSpc>
                <a:spcPts val="15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1" dirty="0">
                <a:latin typeface="+mj-lt"/>
                <a:cs typeface="Times New Roman" panose="02020603050405020304" pitchFamily="18" charset="0"/>
              </a:rPr>
              <a:t>Non-Transferable SITs:</a:t>
            </a:r>
            <a:r>
              <a:rPr lang="en-US" sz="1600" dirty="0">
                <a:latin typeface="+mj-lt"/>
                <a:cs typeface="Times New Roman" panose="02020603050405020304" pitchFamily="18" charset="0"/>
              </a:rPr>
              <a:t> Each credential is bound to the learner’s identity → eliminates fraud.</a:t>
            </a:r>
          </a:p>
          <a:p>
            <a:pPr marL="285750" indent="-285750">
              <a:lnSpc>
                <a:spcPts val="15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1" dirty="0">
                <a:latin typeface="+mj-lt"/>
                <a:cs typeface="Times New Roman" panose="02020603050405020304" pitchFamily="18" charset="0"/>
              </a:rPr>
              <a:t>Instant Global Verification:</a:t>
            </a:r>
            <a:r>
              <a:rPr lang="en-US" sz="1600" dirty="0">
                <a:latin typeface="+mj-lt"/>
                <a:cs typeface="Times New Roman" panose="02020603050405020304" pitchFamily="18" charset="0"/>
              </a:rPr>
              <a:t> Employers and institutions verify credentials in seconds.</a:t>
            </a:r>
          </a:p>
          <a:p>
            <a:pPr marL="285750" indent="-285750">
              <a:lnSpc>
                <a:spcPts val="15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1" dirty="0">
                <a:latin typeface="+mj-lt"/>
                <a:cs typeface="Times New Roman" panose="02020603050405020304" pitchFamily="18" charset="0"/>
              </a:rPr>
              <a:t>Privacy by Design: </a:t>
            </a:r>
            <a:r>
              <a:rPr lang="en-US" sz="1600" dirty="0">
                <a:latin typeface="+mj-lt"/>
                <a:cs typeface="Times New Roman" panose="02020603050405020304" pitchFamily="18" charset="0"/>
              </a:rPr>
              <a:t>Only hashes stored on-chain, sensitive data stays off-chain.</a:t>
            </a:r>
          </a:p>
          <a:p>
            <a:pPr marL="285750" indent="-285750">
              <a:lnSpc>
                <a:spcPts val="15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1" dirty="0">
                <a:latin typeface="+mj-lt"/>
                <a:cs typeface="Times New Roman" panose="02020603050405020304" pitchFamily="18" charset="0"/>
              </a:rPr>
              <a:t>Scalable &amp; Future-Ready: </a:t>
            </a:r>
            <a:r>
              <a:rPr lang="en-US" sz="1600" dirty="0">
                <a:latin typeface="+mj-lt"/>
                <a:cs typeface="Times New Roman" panose="02020603050405020304" pitchFamily="18" charset="0"/>
              </a:rPr>
              <a:t>Supports millions of learners, compatible with global standards.</a:t>
            </a:r>
            <a:endParaRPr lang="en-US" sz="1600" i="0" dirty="0">
              <a:effectLst/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3" name="Oval 12" descr="Your startup LOGO">
            <a:extLst>
              <a:ext uri="{FF2B5EF4-FFF2-40B4-BE49-F238E27FC236}">
                <a16:creationId xmlns:a16="http://schemas.microsoft.com/office/drawing/2014/main" id="{CD50EF79-189A-85DF-C715-22CE6802EA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31026"/>
            <a:ext cx="18343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_</a:t>
            </a:r>
            <a:r>
              <a:rPr lang="en-IN" b="1" dirty="0" err="1"/>
              <a:t>OmnitriX</a:t>
            </a:r>
            <a:endParaRPr lang="en-IN" b="1" dirty="0"/>
          </a:p>
        </p:txBody>
      </p:sp>
      <p:pic>
        <p:nvPicPr>
          <p:cNvPr id="10" name="Picture 9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61DFB1CB-398D-55E8-4FD1-E2F00CFE8C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200" y="4013692"/>
            <a:ext cx="5833253" cy="20557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oftware application&#10;&#10;AI-generated content may be incorrect.">
            <a:extLst>
              <a:ext uri="{FF2B5EF4-FFF2-40B4-BE49-F238E27FC236}">
                <a16:creationId xmlns:a16="http://schemas.microsoft.com/office/drawing/2014/main" id="{9C940F75-9D6E-BD2C-66B9-519CD16D6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95" y="426570"/>
            <a:ext cx="7379017" cy="562528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 descr="A screenshot of a phone&#10;&#10;AI-generated content may be incorrect.">
            <a:extLst>
              <a:ext uri="{FF2B5EF4-FFF2-40B4-BE49-F238E27FC236}">
                <a16:creationId xmlns:a16="http://schemas.microsoft.com/office/drawing/2014/main" id="{539F2B8D-B666-4709-BE5C-15C1C9ABC2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7655" y="1095375"/>
            <a:ext cx="4374572" cy="49489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0F27AC5-512B-B080-C125-009C2246C0F4}"/>
              </a:ext>
            </a:extLst>
          </p:cNvPr>
          <p:cNvSpPr txBox="1"/>
          <p:nvPr/>
        </p:nvSpPr>
        <p:spPr>
          <a:xfrm>
            <a:off x="9076494" y="5984564"/>
            <a:ext cx="1576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Tech Stack</a:t>
            </a:r>
          </a:p>
        </p:txBody>
      </p:sp>
      <p:sp>
        <p:nvSpPr>
          <p:cNvPr id="15" name="Oval 14" descr="Your startup LOGO">
            <a:extLst>
              <a:ext uri="{FF2B5EF4-FFF2-40B4-BE49-F238E27FC236}">
                <a16:creationId xmlns:a16="http://schemas.microsoft.com/office/drawing/2014/main" id="{4D598FD5-0F3E-710B-36FE-DFBFAFD7A22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20208"/>
            <a:ext cx="18343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_</a:t>
            </a:r>
            <a:r>
              <a:rPr lang="en-IN" b="1" dirty="0" err="1"/>
              <a:t>OmnitriX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4F99E0-901A-B35D-0ECE-C408865C5C67}"/>
              </a:ext>
            </a:extLst>
          </p:cNvPr>
          <p:cNvSpPr txBox="1"/>
          <p:nvPr/>
        </p:nvSpPr>
        <p:spPr>
          <a:xfrm>
            <a:off x="2590636" y="5983514"/>
            <a:ext cx="2420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3AAC9AA-C107-D321-2F76-95D123879B23}"/>
              </a:ext>
            </a:extLst>
          </p:cNvPr>
          <p:cNvSpPr txBox="1"/>
          <p:nvPr/>
        </p:nvSpPr>
        <p:spPr>
          <a:xfrm>
            <a:off x="329773" y="1414327"/>
            <a:ext cx="5457963" cy="39703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FEASIBILITY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Technical:</a:t>
            </a:r>
            <a:r>
              <a:rPr lang="en-US" dirty="0"/>
              <a:t> Utilizes mature, enterprise-grade technologies (Hyperledger Fabric, DID) proven for high-throughput, secure applications.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Operational:</a:t>
            </a:r>
            <a:r>
              <a:rPr lang="en-US" dirty="0"/>
              <a:t> Intuitive for all users. Learners use a simple mobile wallet, and employers use a QR scanner. NCVET's governance provides a clear operational framework.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Economic:</a:t>
            </a:r>
            <a:r>
              <a:rPr lang="en-US" dirty="0"/>
              <a:t> Drastically reduces administrative and verification costs (75% reduction). Low transaction costs after initial setup make it highly scalable and sustainable.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627701-B5BC-16CB-9C6B-658554EF284F}"/>
              </a:ext>
            </a:extLst>
          </p:cNvPr>
          <p:cNvSpPr txBox="1"/>
          <p:nvPr/>
        </p:nvSpPr>
        <p:spPr>
          <a:xfrm>
            <a:off x="6103064" y="1397675"/>
            <a:ext cx="5759163" cy="23083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Potential challenges and risks: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b="1" dirty="0"/>
              <a:t>Adoption:</a:t>
            </a:r>
            <a:r>
              <a:rPr lang="en-US" dirty="0"/>
              <a:t> Onboarding thousands of institutes and millions of learners.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b="1" dirty="0"/>
              <a:t>Integration:</a:t>
            </a:r>
            <a:r>
              <a:rPr lang="en-US" dirty="0"/>
              <a:t> Ensuring seamless API connectivity with diverse government systems (Aadhaar, DigiLocker , Skill India Portal).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b="1" dirty="0"/>
              <a:t>Connectivity:</a:t>
            </a:r>
            <a:r>
              <a:rPr lang="en-US" dirty="0"/>
              <a:t> Ensuring verification works in low-internet areas.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26B3B7-4C6C-87DD-7454-65479591D893}"/>
              </a:ext>
            </a:extLst>
          </p:cNvPr>
          <p:cNvSpPr txBox="1"/>
          <p:nvPr/>
        </p:nvSpPr>
        <p:spPr>
          <a:xfrm>
            <a:off x="6103064" y="3879274"/>
            <a:ext cx="5759163" cy="23083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Strategies for overcoming these challenges: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b="1" dirty="0"/>
              <a:t>Phased Rollout: </a:t>
            </a:r>
            <a:r>
              <a:rPr lang="en-US" dirty="0"/>
              <a:t>Provide clear onboarding guides and run awareness campaigns.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b="1" dirty="0"/>
              <a:t>Robust APIs &amp; Partnerships:</a:t>
            </a:r>
            <a:r>
              <a:rPr lang="en-US" dirty="0"/>
              <a:t> Work directly with government bodies to ensure smooth integration.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b="1" dirty="0"/>
              <a:t>Offline Verification:</a:t>
            </a:r>
            <a:r>
              <a:rPr lang="en-US" dirty="0"/>
              <a:t> The wallet will have a feature for offline QR code verification using cached credentials.</a:t>
            </a:r>
          </a:p>
        </p:txBody>
      </p:sp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AB0F1BAD-3064-2A50-3E27-8230170A3E8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343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_</a:t>
            </a:r>
            <a:r>
              <a:rPr lang="en-IN" b="1" dirty="0" err="1"/>
              <a:t>OmnitriX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19894" y="39295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03B0897-6F7E-B8FE-8402-97BA9592AF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894" y="1610591"/>
            <a:ext cx="5928874" cy="465481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A862278-5259-7F87-0F67-FD527D4D4ECE}"/>
              </a:ext>
            </a:extLst>
          </p:cNvPr>
          <p:cNvSpPr txBox="1"/>
          <p:nvPr/>
        </p:nvSpPr>
        <p:spPr>
          <a:xfrm>
            <a:off x="6507382" y="1642404"/>
            <a:ext cx="5264724" cy="39703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Benefits of the solution (social, economic, environmental, etc.):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b="1" dirty="0"/>
              <a:t>Social Benefit:</a:t>
            </a:r>
            <a:r>
              <a:rPr lang="en-US" dirty="0"/>
              <a:t> Increases trust and transparency in the national vocational education system. Empowers youth with control over their achievements.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b="1" dirty="0"/>
              <a:t>Economic Benefit:</a:t>
            </a:r>
            <a:r>
              <a:rPr lang="en-US" dirty="0"/>
              <a:t> Significant cost savings for businesses, reduces unemployment delays, and boosts the value of skilled labor.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b="1" dirty="0"/>
              <a:t>Environmental Benefit:</a:t>
            </a:r>
            <a:r>
              <a:rPr lang="en-US" dirty="0"/>
              <a:t> Reduces reliance on paper-based certificates and manual verification processes.</a:t>
            </a:r>
          </a:p>
        </p:txBody>
      </p:sp>
      <p:sp>
        <p:nvSpPr>
          <p:cNvPr id="19" name="Oval 18" descr="Your startup LOGO">
            <a:extLst>
              <a:ext uri="{FF2B5EF4-FFF2-40B4-BE49-F238E27FC236}">
                <a16:creationId xmlns:a16="http://schemas.microsoft.com/office/drawing/2014/main" id="{5E9F4694-50C7-0C52-A02F-2E285096125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343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_</a:t>
            </a:r>
            <a:r>
              <a:rPr lang="en-IN" b="1" dirty="0" err="1"/>
              <a:t>OmnitriX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76A2C36C-6B80-B462-A5AC-365D12F0993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343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_</a:t>
            </a:r>
            <a:r>
              <a:rPr lang="en-IN" b="1" dirty="0" err="1"/>
              <a:t>OmnitriX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7879</TotalTime>
  <Words>580</Words>
  <Application>Microsoft Office PowerPoint</Application>
  <PresentationFormat>Widescreen</PresentationFormat>
  <Paragraphs>76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2024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Amol Shende</cp:lastModifiedBy>
  <cp:revision>151</cp:revision>
  <dcterms:created xsi:type="dcterms:W3CDTF">2013-12-12T18:46:50Z</dcterms:created>
  <dcterms:modified xsi:type="dcterms:W3CDTF">2025-10-15T17:04:44Z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2025-10-15T16:16:16Z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b3392217-3426-4ef2-85ae-bda038aed164</vt:lpwstr>
  </property>
  <property fmtid="{D5CDD505-2E9C-101B-9397-08002B2CF9AE}" pid="7" name="MSIP_Label_defa4170-0d19-0005-0004-bc88714345d2_ActionId">
    <vt:lpwstr>99cb7262-0c67-446b-b395-2325db224abb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