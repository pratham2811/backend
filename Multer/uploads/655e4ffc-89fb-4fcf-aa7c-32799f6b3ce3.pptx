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entrackr.com/2018/02/india-blockchain-digital-degress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inc42.com/infocus/blockchain-this-week/startup-india-unveils-blockchain-based-certificate-verification-syste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lockchan.ge/blockchange-credentials.pdf" TargetMode="External"/><Relationship Id="rId5" Type="http://schemas.openxmlformats.org/officeDocument/2006/relationships/hyperlink" Target="https://www.niti.gov.in/sites/default/files/2020-01/Blockchain_The_India_Strategy_Part_I.pdf" TargetMode="External"/><Relationship Id="rId10" Type="http://schemas.openxmlformats.org/officeDocument/2006/relationships/hyperlink" Target="https://www.lfdecentralizedtrust.org/blog/2023/02/16/benchmarking-hyperledger-fabric-2-5-performance" TargetMode="External"/><Relationship Id="rId4" Type="http://schemas.openxmlformats.org/officeDocument/2006/relationships/hyperlink" Target="https://www.pib.gov.in/PressReleseDetailm.aspx?PRID=1777711" TargetMode="External"/><Relationship Id="rId9" Type="http://schemas.openxmlformats.org/officeDocument/2006/relationships/hyperlink" Target="https://nishithdesai.com/default.aspx?id=486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2024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1449" y="1597301"/>
            <a:ext cx="7538605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2A5FC6-3885-5AB8-A1D9-D280122517C3}"/>
              </a:ext>
            </a:extLst>
          </p:cNvPr>
          <p:cNvSpPr txBox="1"/>
          <p:nvPr/>
        </p:nvSpPr>
        <p:spPr>
          <a:xfrm>
            <a:off x="329774" y="1432862"/>
            <a:ext cx="5764496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"/>
              </a:spcAft>
            </a:pP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Detailed explanation of the proposed solution:</a:t>
            </a:r>
            <a:endParaRPr lang="en-US" sz="1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propose a blockchain-based network using 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Hyperledger Fabric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governed by NCVET.</a:t>
            </a:r>
          </a:p>
          <a:p>
            <a:pPr marL="742950" lvl="1" indent="-285750" algn="l"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Every credential is issued as a 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Skill &amp; Identity Token (SIT)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a type of </a:t>
            </a:r>
            <a:r>
              <a:rPr lang="en-US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Soulbound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Token (SBT).</a:t>
            </a:r>
          </a:p>
          <a:p>
            <a:pPr marL="742950" lvl="1" indent="-285750" algn="l"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SITs are stored in a learner-controlled 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Skill India Wallet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 linked to their Aadhaar-verified digital identity (DID).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C88876-6E3D-2F53-236D-EF2356081FD0}"/>
              </a:ext>
            </a:extLst>
          </p:cNvPr>
          <p:cNvSpPr txBox="1"/>
          <p:nvPr/>
        </p:nvSpPr>
        <p:spPr>
          <a:xfrm>
            <a:off x="329774" y="3766764"/>
            <a:ext cx="5764496" cy="2357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25"/>
              </a:spcAft>
            </a:pP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it addresses the problem:</a:t>
            </a:r>
            <a:endParaRPr lang="en-US" sz="1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Eliminates Fraud: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SITs are 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non-transferable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making it impossible to sell or forge credentials.</a:t>
            </a:r>
          </a:p>
          <a:p>
            <a:pPr marL="742950" lvl="1" indent="-285750" algn="l"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Instant Verification: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Employers verify credentials in seconds via a 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QR code scan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ending manual delays.</a:t>
            </a:r>
          </a:p>
          <a:p>
            <a:pPr marL="742950" lvl="1" indent="-285750" algn="l"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Empowers Learners: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Learners get 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true ownership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 control over their lifelong skill portfolio.</a:t>
            </a:r>
          </a:p>
          <a:p>
            <a:pPr marL="742950" lvl="1" indent="-285750" algn="l"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Creates Trust: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The blockchain provides an 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immutable, single source of truth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 all stakeholders.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987D75-A608-1431-D233-D42587F08653}"/>
              </a:ext>
            </a:extLst>
          </p:cNvPr>
          <p:cNvSpPr txBox="1"/>
          <p:nvPr/>
        </p:nvSpPr>
        <p:spPr>
          <a:xfrm>
            <a:off x="6097732" y="1518906"/>
            <a:ext cx="5560868" cy="2331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25"/>
              </a:spcAft>
            </a:pP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Innovation and uniqueness of the solution:</a:t>
            </a:r>
            <a:endParaRPr lang="en-US" sz="1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First-of-its-kind use of </a:t>
            </a:r>
            <a:r>
              <a:rPr lang="en-US" sz="16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Soulbound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Tokens (SBTs)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 national-level credentialing, preventing fraud at its source.</a:t>
            </a:r>
          </a:p>
          <a:p>
            <a:pPr marL="742950" lvl="1" indent="-285750" algn="l"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 Government Integration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with Aadhaar, </a:t>
            </a:r>
            <a:r>
              <a:rPr lang="en-US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DigiLocker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Skill India Portal for a unified, trusted ecosystem.</a:t>
            </a:r>
          </a:p>
          <a:p>
            <a:pPr marL="742950" lvl="1" indent="-285750" algn="l"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Learner-centric model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based on Self-Sovereign Identity (SSI), putting the user in control.</a:t>
            </a:r>
          </a:p>
        </p:txBody>
      </p:sp>
      <p:sp>
        <p:nvSpPr>
          <p:cNvPr id="13" name="Oval 12" descr="Your startup LOGO">
            <a:extLst>
              <a:ext uri="{FF2B5EF4-FFF2-40B4-BE49-F238E27FC236}">
                <a16:creationId xmlns:a16="http://schemas.microsoft.com/office/drawing/2014/main" id="{CD50EF79-189A-85DF-C715-22CE6802EAF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3430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_</a:t>
            </a:r>
            <a:r>
              <a:rPr lang="en-IN" b="1" dirty="0" err="1"/>
              <a:t>OmnitriX</a:t>
            </a:r>
            <a:endParaRPr lang="en-IN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 diagram of a lifecycle&#10;&#10;AI-generated content may be incorrect.">
            <a:extLst>
              <a:ext uri="{FF2B5EF4-FFF2-40B4-BE49-F238E27FC236}">
                <a16:creationId xmlns:a16="http://schemas.microsoft.com/office/drawing/2014/main" id="{2849E2AC-6892-41A9-D7DB-C3D9AF938D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346" y="1395246"/>
            <a:ext cx="5416400" cy="4959516"/>
          </a:xfrm>
          <a:prstGeom prst="rect">
            <a:avLst/>
          </a:prstGeom>
        </p:spPr>
      </p:pic>
      <p:pic>
        <p:nvPicPr>
          <p:cNvPr id="12" name="Picture 11" descr="A screenshot of a phone&#10;&#10;AI-generated content may be incorrect.">
            <a:extLst>
              <a:ext uri="{FF2B5EF4-FFF2-40B4-BE49-F238E27FC236}">
                <a16:creationId xmlns:a16="http://schemas.microsoft.com/office/drawing/2014/main" id="{539F2B8D-B666-4709-BE5C-15C1C9ABC2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1746" y="1395245"/>
            <a:ext cx="4374572" cy="494895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0F27AC5-512B-B080-C125-009C2246C0F4}"/>
              </a:ext>
            </a:extLst>
          </p:cNvPr>
          <p:cNvSpPr txBox="1"/>
          <p:nvPr/>
        </p:nvSpPr>
        <p:spPr>
          <a:xfrm>
            <a:off x="8458200" y="1059580"/>
            <a:ext cx="13457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Tech Stack</a:t>
            </a:r>
          </a:p>
        </p:txBody>
      </p:sp>
      <p:sp>
        <p:nvSpPr>
          <p:cNvPr id="15" name="Oval 14" descr="Your startup LOGO">
            <a:extLst>
              <a:ext uri="{FF2B5EF4-FFF2-40B4-BE49-F238E27FC236}">
                <a16:creationId xmlns:a16="http://schemas.microsoft.com/office/drawing/2014/main" id="{4D598FD5-0F3E-710B-36FE-DFBFAFD7A22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3430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_</a:t>
            </a:r>
            <a:r>
              <a:rPr lang="en-IN" b="1" dirty="0" err="1"/>
              <a:t>OmnitriX</a:t>
            </a:r>
            <a:endParaRPr lang="en-IN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3AAC9AA-C107-D321-2F76-95D123879B23}"/>
              </a:ext>
            </a:extLst>
          </p:cNvPr>
          <p:cNvSpPr txBox="1"/>
          <p:nvPr/>
        </p:nvSpPr>
        <p:spPr>
          <a:xfrm>
            <a:off x="329773" y="1359158"/>
            <a:ext cx="5457963" cy="36933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FEASIBILITY</a:t>
            </a:r>
          </a:p>
          <a:p>
            <a:r>
              <a:rPr lang="en-US" b="1" dirty="0"/>
              <a:t>Technical:</a:t>
            </a:r>
            <a:r>
              <a:rPr lang="en-US" dirty="0"/>
              <a:t> Utilizes mature, enterprise-grade technologies (Hyperledger Fabric, DID) proven for high-throughput, secure applications.</a:t>
            </a:r>
          </a:p>
          <a:p>
            <a:endParaRPr lang="en-US" dirty="0"/>
          </a:p>
          <a:p>
            <a:r>
              <a:rPr lang="en-US" b="1" dirty="0"/>
              <a:t>Operational:</a:t>
            </a:r>
            <a:r>
              <a:rPr lang="en-US" dirty="0"/>
              <a:t> Intuitive for all users. Learners use a simple mobile wallet, and employers use a QR scanner. NCVET's governance provides a clear operational framework.</a:t>
            </a:r>
          </a:p>
          <a:p>
            <a:endParaRPr lang="en-US" dirty="0"/>
          </a:p>
          <a:p>
            <a:r>
              <a:rPr lang="en-US" b="1" dirty="0"/>
              <a:t>Economic:</a:t>
            </a:r>
            <a:r>
              <a:rPr lang="en-US" dirty="0"/>
              <a:t> Drastically reduces administrative and verification costs (~80% reduction). Low transaction costs after initial setup make it highly scalable and sustainable.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627701-B5BC-16CB-9C6B-658554EF284F}"/>
              </a:ext>
            </a:extLst>
          </p:cNvPr>
          <p:cNvSpPr txBox="1"/>
          <p:nvPr/>
        </p:nvSpPr>
        <p:spPr>
          <a:xfrm>
            <a:off x="6103064" y="3654266"/>
            <a:ext cx="5853546" cy="20313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Potential challenges and risks:</a:t>
            </a:r>
            <a:endParaRPr lang="en-US" dirty="0"/>
          </a:p>
          <a:p>
            <a:pPr lvl="1"/>
            <a:r>
              <a:rPr lang="en-US" b="1" dirty="0"/>
              <a:t>Adoption:</a:t>
            </a:r>
            <a:r>
              <a:rPr lang="en-US" dirty="0"/>
              <a:t> Onboarding thousands of institutes and millions of learners.</a:t>
            </a:r>
          </a:p>
          <a:p>
            <a:pPr lvl="1"/>
            <a:r>
              <a:rPr lang="en-US" b="1" dirty="0"/>
              <a:t>Integration:</a:t>
            </a:r>
            <a:r>
              <a:rPr lang="en-US" dirty="0"/>
              <a:t> Ensuring seamless API connectivity with diverse government systems (Aadhaar, </a:t>
            </a:r>
            <a:r>
              <a:rPr lang="en-US" dirty="0" err="1"/>
              <a:t>DigiLocker</a:t>
            </a:r>
            <a:r>
              <a:rPr lang="en-US" dirty="0"/>
              <a:t>).</a:t>
            </a:r>
          </a:p>
          <a:p>
            <a:pPr lvl="1"/>
            <a:r>
              <a:rPr lang="en-US" b="1" dirty="0"/>
              <a:t>Connectivity:</a:t>
            </a:r>
            <a:r>
              <a:rPr lang="en-US" dirty="0"/>
              <a:t> Ensuring verification works in low-internet areas.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26B3B7-4C6C-87DD-7454-65479591D893}"/>
              </a:ext>
            </a:extLst>
          </p:cNvPr>
          <p:cNvSpPr txBox="1"/>
          <p:nvPr/>
        </p:nvSpPr>
        <p:spPr>
          <a:xfrm>
            <a:off x="6096000" y="1359158"/>
            <a:ext cx="5853546" cy="20313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Strategies for overcoming these challenges:</a:t>
            </a:r>
            <a:endParaRPr lang="en-US" dirty="0"/>
          </a:p>
          <a:p>
            <a:pPr lvl="1"/>
            <a:r>
              <a:rPr lang="en-US" b="1" dirty="0"/>
              <a:t>Phased Rollout:</a:t>
            </a:r>
            <a:r>
              <a:rPr lang="en-US" dirty="0"/>
              <a:t> Pilot -&gt; Scale -&gt; National. Provide clear onboarding guides and run awareness campaigns.</a:t>
            </a:r>
          </a:p>
          <a:p>
            <a:pPr lvl="1"/>
            <a:r>
              <a:rPr lang="en-US" b="1" dirty="0"/>
              <a:t>Robust APIs &amp; Partnerships:</a:t>
            </a:r>
            <a:r>
              <a:rPr lang="en-US" dirty="0"/>
              <a:t> Work directly with government bodies to ensure smooth integration.</a:t>
            </a:r>
          </a:p>
          <a:p>
            <a:pPr lvl="1"/>
            <a:r>
              <a:rPr lang="en-US" b="1" dirty="0"/>
              <a:t>Offline Verification:</a:t>
            </a:r>
            <a:r>
              <a:rPr lang="en-US" dirty="0"/>
              <a:t> The wallet will have a feature for offline QR code verification using cached credentials.</a:t>
            </a:r>
          </a:p>
        </p:txBody>
      </p:sp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AB0F1BAD-3064-2A50-3E27-8230170A3E8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3430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_</a:t>
            </a:r>
            <a:r>
              <a:rPr lang="en-IN" b="1" dirty="0" err="1"/>
              <a:t>OmnitriX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19894" y="392953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03B0897-6F7E-B8FE-8402-97BA9592AF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894" y="1610591"/>
            <a:ext cx="5928874" cy="465481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A862278-5259-7F87-0F67-FD527D4D4ECE}"/>
              </a:ext>
            </a:extLst>
          </p:cNvPr>
          <p:cNvSpPr txBox="1"/>
          <p:nvPr/>
        </p:nvSpPr>
        <p:spPr>
          <a:xfrm>
            <a:off x="6507382" y="1642404"/>
            <a:ext cx="5264724" cy="397031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Benefits of the solution (social, economic, environmental, etc.):</a:t>
            </a:r>
            <a:endParaRPr lang="en-US" dirty="0"/>
          </a:p>
          <a:p>
            <a:pPr lvl="1"/>
            <a:r>
              <a:rPr lang="en-US" b="1" dirty="0"/>
              <a:t>Social Benefit:</a:t>
            </a:r>
            <a:r>
              <a:rPr lang="en-US" dirty="0"/>
              <a:t> Increases trust and transparency in the national vocational education system. Empowers youth with control over their achievements.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Economic Benefit:</a:t>
            </a:r>
            <a:r>
              <a:rPr lang="en-US" dirty="0"/>
              <a:t> Significant cost savings for businesses, reduces unemployment delays, and boosts the value of skilled labor.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Environmental Benefit:</a:t>
            </a:r>
            <a:r>
              <a:rPr lang="en-US" dirty="0"/>
              <a:t> Reduces reliance on paper-based certificates and manual verification processes.</a:t>
            </a:r>
          </a:p>
        </p:txBody>
      </p:sp>
      <p:sp>
        <p:nvSpPr>
          <p:cNvPr id="19" name="Oval 18" descr="Your startup LOGO">
            <a:extLst>
              <a:ext uri="{FF2B5EF4-FFF2-40B4-BE49-F238E27FC236}">
                <a16:creationId xmlns:a16="http://schemas.microsoft.com/office/drawing/2014/main" id="{5E9F4694-50C7-0C52-A02F-2E285096125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3430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_</a:t>
            </a:r>
            <a:r>
              <a:rPr lang="en-IN" b="1" dirty="0" err="1"/>
              <a:t>OmnitriX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76A2C36C-6B80-B462-A5AC-365D12F0993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3430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_</a:t>
            </a:r>
            <a:r>
              <a:rPr lang="en-IN" b="1" dirty="0" err="1"/>
              <a:t>OmnitriX</a:t>
            </a: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C1DF94-F682-F415-EF52-E1F4B71D9494}"/>
              </a:ext>
            </a:extLst>
          </p:cNvPr>
          <p:cNvSpPr txBox="1"/>
          <p:nvPr/>
        </p:nvSpPr>
        <p:spPr>
          <a:xfrm>
            <a:off x="329773" y="1232042"/>
            <a:ext cx="1110022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References :</a:t>
            </a:r>
          </a:p>
          <a:p>
            <a:r>
              <a:rPr lang="en-IN" b="1" dirty="0"/>
              <a:t>[1] </a:t>
            </a:r>
            <a:r>
              <a:rPr lang="en-IN" b="1" dirty="0">
                <a:hlinkClick r:id="rId4"/>
              </a:rPr>
              <a:t>https://www.pib.gov.in/PressReleseDetailm.aspx?PRID=1777711</a:t>
            </a:r>
            <a:endParaRPr lang="en-IN" b="1" dirty="0"/>
          </a:p>
          <a:p>
            <a:endParaRPr lang="en-IN" b="1" dirty="0"/>
          </a:p>
          <a:p>
            <a:r>
              <a:rPr lang="en-IN" b="1" dirty="0"/>
              <a:t>[2] </a:t>
            </a:r>
            <a:r>
              <a:rPr lang="en-IN" b="1" dirty="0">
                <a:hlinkClick r:id="rId5"/>
              </a:rPr>
              <a:t>https://www.niti.gov.in/sites/default/files/2020-01/Blockchain_The_India_Strategy_Part_I.pdf</a:t>
            </a:r>
            <a:endParaRPr lang="en-IN" b="1" dirty="0"/>
          </a:p>
          <a:p>
            <a:endParaRPr lang="en-IN" b="1" dirty="0"/>
          </a:p>
          <a:p>
            <a:r>
              <a:rPr lang="en-IN" b="1" dirty="0"/>
              <a:t>[3] </a:t>
            </a:r>
            <a:r>
              <a:rPr lang="en-IN" b="1" dirty="0">
                <a:hlinkClick r:id="rId6"/>
              </a:rPr>
              <a:t>https://blockchan.ge/blockchange-credentials.pdf</a:t>
            </a:r>
            <a:endParaRPr lang="en-IN" b="1" dirty="0"/>
          </a:p>
          <a:p>
            <a:endParaRPr lang="en-IN" b="1" dirty="0"/>
          </a:p>
          <a:p>
            <a:r>
              <a:rPr lang="en-IN" b="1" dirty="0"/>
              <a:t>[4] </a:t>
            </a:r>
            <a:r>
              <a:rPr lang="en-IN" b="1" dirty="0">
                <a:hlinkClick r:id="rId7"/>
              </a:rPr>
              <a:t>https://inc42.com/infocus/blockchain-this-week/startup-india-unveils-blockchain-based-certificate-verification-system/</a:t>
            </a:r>
            <a:endParaRPr lang="en-IN" b="1" dirty="0"/>
          </a:p>
          <a:p>
            <a:endParaRPr lang="en-IN" b="1" dirty="0"/>
          </a:p>
          <a:p>
            <a:r>
              <a:rPr lang="en-IN" b="1" dirty="0"/>
              <a:t>[5] </a:t>
            </a:r>
            <a:r>
              <a:rPr lang="en-IN" b="1" dirty="0">
                <a:hlinkClick r:id="rId8"/>
              </a:rPr>
              <a:t>https://entrackr.com/2018/02/india-blockchain-digital-degress/</a:t>
            </a:r>
            <a:endParaRPr lang="en-IN" b="1" dirty="0"/>
          </a:p>
          <a:p>
            <a:endParaRPr lang="en-IN" b="1" dirty="0"/>
          </a:p>
          <a:p>
            <a:r>
              <a:rPr lang="en-IN" b="1" dirty="0"/>
              <a:t>[6] </a:t>
            </a:r>
            <a:r>
              <a:rPr lang="en-IN" b="1" dirty="0">
                <a:hlinkClick r:id="rId9"/>
              </a:rPr>
              <a:t>https://nishithdesai.com/default.aspx?id=4863</a:t>
            </a:r>
            <a:endParaRPr lang="en-IN" b="1" dirty="0"/>
          </a:p>
          <a:p>
            <a:endParaRPr lang="en-IN" b="1" dirty="0"/>
          </a:p>
          <a:p>
            <a:r>
              <a:rPr lang="en-IN" b="1" dirty="0"/>
              <a:t>[7] </a:t>
            </a:r>
            <a:r>
              <a:rPr lang="en-IN" b="1" dirty="0">
                <a:hlinkClick r:id="rId6"/>
              </a:rPr>
              <a:t>https://blockchan.ge/blockchange-credentials.pdf</a:t>
            </a:r>
            <a:endParaRPr lang="en-IN" b="1" dirty="0"/>
          </a:p>
          <a:p>
            <a:endParaRPr lang="en-IN" b="1" dirty="0"/>
          </a:p>
          <a:p>
            <a:r>
              <a:rPr lang="en-IN" b="1" dirty="0"/>
              <a:t>[8] </a:t>
            </a:r>
            <a:r>
              <a:rPr lang="en-IN" b="1" dirty="0">
                <a:hlinkClick r:id="rId10"/>
              </a:rPr>
              <a:t>https://www.lfdecentralizedtrust.org/blog/2023/02/16/benchmarking-hyperledger-fabric-2-5-performance</a:t>
            </a:r>
            <a:endParaRPr lang="en-IN" b="1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7854</TotalTime>
  <Words>660</Words>
  <Application>Microsoft Office PowerPoint</Application>
  <PresentationFormat>Widescreen</PresentationFormat>
  <Paragraphs>85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2024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Prathamesh Madane</cp:lastModifiedBy>
  <cp:revision>148</cp:revision>
  <dcterms:created xsi:type="dcterms:W3CDTF">2013-12-12T18:46:50Z</dcterms:created>
  <dcterms:modified xsi:type="dcterms:W3CDTF">2025-10-15T16:09:00Z</dcterms:modified>
  <cp:category/>
</cp:coreProperties>
</file>