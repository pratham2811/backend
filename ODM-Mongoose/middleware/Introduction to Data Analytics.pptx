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Hedvig Letters Sans" panose="020B0604020202020204" charset="0"/>
      <p:regular r:id="rId15"/>
    </p:embeddedFont>
    <p:embeddedFont>
      <p:font typeface="Liter" panose="020B0604020202020204" charset="0"/>
      <p:regular r:id="rId16"/>
    </p:embeddedFont>
    <p:embeddedFont>
      <p:font typeface="Quattrocento Sans" panose="020F0502020204030204" pitchFamily="34" charset="0"/>
      <p:regular r:id="rId17"/>
    </p:embeddedFont>
  </p:embeddedFontLst>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3414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static.vecteezy.com/0c7ea392aac46a83344c6dfbf0b84164ee826493.jpg"/>
          <p:cNvPicPr>
            <a:picLocks noChangeAspect="1"/>
          </p:cNvPicPr>
          <p:nvPr/>
        </p:nvPicPr>
        <p:blipFill>
          <a:blip r:embed="rId3">
            <a:alphaModFix amt="40000"/>
          </a:blip>
          <a:srcRect l="142" r="142"/>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5000"/>
                </a:srgbClr>
              </a:gs>
              <a:gs pos="50000">
                <a:srgbClr val="1A1D21">
                  <a:alpha val="85000"/>
                </a:srgbClr>
              </a:gs>
              <a:gs pos="100000">
                <a:srgbClr val="000000">
                  <a:alpha val="0"/>
                </a:srgbClr>
              </a:gs>
            </a:gsLst>
            <a:lin ang="2700000" scaled="1"/>
          </a:gradFill>
          <a:ln/>
        </p:spPr>
        <p:txBody>
          <a:bodyPr/>
          <a:lstStyle/>
          <a:p>
            <a:endParaRPr lang="en-US"/>
          </a:p>
        </p:txBody>
      </p:sp>
      <p:sp>
        <p:nvSpPr>
          <p:cNvPr id="4" name="Shape 1"/>
          <p:cNvSpPr/>
          <p:nvPr/>
        </p:nvSpPr>
        <p:spPr>
          <a:xfrm>
            <a:off x="400050" y="381000"/>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4A9D9C"/>
          </a:solidFill>
          <a:ln/>
        </p:spPr>
        <p:txBody>
          <a:bodyPr/>
          <a:lstStyle/>
          <a:p>
            <a:endParaRPr lang="en-US"/>
          </a:p>
        </p:txBody>
      </p:sp>
      <p:sp>
        <p:nvSpPr>
          <p:cNvPr id="5" name="Text 2"/>
          <p:cNvSpPr/>
          <p:nvPr/>
        </p:nvSpPr>
        <p:spPr>
          <a:xfrm>
            <a:off x="571500" y="457200"/>
            <a:ext cx="2733675" cy="266700"/>
          </a:xfrm>
          <a:prstGeom prst="rect">
            <a:avLst/>
          </a:prstGeom>
          <a:noFill/>
          <a:ln/>
        </p:spPr>
        <p:txBody>
          <a:bodyPr wrap="square" lIns="0" tIns="0" rIns="0" bIns="0" rtlCol="0" anchor="ctr"/>
          <a:lstStyle/>
          <a:p>
            <a:pPr>
              <a:lnSpc>
                <a:spcPct val="130000"/>
              </a:lnSpc>
            </a:pPr>
            <a:r>
              <a:rPr lang="en-US" sz="1350" b="1" kern="0" spc="135" dirty="0">
                <a:solidFill>
                  <a:srgbClr val="4A9D9C"/>
                </a:solidFill>
                <a:latin typeface="Quattrocento Sans" pitchFamily="34" charset="0"/>
                <a:ea typeface="Quattrocento Sans" pitchFamily="34" charset="-122"/>
                <a:cs typeface="Quattrocento Sans" pitchFamily="34" charset="-120"/>
              </a:rPr>
              <a:t>Data-Driven Intelligence</a:t>
            </a:r>
            <a:endParaRPr lang="en-US" sz="1600" dirty="0"/>
          </a:p>
        </p:txBody>
      </p:sp>
      <p:sp>
        <p:nvSpPr>
          <p:cNvPr id="6" name="Text 3"/>
          <p:cNvSpPr/>
          <p:nvPr/>
        </p:nvSpPr>
        <p:spPr>
          <a:xfrm>
            <a:off x="381000" y="1028700"/>
            <a:ext cx="11887200" cy="1828800"/>
          </a:xfrm>
          <a:prstGeom prst="rect">
            <a:avLst/>
          </a:prstGeom>
          <a:noFill/>
          <a:ln/>
        </p:spPr>
        <p:txBody>
          <a:bodyPr wrap="square" lIns="0" tIns="0" rIns="0" bIns="0" rtlCol="0" anchor="ctr"/>
          <a:lstStyle/>
          <a:p>
            <a:pPr>
              <a:lnSpc>
                <a:spcPct val="80000"/>
              </a:lnSpc>
            </a:pPr>
            <a:r>
              <a:rPr lang="en-US" sz="7200" b="1" dirty="0">
                <a:solidFill>
                  <a:srgbClr val="E0E2E5"/>
                </a:solidFill>
                <a:latin typeface="Hedvig Letters Sans" pitchFamily="34" charset="0"/>
                <a:ea typeface="Hedvig Letters Sans" pitchFamily="34" charset="-122"/>
                <a:cs typeface="Hedvig Letters Sans" pitchFamily="34" charset="-120"/>
              </a:rPr>
              <a:t>Introduction to</a:t>
            </a:r>
            <a:endParaRPr lang="en-US" sz="1600" dirty="0"/>
          </a:p>
          <a:p>
            <a:pPr>
              <a:lnSpc>
                <a:spcPct val="80000"/>
              </a:lnSpc>
            </a:pPr>
            <a:r>
              <a:rPr lang="en-US" sz="7200" b="1" dirty="0">
                <a:solidFill>
                  <a:srgbClr val="E0E2E5"/>
                </a:solidFill>
                <a:latin typeface="Hedvig Letters Sans" pitchFamily="34" charset="0"/>
                <a:ea typeface="Hedvig Letters Sans" pitchFamily="34" charset="-122"/>
                <a:cs typeface="Hedvig Letters Sans" pitchFamily="34" charset="-120"/>
              </a:rPr>
              <a:t>Data Analytics</a:t>
            </a:r>
            <a:endParaRPr lang="en-US" sz="1600" dirty="0"/>
          </a:p>
        </p:txBody>
      </p:sp>
      <p:sp>
        <p:nvSpPr>
          <p:cNvPr id="7" name="Shape 4"/>
          <p:cNvSpPr/>
          <p:nvPr/>
        </p:nvSpPr>
        <p:spPr>
          <a:xfrm>
            <a:off x="381000" y="3009900"/>
            <a:ext cx="1219200" cy="76200"/>
          </a:xfrm>
          <a:custGeom>
            <a:avLst/>
            <a:gdLst/>
            <a:ahLst/>
            <a:cxnLst/>
            <a:rect l="l" t="t" r="r" b="b"/>
            <a:pathLst>
              <a:path w="1219200" h="76200">
                <a:moveTo>
                  <a:pt x="0" y="0"/>
                </a:moveTo>
                <a:lnTo>
                  <a:pt x="1219200" y="0"/>
                </a:lnTo>
                <a:lnTo>
                  <a:pt x="1219200" y="76200"/>
                </a:lnTo>
                <a:lnTo>
                  <a:pt x="0" y="76200"/>
                </a:lnTo>
                <a:lnTo>
                  <a:pt x="0" y="0"/>
                </a:lnTo>
                <a:close/>
              </a:path>
            </a:pathLst>
          </a:custGeom>
          <a:solidFill>
            <a:srgbClr val="4A9D9C"/>
          </a:solidFill>
          <a:ln/>
        </p:spPr>
        <p:txBody>
          <a:bodyPr/>
          <a:lstStyle/>
          <a:p>
            <a:endParaRPr lang="en-US"/>
          </a:p>
        </p:txBody>
      </p:sp>
      <p:sp>
        <p:nvSpPr>
          <p:cNvPr id="8" name="Text 5"/>
          <p:cNvSpPr/>
          <p:nvPr/>
        </p:nvSpPr>
        <p:spPr>
          <a:xfrm>
            <a:off x="381000" y="3314700"/>
            <a:ext cx="7458075" cy="466725"/>
          </a:xfrm>
          <a:prstGeom prst="rect">
            <a:avLst/>
          </a:prstGeom>
          <a:noFill/>
          <a:ln/>
        </p:spPr>
        <p:txBody>
          <a:bodyPr wrap="square" lIns="0" tIns="0" rIns="0" bIns="0" rtlCol="0" anchor="ctr"/>
          <a:lstStyle/>
          <a:p>
            <a:pPr>
              <a:lnSpc>
                <a:spcPct val="140000"/>
              </a:lnSpc>
            </a:pPr>
            <a:r>
              <a:rPr lang="en-US" sz="2250" dirty="0">
                <a:solidFill>
                  <a:srgbClr val="6B7B83"/>
                </a:solidFill>
                <a:latin typeface="Liter" pitchFamily="34" charset="0"/>
                <a:ea typeface="Liter" pitchFamily="34" charset="-122"/>
                <a:cs typeface="Liter" pitchFamily="34" charset="-120"/>
              </a:rPr>
              <a:t>Transforming Raw Data into Business Intelligence</a:t>
            </a:r>
            <a:endParaRPr lang="en-US" sz="1600" dirty="0"/>
          </a:p>
        </p:txBody>
      </p:sp>
      <p:sp>
        <p:nvSpPr>
          <p:cNvPr id="9" name="Shape 6"/>
          <p:cNvSpPr/>
          <p:nvPr/>
        </p:nvSpPr>
        <p:spPr>
          <a:xfrm>
            <a:off x="381000" y="6019800"/>
            <a:ext cx="457200" cy="457200"/>
          </a:xfrm>
          <a:custGeom>
            <a:avLst/>
            <a:gdLst/>
            <a:ahLst/>
            <a:cxnLst/>
            <a:rect l="l" t="t" r="r" b="b"/>
            <a:pathLst>
              <a:path w="457200" h="457200">
                <a:moveTo>
                  <a:pt x="38098" y="0"/>
                </a:moveTo>
                <a:lnTo>
                  <a:pt x="419102" y="0"/>
                </a:lnTo>
                <a:cubicBezTo>
                  <a:pt x="440143" y="0"/>
                  <a:pt x="457200" y="17057"/>
                  <a:pt x="457200" y="38098"/>
                </a:cubicBezTo>
                <a:lnTo>
                  <a:pt x="457200" y="419102"/>
                </a:lnTo>
                <a:cubicBezTo>
                  <a:pt x="457200" y="440143"/>
                  <a:pt x="440143" y="457200"/>
                  <a:pt x="419102" y="457200"/>
                </a:cubicBezTo>
                <a:lnTo>
                  <a:pt x="38098" y="457200"/>
                </a:lnTo>
                <a:cubicBezTo>
                  <a:pt x="17057" y="457200"/>
                  <a:pt x="0" y="440143"/>
                  <a:pt x="0" y="419102"/>
                </a:cubicBezTo>
                <a:lnTo>
                  <a:pt x="0" y="38098"/>
                </a:lnTo>
                <a:cubicBezTo>
                  <a:pt x="0" y="17071"/>
                  <a:pt x="17071" y="0"/>
                  <a:pt x="38098" y="0"/>
                </a:cubicBezTo>
                <a:close/>
              </a:path>
            </a:pathLst>
          </a:custGeom>
          <a:solidFill>
            <a:srgbClr val="3D4F5F"/>
          </a:solidFill>
          <a:ln/>
        </p:spPr>
        <p:txBody>
          <a:bodyPr/>
          <a:lstStyle/>
          <a:p>
            <a:endParaRPr lang="en-US"/>
          </a:p>
        </p:txBody>
      </p:sp>
      <p:sp>
        <p:nvSpPr>
          <p:cNvPr id="10" name="Shape 7"/>
          <p:cNvSpPr/>
          <p:nvPr/>
        </p:nvSpPr>
        <p:spPr>
          <a:xfrm>
            <a:off x="514350" y="615315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4A9D9C"/>
          </a:solidFill>
          <a:ln/>
        </p:spPr>
        <p:txBody>
          <a:bodyPr/>
          <a:lstStyle/>
          <a:p>
            <a:endParaRPr lang="en-US"/>
          </a:p>
        </p:txBody>
      </p:sp>
      <p:sp>
        <p:nvSpPr>
          <p:cNvPr id="11" name="Text 8"/>
          <p:cNvSpPr/>
          <p:nvPr/>
        </p:nvSpPr>
        <p:spPr>
          <a:xfrm>
            <a:off x="952500" y="6115050"/>
            <a:ext cx="1266825"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Data Processing</a:t>
            </a:r>
            <a:endParaRPr lang="en-US" sz="1600" dirty="0"/>
          </a:p>
        </p:txBody>
      </p:sp>
      <p:sp>
        <p:nvSpPr>
          <p:cNvPr id="12" name="Shape 9"/>
          <p:cNvSpPr/>
          <p:nvPr/>
        </p:nvSpPr>
        <p:spPr>
          <a:xfrm>
            <a:off x="2895600" y="6019800"/>
            <a:ext cx="457200" cy="457200"/>
          </a:xfrm>
          <a:custGeom>
            <a:avLst/>
            <a:gdLst/>
            <a:ahLst/>
            <a:cxnLst/>
            <a:rect l="l" t="t" r="r" b="b"/>
            <a:pathLst>
              <a:path w="457200" h="457200">
                <a:moveTo>
                  <a:pt x="38098" y="0"/>
                </a:moveTo>
                <a:lnTo>
                  <a:pt x="419102" y="0"/>
                </a:lnTo>
                <a:cubicBezTo>
                  <a:pt x="440143" y="0"/>
                  <a:pt x="457200" y="17057"/>
                  <a:pt x="457200" y="38098"/>
                </a:cubicBezTo>
                <a:lnTo>
                  <a:pt x="457200" y="419102"/>
                </a:lnTo>
                <a:cubicBezTo>
                  <a:pt x="457200" y="440143"/>
                  <a:pt x="440143" y="457200"/>
                  <a:pt x="419102" y="457200"/>
                </a:cubicBezTo>
                <a:lnTo>
                  <a:pt x="38098" y="457200"/>
                </a:lnTo>
                <a:cubicBezTo>
                  <a:pt x="17057" y="457200"/>
                  <a:pt x="0" y="440143"/>
                  <a:pt x="0" y="419102"/>
                </a:cubicBezTo>
                <a:lnTo>
                  <a:pt x="0" y="38098"/>
                </a:lnTo>
                <a:cubicBezTo>
                  <a:pt x="0" y="17071"/>
                  <a:pt x="17071" y="0"/>
                  <a:pt x="38098" y="0"/>
                </a:cubicBezTo>
                <a:close/>
              </a:path>
            </a:pathLst>
          </a:custGeom>
          <a:solidFill>
            <a:srgbClr val="3D4F5F"/>
          </a:solidFill>
          <a:ln/>
        </p:spPr>
        <p:txBody>
          <a:bodyPr/>
          <a:lstStyle/>
          <a:p>
            <a:endParaRPr lang="en-US"/>
          </a:p>
        </p:txBody>
      </p:sp>
      <p:sp>
        <p:nvSpPr>
          <p:cNvPr id="13" name="Shape 10"/>
          <p:cNvSpPr/>
          <p:nvPr/>
        </p:nvSpPr>
        <p:spPr>
          <a:xfrm>
            <a:off x="3028950" y="6153150"/>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4A9D9C"/>
          </a:solidFill>
          <a:ln/>
        </p:spPr>
        <p:txBody>
          <a:bodyPr/>
          <a:lstStyle/>
          <a:p>
            <a:endParaRPr lang="en-US"/>
          </a:p>
        </p:txBody>
      </p:sp>
      <p:sp>
        <p:nvSpPr>
          <p:cNvPr id="14" name="Text 11"/>
          <p:cNvSpPr/>
          <p:nvPr/>
        </p:nvSpPr>
        <p:spPr>
          <a:xfrm>
            <a:off x="3467100" y="6115050"/>
            <a:ext cx="847725"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AI Insights</a:t>
            </a:r>
            <a:endParaRPr lang="en-US" sz="1600" dirty="0"/>
          </a:p>
        </p:txBody>
      </p:sp>
      <p:sp>
        <p:nvSpPr>
          <p:cNvPr id="15" name="Shape 12"/>
          <p:cNvSpPr/>
          <p:nvPr/>
        </p:nvSpPr>
        <p:spPr>
          <a:xfrm>
            <a:off x="5410200" y="6019800"/>
            <a:ext cx="457200" cy="457200"/>
          </a:xfrm>
          <a:custGeom>
            <a:avLst/>
            <a:gdLst/>
            <a:ahLst/>
            <a:cxnLst/>
            <a:rect l="l" t="t" r="r" b="b"/>
            <a:pathLst>
              <a:path w="457200" h="457200">
                <a:moveTo>
                  <a:pt x="38098" y="0"/>
                </a:moveTo>
                <a:lnTo>
                  <a:pt x="419102" y="0"/>
                </a:lnTo>
                <a:cubicBezTo>
                  <a:pt x="440143" y="0"/>
                  <a:pt x="457200" y="17057"/>
                  <a:pt x="457200" y="38098"/>
                </a:cubicBezTo>
                <a:lnTo>
                  <a:pt x="457200" y="419102"/>
                </a:lnTo>
                <a:cubicBezTo>
                  <a:pt x="457200" y="440143"/>
                  <a:pt x="440143" y="457200"/>
                  <a:pt x="419102" y="457200"/>
                </a:cubicBezTo>
                <a:lnTo>
                  <a:pt x="38098" y="457200"/>
                </a:lnTo>
                <a:cubicBezTo>
                  <a:pt x="17057" y="457200"/>
                  <a:pt x="0" y="440143"/>
                  <a:pt x="0" y="419102"/>
                </a:cubicBezTo>
                <a:lnTo>
                  <a:pt x="0" y="38098"/>
                </a:lnTo>
                <a:cubicBezTo>
                  <a:pt x="0" y="17071"/>
                  <a:pt x="17071" y="0"/>
                  <a:pt x="38098" y="0"/>
                </a:cubicBezTo>
                <a:close/>
              </a:path>
            </a:pathLst>
          </a:custGeom>
          <a:solidFill>
            <a:srgbClr val="3D4F5F"/>
          </a:solidFill>
          <a:ln/>
        </p:spPr>
        <p:txBody>
          <a:bodyPr/>
          <a:lstStyle/>
          <a:p>
            <a:endParaRPr lang="en-US"/>
          </a:p>
        </p:txBody>
      </p:sp>
      <p:sp>
        <p:nvSpPr>
          <p:cNvPr id="16" name="Shape 13"/>
          <p:cNvSpPr/>
          <p:nvPr/>
        </p:nvSpPr>
        <p:spPr>
          <a:xfrm>
            <a:off x="5567363" y="615315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4A9D9C"/>
          </a:solidFill>
          <a:ln/>
        </p:spPr>
        <p:txBody>
          <a:bodyPr/>
          <a:lstStyle/>
          <a:p>
            <a:endParaRPr lang="en-US"/>
          </a:p>
        </p:txBody>
      </p:sp>
      <p:sp>
        <p:nvSpPr>
          <p:cNvPr id="17" name="Text 14"/>
          <p:cNvSpPr/>
          <p:nvPr/>
        </p:nvSpPr>
        <p:spPr>
          <a:xfrm>
            <a:off x="5981700" y="6115050"/>
            <a:ext cx="1285875"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Smart Decisions</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1238250"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Foundation</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What is Data Analytics?</a:t>
            </a:r>
            <a:endParaRPr lang="en-US" sz="1600" dirty="0"/>
          </a:p>
        </p:txBody>
      </p:sp>
      <p:sp>
        <p:nvSpPr>
          <p:cNvPr id="5" name="Shape 3"/>
          <p:cNvSpPr/>
          <p:nvPr/>
        </p:nvSpPr>
        <p:spPr>
          <a:xfrm>
            <a:off x="381000" y="1638300"/>
            <a:ext cx="609600" cy="609600"/>
          </a:xfrm>
          <a:custGeom>
            <a:avLst/>
            <a:gdLst/>
            <a:ahLst/>
            <a:cxnLst/>
            <a:rect l="l" t="t" r="r" b="b"/>
            <a:pathLst>
              <a:path w="609600" h="609600">
                <a:moveTo>
                  <a:pt x="38100" y="0"/>
                </a:moveTo>
                <a:lnTo>
                  <a:pt x="571500" y="0"/>
                </a:lnTo>
                <a:cubicBezTo>
                  <a:pt x="592528" y="0"/>
                  <a:pt x="609600" y="17072"/>
                  <a:pt x="609600" y="38100"/>
                </a:cubicBezTo>
                <a:lnTo>
                  <a:pt x="609600" y="571500"/>
                </a:lnTo>
                <a:cubicBezTo>
                  <a:pt x="609600" y="592528"/>
                  <a:pt x="592528" y="609600"/>
                  <a:pt x="571500" y="609600"/>
                </a:cubicBezTo>
                <a:lnTo>
                  <a:pt x="38100" y="609600"/>
                </a:lnTo>
                <a:cubicBezTo>
                  <a:pt x="17072" y="609600"/>
                  <a:pt x="0" y="592528"/>
                  <a:pt x="0" y="571500"/>
                </a:cubicBezTo>
                <a:lnTo>
                  <a:pt x="0" y="38100"/>
                </a:lnTo>
                <a:cubicBezTo>
                  <a:pt x="0" y="17072"/>
                  <a:pt x="17072" y="0"/>
                  <a:pt x="38100" y="0"/>
                </a:cubicBezTo>
                <a:close/>
              </a:path>
            </a:pathLst>
          </a:custGeom>
          <a:solidFill>
            <a:srgbClr val="4A9D9C"/>
          </a:solidFill>
          <a:ln/>
        </p:spPr>
        <p:txBody>
          <a:bodyPr/>
          <a:lstStyle/>
          <a:p>
            <a:endParaRPr lang="en-US"/>
          </a:p>
        </p:txBody>
      </p:sp>
      <p:sp>
        <p:nvSpPr>
          <p:cNvPr id="6" name="Shape 4"/>
          <p:cNvSpPr/>
          <p:nvPr/>
        </p:nvSpPr>
        <p:spPr>
          <a:xfrm>
            <a:off x="585788" y="1828800"/>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1A1D21"/>
          </a:solidFill>
          <a:ln/>
        </p:spPr>
        <p:txBody>
          <a:bodyPr/>
          <a:lstStyle/>
          <a:p>
            <a:endParaRPr lang="en-US"/>
          </a:p>
        </p:txBody>
      </p:sp>
      <p:sp>
        <p:nvSpPr>
          <p:cNvPr id="7" name="Text 5"/>
          <p:cNvSpPr/>
          <p:nvPr/>
        </p:nvSpPr>
        <p:spPr>
          <a:xfrm>
            <a:off x="1143000" y="1638300"/>
            <a:ext cx="6115050"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The Science of Data</a:t>
            </a:r>
            <a:endParaRPr lang="en-US" sz="1600" dirty="0"/>
          </a:p>
        </p:txBody>
      </p:sp>
      <p:sp>
        <p:nvSpPr>
          <p:cNvPr id="8" name="Text 6"/>
          <p:cNvSpPr/>
          <p:nvPr/>
        </p:nvSpPr>
        <p:spPr>
          <a:xfrm>
            <a:off x="1143000" y="2019181"/>
            <a:ext cx="6086475" cy="838200"/>
          </a:xfrm>
          <a:prstGeom prst="rect">
            <a:avLst/>
          </a:prstGeom>
          <a:noFill/>
          <a:ln/>
        </p:spPr>
        <p:txBody>
          <a:bodyPr wrap="square" lIns="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Data analytics is the science of turning </a:t>
            </a:r>
            <a:r>
              <a:rPr lang="en-US" sz="1350" b="1" dirty="0">
                <a:solidFill>
                  <a:srgbClr val="4A9D9C"/>
                </a:solidFill>
                <a:latin typeface="Quattrocento Sans" pitchFamily="34" charset="0"/>
                <a:ea typeface="Quattrocento Sans" pitchFamily="34" charset="-122"/>
                <a:cs typeface="Quattrocento Sans" pitchFamily="34" charset="-120"/>
              </a:rPr>
              <a:t>raw data into meaningful metrics</a:t>
            </a:r>
            <a:r>
              <a:rPr lang="en-US" sz="1350" dirty="0">
                <a:solidFill>
                  <a:srgbClr val="E0E2E5"/>
                </a:solidFill>
                <a:latin typeface="Quattrocento Sans" pitchFamily="34" charset="0"/>
                <a:ea typeface="Quattrocento Sans" pitchFamily="34" charset="-122"/>
                <a:cs typeface="Quattrocento Sans" pitchFamily="34" charset="-120"/>
              </a:rPr>
              <a:t> that companies can use to make informed decisions. Think of it as deciphering the story that raw data is trying to tell.</a:t>
            </a:r>
            <a:endParaRPr lang="en-US" sz="1600" dirty="0"/>
          </a:p>
        </p:txBody>
      </p:sp>
      <p:sp>
        <p:nvSpPr>
          <p:cNvPr id="9" name="Shape 7"/>
          <p:cNvSpPr/>
          <p:nvPr/>
        </p:nvSpPr>
        <p:spPr>
          <a:xfrm>
            <a:off x="381000" y="3007400"/>
            <a:ext cx="609600" cy="609600"/>
          </a:xfrm>
          <a:custGeom>
            <a:avLst/>
            <a:gdLst/>
            <a:ahLst/>
            <a:cxnLst/>
            <a:rect l="l" t="t" r="r" b="b"/>
            <a:pathLst>
              <a:path w="609600" h="609600">
                <a:moveTo>
                  <a:pt x="38100" y="0"/>
                </a:moveTo>
                <a:lnTo>
                  <a:pt x="571500" y="0"/>
                </a:lnTo>
                <a:cubicBezTo>
                  <a:pt x="592528" y="0"/>
                  <a:pt x="609600" y="17072"/>
                  <a:pt x="609600" y="38100"/>
                </a:cubicBezTo>
                <a:lnTo>
                  <a:pt x="609600" y="571500"/>
                </a:lnTo>
                <a:cubicBezTo>
                  <a:pt x="609600" y="592528"/>
                  <a:pt x="592528" y="609600"/>
                  <a:pt x="571500" y="609600"/>
                </a:cubicBezTo>
                <a:lnTo>
                  <a:pt x="38100" y="609600"/>
                </a:lnTo>
                <a:cubicBezTo>
                  <a:pt x="17072" y="609600"/>
                  <a:pt x="0" y="592528"/>
                  <a:pt x="0" y="571500"/>
                </a:cubicBezTo>
                <a:lnTo>
                  <a:pt x="0" y="38100"/>
                </a:lnTo>
                <a:cubicBezTo>
                  <a:pt x="0" y="17072"/>
                  <a:pt x="17072" y="0"/>
                  <a:pt x="38100" y="0"/>
                </a:cubicBezTo>
                <a:close/>
              </a:path>
            </a:pathLst>
          </a:custGeom>
          <a:solidFill>
            <a:srgbClr val="3D4F5F"/>
          </a:solidFill>
          <a:ln/>
        </p:spPr>
        <p:txBody>
          <a:bodyPr/>
          <a:lstStyle/>
          <a:p>
            <a:endParaRPr lang="en-US"/>
          </a:p>
        </p:txBody>
      </p:sp>
      <p:sp>
        <p:nvSpPr>
          <p:cNvPr id="10" name="Shape 8"/>
          <p:cNvSpPr/>
          <p:nvPr/>
        </p:nvSpPr>
        <p:spPr>
          <a:xfrm>
            <a:off x="542925" y="3197900"/>
            <a:ext cx="285750" cy="228600"/>
          </a:xfrm>
          <a:custGeom>
            <a:avLst/>
            <a:gdLst/>
            <a:ahLst/>
            <a:cxnLst/>
            <a:rect l="l" t="t" r="r" b="b"/>
            <a:pathLst>
              <a:path w="285750" h="228600">
                <a:moveTo>
                  <a:pt x="185693" y="93985"/>
                </a:moveTo>
                <a:cubicBezTo>
                  <a:pt x="191140" y="92512"/>
                  <a:pt x="196855" y="95101"/>
                  <a:pt x="199311" y="100146"/>
                </a:cubicBezTo>
                <a:lnTo>
                  <a:pt x="207615" y="116934"/>
                </a:lnTo>
                <a:cubicBezTo>
                  <a:pt x="212214" y="117559"/>
                  <a:pt x="216724" y="118809"/>
                  <a:pt x="220965" y="120551"/>
                </a:cubicBezTo>
                <a:lnTo>
                  <a:pt x="236592" y="110148"/>
                </a:lnTo>
                <a:cubicBezTo>
                  <a:pt x="241280" y="107022"/>
                  <a:pt x="247486" y="107647"/>
                  <a:pt x="251460" y="111621"/>
                </a:cubicBezTo>
                <a:lnTo>
                  <a:pt x="260033" y="120194"/>
                </a:lnTo>
                <a:cubicBezTo>
                  <a:pt x="264006" y="124167"/>
                  <a:pt x="264631" y="130418"/>
                  <a:pt x="261506" y="135062"/>
                </a:cubicBezTo>
                <a:lnTo>
                  <a:pt x="251103" y="150644"/>
                </a:lnTo>
                <a:cubicBezTo>
                  <a:pt x="251951" y="152742"/>
                  <a:pt x="252710" y="154930"/>
                  <a:pt x="253335" y="157207"/>
                </a:cubicBezTo>
                <a:cubicBezTo>
                  <a:pt x="253960" y="159484"/>
                  <a:pt x="254362" y="161717"/>
                  <a:pt x="254675" y="163994"/>
                </a:cubicBezTo>
                <a:lnTo>
                  <a:pt x="271507" y="172298"/>
                </a:lnTo>
                <a:cubicBezTo>
                  <a:pt x="276552" y="174799"/>
                  <a:pt x="279142" y="180514"/>
                  <a:pt x="277669" y="185916"/>
                </a:cubicBezTo>
                <a:lnTo>
                  <a:pt x="274543" y="197614"/>
                </a:lnTo>
                <a:cubicBezTo>
                  <a:pt x="273070" y="203016"/>
                  <a:pt x="268025" y="206678"/>
                  <a:pt x="262399" y="206320"/>
                </a:cubicBezTo>
                <a:lnTo>
                  <a:pt x="243647" y="205115"/>
                </a:lnTo>
                <a:cubicBezTo>
                  <a:pt x="240834" y="208731"/>
                  <a:pt x="237574" y="212080"/>
                  <a:pt x="233869" y="214938"/>
                </a:cubicBezTo>
                <a:lnTo>
                  <a:pt x="235074" y="233645"/>
                </a:lnTo>
                <a:cubicBezTo>
                  <a:pt x="235431" y="239271"/>
                  <a:pt x="231770" y="244361"/>
                  <a:pt x="226368" y="245790"/>
                </a:cubicBezTo>
                <a:lnTo>
                  <a:pt x="214670" y="248915"/>
                </a:lnTo>
                <a:cubicBezTo>
                  <a:pt x="209223" y="250388"/>
                  <a:pt x="203552" y="247799"/>
                  <a:pt x="201052" y="242754"/>
                </a:cubicBezTo>
                <a:lnTo>
                  <a:pt x="192747" y="225966"/>
                </a:lnTo>
                <a:cubicBezTo>
                  <a:pt x="188149" y="225341"/>
                  <a:pt x="183639" y="224091"/>
                  <a:pt x="179397" y="222349"/>
                </a:cubicBezTo>
                <a:lnTo>
                  <a:pt x="163770" y="232752"/>
                </a:lnTo>
                <a:cubicBezTo>
                  <a:pt x="159082" y="235878"/>
                  <a:pt x="152876" y="235253"/>
                  <a:pt x="148903" y="231279"/>
                </a:cubicBezTo>
                <a:lnTo>
                  <a:pt x="140330" y="222706"/>
                </a:lnTo>
                <a:cubicBezTo>
                  <a:pt x="136356" y="218733"/>
                  <a:pt x="135731" y="212527"/>
                  <a:pt x="138857" y="207838"/>
                </a:cubicBezTo>
                <a:lnTo>
                  <a:pt x="149260" y="192212"/>
                </a:lnTo>
                <a:cubicBezTo>
                  <a:pt x="148411" y="190113"/>
                  <a:pt x="147652" y="187925"/>
                  <a:pt x="147027" y="185648"/>
                </a:cubicBezTo>
                <a:cubicBezTo>
                  <a:pt x="146402" y="183371"/>
                  <a:pt x="146000" y="181094"/>
                  <a:pt x="145688" y="178862"/>
                </a:cubicBezTo>
                <a:lnTo>
                  <a:pt x="128855" y="170557"/>
                </a:lnTo>
                <a:cubicBezTo>
                  <a:pt x="123810" y="168057"/>
                  <a:pt x="121265" y="162342"/>
                  <a:pt x="122694" y="156939"/>
                </a:cubicBezTo>
                <a:lnTo>
                  <a:pt x="125819" y="145241"/>
                </a:lnTo>
                <a:cubicBezTo>
                  <a:pt x="127293" y="139839"/>
                  <a:pt x="132338" y="136178"/>
                  <a:pt x="137964" y="136535"/>
                </a:cubicBezTo>
                <a:lnTo>
                  <a:pt x="156671" y="137740"/>
                </a:lnTo>
                <a:cubicBezTo>
                  <a:pt x="159484" y="134124"/>
                  <a:pt x="162744" y="130775"/>
                  <a:pt x="166449" y="127918"/>
                </a:cubicBezTo>
                <a:lnTo>
                  <a:pt x="165244" y="109255"/>
                </a:lnTo>
                <a:cubicBezTo>
                  <a:pt x="164887" y="103629"/>
                  <a:pt x="168548" y="98539"/>
                  <a:pt x="173950" y="97110"/>
                </a:cubicBezTo>
                <a:lnTo>
                  <a:pt x="185648" y="93985"/>
                </a:lnTo>
                <a:close/>
                <a:moveTo>
                  <a:pt x="200204" y="151805"/>
                </a:moveTo>
                <a:cubicBezTo>
                  <a:pt x="189361" y="151817"/>
                  <a:pt x="180568" y="160630"/>
                  <a:pt x="180581" y="171472"/>
                </a:cubicBezTo>
                <a:cubicBezTo>
                  <a:pt x="180593" y="182315"/>
                  <a:pt x="189406" y="191108"/>
                  <a:pt x="200248" y="191095"/>
                </a:cubicBezTo>
                <a:cubicBezTo>
                  <a:pt x="211091" y="191083"/>
                  <a:pt x="219884" y="182270"/>
                  <a:pt x="219871" y="171428"/>
                </a:cubicBezTo>
                <a:cubicBezTo>
                  <a:pt x="219859" y="160585"/>
                  <a:pt x="211046" y="151792"/>
                  <a:pt x="200204" y="151805"/>
                </a:cubicBezTo>
                <a:close/>
                <a:moveTo>
                  <a:pt x="100414" y="-20315"/>
                </a:moveTo>
                <a:lnTo>
                  <a:pt x="112112" y="-17190"/>
                </a:lnTo>
                <a:cubicBezTo>
                  <a:pt x="117515" y="-15716"/>
                  <a:pt x="121176" y="-10626"/>
                  <a:pt x="120819" y="-5045"/>
                </a:cubicBezTo>
                <a:lnTo>
                  <a:pt x="119613" y="13618"/>
                </a:lnTo>
                <a:cubicBezTo>
                  <a:pt x="123319" y="16475"/>
                  <a:pt x="126578" y="19779"/>
                  <a:pt x="129391" y="23440"/>
                </a:cubicBezTo>
                <a:lnTo>
                  <a:pt x="148144" y="22235"/>
                </a:lnTo>
                <a:cubicBezTo>
                  <a:pt x="153725" y="21878"/>
                  <a:pt x="158814" y="25539"/>
                  <a:pt x="160288" y="30941"/>
                </a:cubicBezTo>
                <a:lnTo>
                  <a:pt x="163413" y="42639"/>
                </a:lnTo>
                <a:cubicBezTo>
                  <a:pt x="164842" y="48042"/>
                  <a:pt x="162297" y="53757"/>
                  <a:pt x="157252" y="56257"/>
                </a:cubicBezTo>
                <a:lnTo>
                  <a:pt x="140419" y="64562"/>
                </a:lnTo>
                <a:cubicBezTo>
                  <a:pt x="140107" y="66839"/>
                  <a:pt x="139660" y="69116"/>
                  <a:pt x="139080" y="71348"/>
                </a:cubicBezTo>
                <a:cubicBezTo>
                  <a:pt x="138499" y="73581"/>
                  <a:pt x="137696" y="75813"/>
                  <a:pt x="136847" y="77912"/>
                </a:cubicBezTo>
                <a:lnTo>
                  <a:pt x="147251" y="93538"/>
                </a:lnTo>
                <a:cubicBezTo>
                  <a:pt x="150376" y="98227"/>
                  <a:pt x="149751" y="104433"/>
                  <a:pt x="145777" y="108406"/>
                </a:cubicBezTo>
                <a:lnTo>
                  <a:pt x="137205" y="116979"/>
                </a:lnTo>
                <a:cubicBezTo>
                  <a:pt x="133231" y="120953"/>
                  <a:pt x="127025" y="121578"/>
                  <a:pt x="122337" y="118452"/>
                </a:cubicBezTo>
                <a:lnTo>
                  <a:pt x="106710" y="108049"/>
                </a:lnTo>
                <a:cubicBezTo>
                  <a:pt x="102468" y="109791"/>
                  <a:pt x="97959" y="111041"/>
                  <a:pt x="93360" y="111666"/>
                </a:cubicBezTo>
                <a:lnTo>
                  <a:pt x="85055" y="128454"/>
                </a:lnTo>
                <a:cubicBezTo>
                  <a:pt x="82555" y="133499"/>
                  <a:pt x="76840" y="136044"/>
                  <a:pt x="71438" y="134615"/>
                </a:cubicBezTo>
                <a:lnTo>
                  <a:pt x="59740" y="131490"/>
                </a:lnTo>
                <a:cubicBezTo>
                  <a:pt x="54293" y="130016"/>
                  <a:pt x="50676" y="124926"/>
                  <a:pt x="51033" y="119345"/>
                </a:cubicBezTo>
                <a:lnTo>
                  <a:pt x="52239" y="100638"/>
                </a:lnTo>
                <a:cubicBezTo>
                  <a:pt x="48533" y="97780"/>
                  <a:pt x="45274" y="94476"/>
                  <a:pt x="42461" y="90815"/>
                </a:cubicBezTo>
                <a:lnTo>
                  <a:pt x="23708" y="92020"/>
                </a:lnTo>
                <a:cubicBezTo>
                  <a:pt x="18127" y="92378"/>
                  <a:pt x="13037" y="88716"/>
                  <a:pt x="11564" y="83314"/>
                </a:cubicBezTo>
                <a:lnTo>
                  <a:pt x="8439" y="71616"/>
                </a:lnTo>
                <a:cubicBezTo>
                  <a:pt x="7010" y="66214"/>
                  <a:pt x="9555" y="60499"/>
                  <a:pt x="14600" y="57998"/>
                </a:cubicBezTo>
                <a:lnTo>
                  <a:pt x="31433" y="49694"/>
                </a:lnTo>
                <a:cubicBezTo>
                  <a:pt x="31745" y="47417"/>
                  <a:pt x="32192" y="45184"/>
                  <a:pt x="32772" y="42907"/>
                </a:cubicBezTo>
                <a:cubicBezTo>
                  <a:pt x="33397" y="40630"/>
                  <a:pt x="34111" y="38442"/>
                  <a:pt x="35004" y="36344"/>
                </a:cubicBezTo>
                <a:lnTo>
                  <a:pt x="24601" y="20762"/>
                </a:lnTo>
                <a:cubicBezTo>
                  <a:pt x="21476" y="16073"/>
                  <a:pt x="22101" y="9867"/>
                  <a:pt x="26075" y="5894"/>
                </a:cubicBezTo>
                <a:lnTo>
                  <a:pt x="34647" y="-2679"/>
                </a:lnTo>
                <a:cubicBezTo>
                  <a:pt x="38621" y="-6653"/>
                  <a:pt x="44827" y="-7278"/>
                  <a:pt x="49515" y="-4152"/>
                </a:cubicBezTo>
                <a:lnTo>
                  <a:pt x="65142" y="6251"/>
                </a:lnTo>
                <a:cubicBezTo>
                  <a:pt x="69384" y="4509"/>
                  <a:pt x="73893" y="3259"/>
                  <a:pt x="78492" y="2634"/>
                </a:cubicBezTo>
                <a:lnTo>
                  <a:pt x="86797" y="-14154"/>
                </a:lnTo>
                <a:cubicBezTo>
                  <a:pt x="89297" y="-19199"/>
                  <a:pt x="94967" y="-21744"/>
                  <a:pt x="100414" y="-20315"/>
                </a:cubicBezTo>
                <a:close/>
                <a:moveTo>
                  <a:pt x="85904" y="37505"/>
                </a:moveTo>
                <a:cubicBezTo>
                  <a:pt x="75061" y="37505"/>
                  <a:pt x="66258" y="46307"/>
                  <a:pt x="66258" y="57150"/>
                </a:cubicBezTo>
                <a:cubicBezTo>
                  <a:pt x="66258" y="67993"/>
                  <a:pt x="75061" y="76795"/>
                  <a:pt x="85904" y="76795"/>
                </a:cubicBezTo>
                <a:cubicBezTo>
                  <a:pt x="96746" y="76795"/>
                  <a:pt x="105549" y="67993"/>
                  <a:pt x="105549" y="57150"/>
                </a:cubicBezTo>
                <a:cubicBezTo>
                  <a:pt x="105549" y="46307"/>
                  <a:pt x="96746" y="37505"/>
                  <a:pt x="85904" y="37505"/>
                </a:cubicBezTo>
                <a:close/>
              </a:path>
            </a:pathLst>
          </a:custGeom>
          <a:solidFill>
            <a:srgbClr val="4A9D9C"/>
          </a:solidFill>
          <a:ln/>
        </p:spPr>
        <p:txBody>
          <a:bodyPr/>
          <a:lstStyle/>
          <a:p>
            <a:endParaRPr lang="en-US"/>
          </a:p>
        </p:txBody>
      </p:sp>
      <p:sp>
        <p:nvSpPr>
          <p:cNvPr id="11" name="Text 9"/>
          <p:cNvSpPr/>
          <p:nvPr/>
        </p:nvSpPr>
        <p:spPr>
          <a:xfrm>
            <a:off x="1143000" y="3007400"/>
            <a:ext cx="6115050"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Liter" pitchFamily="34" charset="0"/>
                <a:ea typeface="Liter" pitchFamily="34" charset="-122"/>
                <a:cs typeface="Liter" pitchFamily="34" charset="-120"/>
              </a:rPr>
              <a:t>How It Works</a:t>
            </a:r>
            <a:endParaRPr lang="en-US" sz="1600" dirty="0"/>
          </a:p>
        </p:txBody>
      </p:sp>
      <p:sp>
        <p:nvSpPr>
          <p:cNvPr id="12" name="Text 10"/>
          <p:cNvSpPr/>
          <p:nvPr/>
        </p:nvSpPr>
        <p:spPr>
          <a:xfrm>
            <a:off x="1143000" y="3388280"/>
            <a:ext cx="6086475" cy="838200"/>
          </a:xfrm>
          <a:prstGeom prst="rect">
            <a:avLst/>
          </a:prstGeom>
          <a:noFill/>
          <a:ln/>
        </p:spPr>
        <p:txBody>
          <a:bodyPr wrap="square" lIns="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Data analytics utilizes </a:t>
            </a:r>
            <a:r>
              <a:rPr lang="en-US" sz="1350" b="1" dirty="0">
                <a:solidFill>
                  <a:srgbClr val="4A9D9C"/>
                </a:solidFill>
                <a:latin typeface="Quattrocento Sans" pitchFamily="34" charset="0"/>
                <a:ea typeface="Quattrocento Sans" pitchFamily="34" charset="-122"/>
                <a:cs typeface="Quattrocento Sans" pitchFamily="34" charset="-120"/>
              </a:rPr>
              <a:t>tools, algorithms, and artificial intelligence</a:t>
            </a:r>
            <a:r>
              <a:rPr lang="en-US" sz="1350" dirty="0">
                <a:solidFill>
                  <a:srgbClr val="E0E2E5"/>
                </a:solidFill>
                <a:latin typeface="Quattrocento Sans" pitchFamily="34" charset="0"/>
                <a:ea typeface="Quattrocento Sans" pitchFamily="34" charset="-122"/>
                <a:cs typeface="Quattrocento Sans" pitchFamily="34" charset="-120"/>
              </a:rPr>
              <a:t> to identify patterns and trends within specific datasets, revealing valuable insights that drive business strategy.</a:t>
            </a:r>
            <a:endParaRPr lang="en-US" sz="1600" dirty="0"/>
          </a:p>
        </p:txBody>
      </p:sp>
      <p:sp>
        <p:nvSpPr>
          <p:cNvPr id="13" name="Shape 11"/>
          <p:cNvSpPr/>
          <p:nvPr/>
        </p:nvSpPr>
        <p:spPr>
          <a:xfrm>
            <a:off x="381000" y="4376499"/>
            <a:ext cx="609600" cy="609600"/>
          </a:xfrm>
          <a:custGeom>
            <a:avLst/>
            <a:gdLst/>
            <a:ahLst/>
            <a:cxnLst/>
            <a:rect l="l" t="t" r="r" b="b"/>
            <a:pathLst>
              <a:path w="609600" h="609600">
                <a:moveTo>
                  <a:pt x="38100" y="0"/>
                </a:moveTo>
                <a:lnTo>
                  <a:pt x="571500" y="0"/>
                </a:lnTo>
                <a:cubicBezTo>
                  <a:pt x="592528" y="0"/>
                  <a:pt x="609600" y="17072"/>
                  <a:pt x="609600" y="38100"/>
                </a:cubicBezTo>
                <a:lnTo>
                  <a:pt x="609600" y="571500"/>
                </a:lnTo>
                <a:cubicBezTo>
                  <a:pt x="609600" y="592528"/>
                  <a:pt x="592528" y="609600"/>
                  <a:pt x="571500" y="609600"/>
                </a:cubicBezTo>
                <a:lnTo>
                  <a:pt x="38100" y="609600"/>
                </a:lnTo>
                <a:cubicBezTo>
                  <a:pt x="17072" y="609600"/>
                  <a:pt x="0" y="592528"/>
                  <a:pt x="0" y="571500"/>
                </a:cubicBezTo>
                <a:lnTo>
                  <a:pt x="0" y="38100"/>
                </a:lnTo>
                <a:cubicBezTo>
                  <a:pt x="0" y="17072"/>
                  <a:pt x="17072" y="0"/>
                  <a:pt x="38100" y="0"/>
                </a:cubicBezTo>
                <a:close/>
              </a:path>
            </a:pathLst>
          </a:custGeom>
          <a:solidFill>
            <a:srgbClr val="3D4F5F"/>
          </a:solidFill>
          <a:ln/>
        </p:spPr>
        <p:txBody>
          <a:bodyPr/>
          <a:lstStyle/>
          <a:p>
            <a:endParaRPr lang="en-US"/>
          </a:p>
        </p:txBody>
      </p:sp>
      <p:sp>
        <p:nvSpPr>
          <p:cNvPr id="14" name="Shape 12"/>
          <p:cNvSpPr/>
          <p:nvPr/>
        </p:nvSpPr>
        <p:spPr>
          <a:xfrm>
            <a:off x="571500" y="4566999"/>
            <a:ext cx="228600" cy="228600"/>
          </a:xfrm>
          <a:custGeom>
            <a:avLst/>
            <a:gdLst/>
            <a:ahLst/>
            <a:cxnLst/>
            <a:rect l="l" t="t" r="r" b="b"/>
            <a:pathLst>
              <a:path w="228600" h="228600">
                <a:moveTo>
                  <a:pt x="200025" y="114300"/>
                </a:moveTo>
                <a:cubicBezTo>
                  <a:pt x="200025" y="66987"/>
                  <a:pt x="161613" y="28575"/>
                  <a:pt x="114300" y="28575"/>
                </a:cubicBezTo>
                <a:cubicBezTo>
                  <a:pt x="66987" y="28575"/>
                  <a:pt x="28575" y="66987"/>
                  <a:pt x="28575" y="114300"/>
                </a:cubicBezTo>
                <a:cubicBezTo>
                  <a:pt x="28575" y="161613"/>
                  <a:pt x="66987" y="200025"/>
                  <a:pt x="114300" y="200025"/>
                </a:cubicBezTo>
                <a:cubicBezTo>
                  <a:pt x="161613" y="200025"/>
                  <a:pt x="200025" y="161613"/>
                  <a:pt x="200025" y="114300"/>
                </a:cubicBezTo>
                <a:close/>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14300" y="150019"/>
                </a:moveTo>
                <a:cubicBezTo>
                  <a:pt x="134014" y="150019"/>
                  <a:pt x="150019" y="134014"/>
                  <a:pt x="150019" y="114300"/>
                </a:cubicBezTo>
                <a:cubicBezTo>
                  <a:pt x="150019" y="94586"/>
                  <a:pt x="134014" y="78581"/>
                  <a:pt x="114300" y="78581"/>
                </a:cubicBezTo>
                <a:cubicBezTo>
                  <a:pt x="94586" y="78581"/>
                  <a:pt x="78581" y="94586"/>
                  <a:pt x="78581" y="114300"/>
                </a:cubicBezTo>
                <a:cubicBezTo>
                  <a:pt x="78581" y="134014"/>
                  <a:pt x="94586" y="150019"/>
                  <a:pt x="114300" y="150019"/>
                </a:cubicBezTo>
                <a:close/>
                <a:moveTo>
                  <a:pt x="114300" y="50006"/>
                </a:moveTo>
                <a:cubicBezTo>
                  <a:pt x="149785" y="50006"/>
                  <a:pt x="178594" y="78815"/>
                  <a:pt x="178594" y="114300"/>
                </a:cubicBezTo>
                <a:cubicBezTo>
                  <a:pt x="178594" y="149785"/>
                  <a:pt x="149785" y="178594"/>
                  <a:pt x="114300" y="178594"/>
                </a:cubicBezTo>
                <a:cubicBezTo>
                  <a:pt x="78815" y="178594"/>
                  <a:pt x="50006" y="149785"/>
                  <a:pt x="50006" y="114300"/>
                </a:cubicBezTo>
                <a:cubicBezTo>
                  <a:pt x="50006" y="78815"/>
                  <a:pt x="78815" y="50006"/>
                  <a:pt x="114300" y="50006"/>
                </a:cubicBezTo>
                <a:close/>
                <a:moveTo>
                  <a:pt x="100013" y="114300"/>
                </a:moveTo>
                <a:cubicBezTo>
                  <a:pt x="100013" y="106415"/>
                  <a:pt x="106415" y="100013"/>
                  <a:pt x="114300" y="100013"/>
                </a:cubicBezTo>
                <a:cubicBezTo>
                  <a:pt x="122185" y="100013"/>
                  <a:pt x="128588" y="106415"/>
                  <a:pt x="128588" y="114300"/>
                </a:cubicBezTo>
                <a:cubicBezTo>
                  <a:pt x="128588" y="122185"/>
                  <a:pt x="122185" y="128588"/>
                  <a:pt x="114300" y="128588"/>
                </a:cubicBezTo>
                <a:cubicBezTo>
                  <a:pt x="106415" y="128588"/>
                  <a:pt x="100013" y="122185"/>
                  <a:pt x="100013" y="114300"/>
                </a:cubicBezTo>
                <a:close/>
              </a:path>
            </a:pathLst>
          </a:custGeom>
          <a:solidFill>
            <a:srgbClr val="4A9D9C"/>
          </a:solidFill>
          <a:ln/>
        </p:spPr>
        <p:txBody>
          <a:bodyPr/>
          <a:lstStyle/>
          <a:p>
            <a:endParaRPr lang="en-US"/>
          </a:p>
        </p:txBody>
      </p:sp>
      <p:sp>
        <p:nvSpPr>
          <p:cNvPr id="15" name="Text 13"/>
          <p:cNvSpPr/>
          <p:nvPr/>
        </p:nvSpPr>
        <p:spPr>
          <a:xfrm>
            <a:off x="1143000" y="4376499"/>
            <a:ext cx="6115050" cy="304800"/>
          </a:xfrm>
          <a:prstGeom prst="rect">
            <a:avLst/>
          </a:prstGeom>
          <a:noFill/>
          <a:ln/>
        </p:spPr>
        <p:txBody>
          <a:bodyPr wrap="square" lIns="0" tIns="0" rIns="0" bIns="0" rtlCol="0" anchor="ctr"/>
          <a:lstStyle/>
          <a:p>
            <a:pPr>
              <a:lnSpc>
                <a:spcPct val="110000"/>
              </a:lnSpc>
            </a:pPr>
            <a:r>
              <a:rPr lang="en-US" sz="1800" b="1" dirty="0">
                <a:solidFill>
                  <a:srgbClr val="E0E2E5"/>
                </a:solidFill>
                <a:latin typeface="Liter" pitchFamily="34" charset="0"/>
                <a:ea typeface="Liter" pitchFamily="34" charset="-122"/>
                <a:cs typeface="Liter" pitchFamily="34" charset="-120"/>
              </a:rPr>
              <a:t>The Goal</a:t>
            </a:r>
            <a:endParaRPr lang="en-US" sz="1600" dirty="0"/>
          </a:p>
        </p:txBody>
      </p:sp>
      <p:sp>
        <p:nvSpPr>
          <p:cNvPr id="16" name="Text 14"/>
          <p:cNvSpPr/>
          <p:nvPr/>
        </p:nvSpPr>
        <p:spPr>
          <a:xfrm>
            <a:off x="1143000" y="4757381"/>
            <a:ext cx="6086475" cy="561975"/>
          </a:xfrm>
          <a:prstGeom prst="rect">
            <a:avLst/>
          </a:prstGeom>
          <a:noFill/>
          <a:ln/>
        </p:spPr>
        <p:txBody>
          <a:bodyPr wrap="square" lIns="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The primary objective is to </a:t>
            </a:r>
            <a:r>
              <a:rPr lang="en-US" sz="1350" b="1" dirty="0">
                <a:solidFill>
                  <a:srgbClr val="4A9D9C"/>
                </a:solidFill>
                <a:latin typeface="Quattrocento Sans" pitchFamily="34" charset="0"/>
                <a:ea typeface="Quattrocento Sans" pitchFamily="34" charset="-122"/>
                <a:cs typeface="Quattrocento Sans" pitchFamily="34" charset="-120"/>
              </a:rPr>
              <a:t>answer questions about possible outcomes</a:t>
            </a:r>
            <a:r>
              <a:rPr lang="en-US" sz="1350" dirty="0">
                <a:solidFill>
                  <a:srgbClr val="E0E2E5"/>
                </a:solidFill>
                <a:latin typeface="Quattrocento Sans" pitchFamily="34" charset="0"/>
                <a:ea typeface="Quattrocento Sans" pitchFamily="34" charset="-122"/>
                <a:cs typeface="Quattrocento Sans" pitchFamily="34" charset="-120"/>
              </a:rPr>
              <a:t>, revealing market insights and showing whether a company is using its resources efficiently.</a:t>
            </a:r>
            <a:endParaRPr lang="en-US" sz="1600" dirty="0"/>
          </a:p>
        </p:txBody>
      </p:sp>
      <p:pic>
        <p:nvPicPr>
          <p:cNvPr id="17" name="Image 0" descr="https://kimi-web-img.moonshot.cn/img/flowingdata.com/789a9c51ec6771413a6ad9eb0b22c70bac9af8cc.png"/>
          <p:cNvPicPr>
            <a:picLocks noChangeAspect="1"/>
          </p:cNvPicPr>
          <p:nvPr/>
        </p:nvPicPr>
        <p:blipFill>
          <a:blip r:embed="rId3"/>
          <a:srcRect l="21820" r="21820"/>
          <a:stretch/>
        </p:blipFill>
        <p:spPr>
          <a:xfrm>
            <a:off x="7376160" y="1638300"/>
            <a:ext cx="4438650" cy="4838700"/>
          </a:xfrm>
          <a:prstGeom prst="roundRect">
            <a:avLst>
              <a:gd name="adj" fmla="val 858"/>
            </a:avLst>
          </a:prstGeom>
        </p:spPr>
      </p:pic>
      <p:sp>
        <p:nvSpPr>
          <p:cNvPr id="18" name="Shape 15"/>
          <p:cNvSpPr/>
          <p:nvPr/>
        </p:nvSpPr>
        <p:spPr>
          <a:xfrm>
            <a:off x="7376160" y="1638300"/>
            <a:ext cx="4438650" cy="4838700"/>
          </a:xfrm>
          <a:custGeom>
            <a:avLst/>
            <a:gdLst/>
            <a:ahLst/>
            <a:cxnLst/>
            <a:rect l="l" t="t" r="r" b="b"/>
            <a:pathLst>
              <a:path w="4438650" h="4838700">
                <a:moveTo>
                  <a:pt x="38084" y="0"/>
                </a:moveTo>
                <a:lnTo>
                  <a:pt x="4400566" y="0"/>
                </a:lnTo>
                <a:cubicBezTo>
                  <a:pt x="4421599" y="0"/>
                  <a:pt x="4438650" y="17051"/>
                  <a:pt x="4438650" y="38084"/>
                </a:cubicBezTo>
                <a:lnTo>
                  <a:pt x="4438650" y="4800616"/>
                </a:lnTo>
                <a:cubicBezTo>
                  <a:pt x="4438650" y="4821649"/>
                  <a:pt x="4421599" y="4838700"/>
                  <a:pt x="4400566" y="4838700"/>
                </a:cubicBezTo>
                <a:lnTo>
                  <a:pt x="38084" y="4838700"/>
                </a:lnTo>
                <a:cubicBezTo>
                  <a:pt x="17051" y="4838700"/>
                  <a:pt x="0" y="4821649"/>
                  <a:pt x="0" y="4800616"/>
                </a:cubicBezTo>
                <a:lnTo>
                  <a:pt x="0" y="38084"/>
                </a:lnTo>
                <a:cubicBezTo>
                  <a:pt x="0" y="17065"/>
                  <a:pt x="17065" y="0"/>
                  <a:pt x="38084" y="0"/>
                </a:cubicBezTo>
                <a:close/>
              </a:path>
            </a:pathLst>
          </a:custGeom>
          <a:gradFill flip="none" rotWithShape="1">
            <a:gsLst>
              <a:gs pos="0">
                <a:srgbClr val="1A1D21">
                  <a:alpha val="90000"/>
                </a:srgbClr>
              </a:gs>
              <a:gs pos="100000">
                <a:srgbClr val="000000">
                  <a:alpha val="0"/>
                </a:srgbClr>
              </a:gs>
            </a:gsLst>
            <a:lin ang="16200000" scaled="1"/>
          </a:gradFill>
          <a:ln/>
        </p:spPr>
        <p:txBody>
          <a:bodyPr/>
          <a:lstStyle/>
          <a:p>
            <a:endParaRPr lang="en-US"/>
          </a:p>
        </p:txBody>
      </p:sp>
      <p:sp>
        <p:nvSpPr>
          <p:cNvPr id="19" name="Shape 16"/>
          <p:cNvSpPr/>
          <p:nvPr/>
        </p:nvSpPr>
        <p:spPr>
          <a:xfrm>
            <a:off x="7604760" y="4764881"/>
            <a:ext cx="3981450" cy="1485900"/>
          </a:xfrm>
          <a:custGeom>
            <a:avLst/>
            <a:gdLst/>
            <a:ahLst/>
            <a:cxnLst/>
            <a:rect l="l" t="t" r="r" b="b"/>
            <a:pathLst>
              <a:path w="3981450" h="1485900">
                <a:moveTo>
                  <a:pt x="38098" y="0"/>
                </a:moveTo>
                <a:lnTo>
                  <a:pt x="3943352" y="0"/>
                </a:lnTo>
                <a:cubicBezTo>
                  <a:pt x="3964393" y="0"/>
                  <a:pt x="3981450" y="17057"/>
                  <a:pt x="3981450" y="38098"/>
                </a:cubicBezTo>
                <a:lnTo>
                  <a:pt x="3981450" y="1447802"/>
                </a:lnTo>
                <a:cubicBezTo>
                  <a:pt x="3981450" y="1468843"/>
                  <a:pt x="3964393" y="1485900"/>
                  <a:pt x="3943352" y="1485900"/>
                </a:cubicBezTo>
                <a:lnTo>
                  <a:pt x="38098" y="1485900"/>
                </a:lnTo>
                <a:cubicBezTo>
                  <a:pt x="17057" y="1485900"/>
                  <a:pt x="0" y="1468843"/>
                  <a:pt x="0" y="1447802"/>
                </a:cubicBezTo>
                <a:lnTo>
                  <a:pt x="0" y="38098"/>
                </a:lnTo>
                <a:cubicBezTo>
                  <a:pt x="0" y="17071"/>
                  <a:pt x="17071" y="0"/>
                  <a:pt x="38098" y="0"/>
                </a:cubicBezTo>
                <a:close/>
              </a:path>
            </a:pathLst>
          </a:custGeom>
          <a:solidFill>
            <a:srgbClr val="4A9D9C"/>
          </a:solidFill>
          <a:ln/>
        </p:spPr>
        <p:txBody>
          <a:bodyPr/>
          <a:lstStyle/>
          <a:p>
            <a:endParaRPr lang="en-US"/>
          </a:p>
        </p:txBody>
      </p:sp>
      <p:sp>
        <p:nvSpPr>
          <p:cNvPr id="20" name="Shape 17"/>
          <p:cNvSpPr/>
          <p:nvPr/>
        </p:nvSpPr>
        <p:spPr>
          <a:xfrm>
            <a:off x="7792879" y="4955381"/>
            <a:ext cx="166688" cy="190500"/>
          </a:xfrm>
          <a:custGeom>
            <a:avLst/>
            <a:gdLst/>
            <a:ahLst/>
            <a:cxnLst/>
            <a:rect l="l" t="t" r="r" b="b"/>
            <a:pathLst>
              <a:path w="166688" h="190500">
                <a:moveTo>
                  <a:pt x="0" y="80367"/>
                </a:moveTo>
                <a:cubicBezTo>
                  <a:pt x="0" y="55699"/>
                  <a:pt x="19980" y="35719"/>
                  <a:pt x="44648" y="35719"/>
                </a:cubicBezTo>
                <a:lnTo>
                  <a:pt x="47625" y="35719"/>
                </a:lnTo>
                <a:cubicBezTo>
                  <a:pt x="54211" y="35719"/>
                  <a:pt x="59531" y="41039"/>
                  <a:pt x="59531" y="47625"/>
                </a:cubicBezTo>
                <a:cubicBezTo>
                  <a:pt x="59531" y="54211"/>
                  <a:pt x="54211" y="59531"/>
                  <a:pt x="47625" y="59531"/>
                </a:cubicBezTo>
                <a:lnTo>
                  <a:pt x="44648" y="59531"/>
                </a:lnTo>
                <a:cubicBezTo>
                  <a:pt x="33151" y="59531"/>
                  <a:pt x="23812" y="68870"/>
                  <a:pt x="23812" y="80367"/>
                </a:cubicBezTo>
                <a:lnTo>
                  <a:pt x="23812" y="83344"/>
                </a:lnTo>
                <a:lnTo>
                  <a:pt x="47625" y="83344"/>
                </a:lnTo>
                <a:cubicBezTo>
                  <a:pt x="60759" y="83344"/>
                  <a:pt x="71438" y="94022"/>
                  <a:pt x="71438" y="107156"/>
                </a:cubicBezTo>
                <a:lnTo>
                  <a:pt x="71438" y="130969"/>
                </a:lnTo>
                <a:cubicBezTo>
                  <a:pt x="71438" y="144103"/>
                  <a:pt x="60759" y="154781"/>
                  <a:pt x="47625" y="154781"/>
                </a:cubicBezTo>
                <a:lnTo>
                  <a:pt x="23812" y="154781"/>
                </a:lnTo>
                <a:cubicBezTo>
                  <a:pt x="10678" y="154781"/>
                  <a:pt x="0" y="144103"/>
                  <a:pt x="0" y="130969"/>
                </a:cubicBezTo>
                <a:lnTo>
                  <a:pt x="0" y="80367"/>
                </a:lnTo>
                <a:close/>
                <a:moveTo>
                  <a:pt x="95250" y="80367"/>
                </a:moveTo>
                <a:cubicBezTo>
                  <a:pt x="95250" y="55699"/>
                  <a:pt x="115230" y="35719"/>
                  <a:pt x="139898" y="35719"/>
                </a:cubicBezTo>
                <a:lnTo>
                  <a:pt x="142875" y="35719"/>
                </a:lnTo>
                <a:cubicBezTo>
                  <a:pt x="149461" y="35719"/>
                  <a:pt x="154781" y="41039"/>
                  <a:pt x="154781" y="47625"/>
                </a:cubicBezTo>
                <a:cubicBezTo>
                  <a:pt x="154781" y="54211"/>
                  <a:pt x="149461" y="59531"/>
                  <a:pt x="142875" y="59531"/>
                </a:cubicBezTo>
                <a:lnTo>
                  <a:pt x="139898" y="59531"/>
                </a:lnTo>
                <a:cubicBezTo>
                  <a:pt x="128401" y="59531"/>
                  <a:pt x="119063" y="68870"/>
                  <a:pt x="119063" y="80367"/>
                </a:cubicBezTo>
                <a:lnTo>
                  <a:pt x="119063" y="83344"/>
                </a:lnTo>
                <a:lnTo>
                  <a:pt x="142875" y="83344"/>
                </a:lnTo>
                <a:cubicBezTo>
                  <a:pt x="156009" y="83344"/>
                  <a:pt x="166688" y="94022"/>
                  <a:pt x="166688" y="107156"/>
                </a:cubicBezTo>
                <a:lnTo>
                  <a:pt x="166688" y="130969"/>
                </a:lnTo>
                <a:cubicBezTo>
                  <a:pt x="166688" y="144103"/>
                  <a:pt x="156009" y="154781"/>
                  <a:pt x="142875" y="154781"/>
                </a:cubicBezTo>
                <a:lnTo>
                  <a:pt x="119063" y="154781"/>
                </a:lnTo>
                <a:cubicBezTo>
                  <a:pt x="105928" y="154781"/>
                  <a:pt x="95250" y="144103"/>
                  <a:pt x="95250" y="130969"/>
                </a:cubicBezTo>
                <a:lnTo>
                  <a:pt x="95250" y="80367"/>
                </a:lnTo>
                <a:close/>
              </a:path>
            </a:pathLst>
          </a:custGeom>
          <a:solidFill>
            <a:srgbClr val="1A1D21"/>
          </a:solidFill>
          <a:ln/>
        </p:spPr>
        <p:txBody>
          <a:bodyPr/>
          <a:lstStyle/>
          <a:p>
            <a:endParaRPr lang="en-US"/>
          </a:p>
        </p:txBody>
      </p:sp>
      <p:sp>
        <p:nvSpPr>
          <p:cNvPr id="21" name="Text 18"/>
          <p:cNvSpPr/>
          <p:nvPr/>
        </p:nvSpPr>
        <p:spPr>
          <a:xfrm>
            <a:off x="8109585" y="4917281"/>
            <a:ext cx="1019175" cy="266700"/>
          </a:xfrm>
          <a:prstGeom prst="rect">
            <a:avLst/>
          </a:prstGeom>
          <a:noFill/>
          <a:ln/>
        </p:spPr>
        <p:txBody>
          <a:bodyPr wrap="square" lIns="0" tIns="0" rIns="0" bIns="0" rtlCol="0" anchor="ctr"/>
          <a:lstStyle/>
          <a:p>
            <a:pPr>
              <a:lnSpc>
                <a:spcPct val="120000"/>
              </a:lnSpc>
            </a:pPr>
            <a:r>
              <a:rPr lang="en-US" sz="1500" b="1" dirty="0">
                <a:solidFill>
                  <a:srgbClr val="1A1D21"/>
                </a:solidFill>
                <a:latin typeface="Liter" pitchFamily="34" charset="0"/>
                <a:ea typeface="Liter" pitchFamily="34" charset="-122"/>
                <a:cs typeface="Liter" pitchFamily="34" charset="-120"/>
              </a:rPr>
              <a:t>Key Insight</a:t>
            </a:r>
            <a:endParaRPr lang="en-US" sz="1600" dirty="0"/>
          </a:p>
        </p:txBody>
      </p:sp>
      <p:sp>
        <p:nvSpPr>
          <p:cNvPr id="22" name="Text 19"/>
          <p:cNvSpPr/>
          <p:nvPr/>
        </p:nvSpPr>
        <p:spPr>
          <a:xfrm>
            <a:off x="7757160" y="5260181"/>
            <a:ext cx="3762375" cy="838200"/>
          </a:xfrm>
          <a:prstGeom prst="rect">
            <a:avLst/>
          </a:prstGeom>
          <a:noFill/>
          <a:ln/>
        </p:spPr>
        <p:txBody>
          <a:bodyPr wrap="square" lIns="0" tIns="0" rIns="0" bIns="0" rtlCol="0" anchor="ctr"/>
          <a:lstStyle/>
          <a:p>
            <a:pPr>
              <a:lnSpc>
                <a:spcPct val="140000"/>
              </a:lnSpc>
            </a:pPr>
            <a:r>
              <a:rPr lang="en-US" sz="1350" dirty="0">
                <a:solidFill>
                  <a:srgbClr val="1A1D21"/>
                </a:solidFill>
                <a:latin typeface="Quattrocento Sans" pitchFamily="34" charset="0"/>
                <a:ea typeface="Quattrocento Sans" pitchFamily="34" charset="-122"/>
                <a:cs typeface="Quattrocento Sans" pitchFamily="34" charset="-120"/>
              </a:rPr>
              <a:t>"Data is much more than a collection of numbers. It's about telling the story of your company's growth."</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1857375"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Value Proposition</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Why Data Analytics Matters</a:t>
            </a:r>
            <a:endParaRPr lang="en-US" sz="1600" dirty="0"/>
          </a:p>
        </p:txBody>
      </p:sp>
      <p:sp>
        <p:nvSpPr>
          <p:cNvPr id="5" name="Shape 3"/>
          <p:cNvSpPr/>
          <p:nvPr/>
        </p:nvSpPr>
        <p:spPr>
          <a:xfrm>
            <a:off x="381000" y="1638300"/>
            <a:ext cx="5600700" cy="1695450"/>
          </a:xfrm>
          <a:custGeom>
            <a:avLst/>
            <a:gdLst/>
            <a:ahLst/>
            <a:cxnLst/>
            <a:rect l="l" t="t" r="r" b="b"/>
            <a:pathLst>
              <a:path w="5600700" h="1695450">
                <a:moveTo>
                  <a:pt x="38097" y="0"/>
                </a:moveTo>
                <a:lnTo>
                  <a:pt x="5562603" y="0"/>
                </a:lnTo>
                <a:cubicBezTo>
                  <a:pt x="5583643" y="0"/>
                  <a:pt x="5600700" y="17057"/>
                  <a:pt x="5600700" y="38097"/>
                </a:cubicBezTo>
                <a:lnTo>
                  <a:pt x="5600700" y="1657353"/>
                </a:lnTo>
                <a:cubicBezTo>
                  <a:pt x="5600700" y="1678393"/>
                  <a:pt x="5583643" y="1695450"/>
                  <a:pt x="5562603" y="1695450"/>
                </a:cubicBezTo>
                <a:lnTo>
                  <a:pt x="38097" y="1695450"/>
                </a:lnTo>
                <a:cubicBezTo>
                  <a:pt x="17057" y="1695450"/>
                  <a:pt x="0" y="1678393"/>
                  <a:pt x="0" y="1657353"/>
                </a:cubicBezTo>
                <a:lnTo>
                  <a:pt x="0" y="38097"/>
                </a:lnTo>
                <a:cubicBezTo>
                  <a:pt x="0" y="17057"/>
                  <a:pt x="17057" y="0"/>
                  <a:pt x="38097" y="0"/>
                </a:cubicBezTo>
                <a:close/>
              </a:path>
            </a:pathLst>
          </a:custGeom>
          <a:solidFill>
            <a:srgbClr val="3D4F5F"/>
          </a:solidFill>
          <a:ln/>
        </p:spPr>
        <p:txBody>
          <a:bodyPr/>
          <a:lstStyle/>
          <a:p>
            <a:endParaRPr lang="en-US"/>
          </a:p>
        </p:txBody>
      </p:sp>
      <p:sp>
        <p:nvSpPr>
          <p:cNvPr id="6" name="Shape 4"/>
          <p:cNvSpPr/>
          <p:nvPr/>
        </p:nvSpPr>
        <p:spPr>
          <a:xfrm>
            <a:off x="533400" y="179070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4A9D9C"/>
          </a:solidFill>
          <a:ln/>
        </p:spPr>
        <p:txBody>
          <a:bodyPr/>
          <a:lstStyle/>
          <a:p>
            <a:endParaRPr lang="en-US"/>
          </a:p>
        </p:txBody>
      </p:sp>
      <p:sp>
        <p:nvSpPr>
          <p:cNvPr id="7" name="Shape 5"/>
          <p:cNvSpPr/>
          <p:nvPr/>
        </p:nvSpPr>
        <p:spPr>
          <a:xfrm>
            <a:off x="685800" y="1943100"/>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1A1D21"/>
          </a:solidFill>
          <a:ln/>
        </p:spPr>
        <p:txBody>
          <a:bodyPr/>
          <a:lstStyle/>
          <a:p>
            <a:endParaRPr lang="en-US"/>
          </a:p>
        </p:txBody>
      </p:sp>
      <p:sp>
        <p:nvSpPr>
          <p:cNvPr id="8" name="Text 6"/>
          <p:cNvSpPr/>
          <p:nvPr/>
        </p:nvSpPr>
        <p:spPr>
          <a:xfrm>
            <a:off x="1219200" y="1905000"/>
            <a:ext cx="2114550"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Optimize Processes</a:t>
            </a:r>
            <a:endParaRPr lang="en-US" sz="1600" dirty="0"/>
          </a:p>
        </p:txBody>
      </p:sp>
      <p:sp>
        <p:nvSpPr>
          <p:cNvPr id="9" name="Text 7"/>
          <p:cNvSpPr/>
          <p:nvPr/>
        </p:nvSpPr>
        <p:spPr>
          <a:xfrm>
            <a:off x="533400" y="2438400"/>
            <a:ext cx="5372100" cy="7429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Having a firm grasp of your company's metrics helps </a:t>
            </a:r>
            <a:r>
              <a:rPr lang="en-US" sz="1200" b="1" dirty="0">
                <a:solidFill>
                  <a:srgbClr val="4A9D9C"/>
                </a:solidFill>
                <a:latin typeface="Quattrocento Sans" pitchFamily="34" charset="0"/>
                <a:ea typeface="Quattrocento Sans" pitchFamily="34" charset="-122"/>
                <a:cs typeface="Quattrocento Sans" pitchFamily="34" charset="-120"/>
              </a:rPr>
              <a:t>optimize procedures and strategies</a:t>
            </a:r>
            <a:r>
              <a:rPr lang="en-US" sz="1200" dirty="0">
                <a:solidFill>
                  <a:srgbClr val="E0E2E5"/>
                </a:solidFill>
                <a:latin typeface="Quattrocento Sans" pitchFamily="34" charset="0"/>
                <a:ea typeface="Quattrocento Sans" pitchFamily="34" charset="-122"/>
                <a:cs typeface="Quattrocento Sans" pitchFamily="34" charset="-120"/>
              </a:rPr>
              <a:t>, leading to greater return on investments and improved operational efficiency.</a:t>
            </a:r>
            <a:endParaRPr lang="en-US" sz="1600" dirty="0"/>
          </a:p>
        </p:txBody>
      </p:sp>
      <p:sp>
        <p:nvSpPr>
          <p:cNvPr id="10" name="Shape 8"/>
          <p:cNvSpPr/>
          <p:nvPr/>
        </p:nvSpPr>
        <p:spPr>
          <a:xfrm>
            <a:off x="381000" y="3486150"/>
            <a:ext cx="5600700" cy="1695450"/>
          </a:xfrm>
          <a:custGeom>
            <a:avLst/>
            <a:gdLst/>
            <a:ahLst/>
            <a:cxnLst/>
            <a:rect l="l" t="t" r="r" b="b"/>
            <a:pathLst>
              <a:path w="5600700" h="1695450">
                <a:moveTo>
                  <a:pt x="38097" y="0"/>
                </a:moveTo>
                <a:lnTo>
                  <a:pt x="5562603" y="0"/>
                </a:lnTo>
                <a:cubicBezTo>
                  <a:pt x="5583643" y="0"/>
                  <a:pt x="5600700" y="17057"/>
                  <a:pt x="5600700" y="38097"/>
                </a:cubicBezTo>
                <a:lnTo>
                  <a:pt x="5600700" y="1657353"/>
                </a:lnTo>
                <a:cubicBezTo>
                  <a:pt x="5600700" y="1678393"/>
                  <a:pt x="5583643" y="1695450"/>
                  <a:pt x="5562603" y="1695450"/>
                </a:cubicBezTo>
                <a:lnTo>
                  <a:pt x="38097" y="1695450"/>
                </a:lnTo>
                <a:cubicBezTo>
                  <a:pt x="17057" y="1695450"/>
                  <a:pt x="0" y="1678393"/>
                  <a:pt x="0" y="1657353"/>
                </a:cubicBezTo>
                <a:lnTo>
                  <a:pt x="0" y="38097"/>
                </a:lnTo>
                <a:cubicBezTo>
                  <a:pt x="0" y="17057"/>
                  <a:pt x="17057" y="0"/>
                  <a:pt x="38097" y="0"/>
                </a:cubicBezTo>
                <a:close/>
              </a:path>
            </a:pathLst>
          </a:custGeom>
          <a:solidFill>
            <a:srgbClr val="3D4F5F"/>
          </a:solidFill>
          <a:ln/>
        </p:spPr>
        <p:txBody>
          <a:bodyPr/>
          <a:lstStyle/>
          <a:p>
            <a:endParaRPr lang="en-US"/>
          </a:p>
        </p:txBody>
      </p:sp>
      <p:sp>
        <p:nvSpPr>
          <p:cNvPr id="11" name="Shape 9"/>
          <p:cNvSpPr/>
          <p:nvPr/>
        </p:nvSpPr>
        <p:spPr>
          <a:xfrm>
            <a:off x="533400" y="363855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4A9D9C"/>
          </a:solidFill>
          <a:ln/>
        </p:spPr>
        <p:txBody>
          <a:bodyPr/>
          <a:lstStyle/>
          <a:p>
            <a:endParaRPr lang="en-US"/>
          </a:p>
        </p:txBody>
      </p:sp>
      <p:sp>
        <p:nvSpPr>
          <p:cNvPr id="12" name="Shape 10"/>
          <p:cNvSpPr/>
          <p:nvPr/>
        </p:nvSpPr>
        <p:spPr>
          <a:xfrm>
            <a:off x="685800" y="3790950"/>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1A1D21"/>
          </a:solidFill>
          <a:ln/>
        </p:spPr>
        <p:txBody>
          <a:bodyPr/>
          <a:lstStyle/>
          <a:p>
            <a:endParaRPr lang="en-US"/>
          </a:p>
        </p:txBody>
      </p:sp>
      <p:sp>
        <p:nvSpPr>
          <p:cNvPr id="13" name="Text 11"/>
          <p:cNvSpPr/>
          <p:nvPr/>
        </p:nvSpPr>
        <p:spPr>
          <a:xfrm>
            <a:off x="1219200" y="3752850"/>
            <a:ext cx="1343025"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Reduce Risk</a:t>
            </a:r>
            <a:endParaRPr lang="en-US" sz="1600" dirty="0"/>
          </a:p>
        </p:txBody>
      </p:sp>
      <p:sp>
        <p:nvSpPr>
          <p:cNvPr id="14" name="Text 12"/>
          <p:cNvSpPr/>
          <p:nvPr/>
        </p:nvSpPr>
        <p:spPr>
          <a:xfrm>
            <a:off x="533400" y="4286250"/>
            <a:ext cx="5372100" cy="7429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Successful businesses take risks, but </a:t>
            </a:r>
            <a:r>
              <a:rPr lang="en-US" sz="1200" b="1" dirty="0">
                <a:solidFill>
                  <a:srgbClr val="4A9D9C"/>
                </a:solidFill>
                <a:latin typeface="Quattrocento Sans" pitchFamily="34" charset="0"/>
                <a:ea typeface="Quattrocento Sans" pitchFamily="34" charset="-122"/>
                <a:cs typeface="Quattrocento Sans" pitchFamily="34" charset="-120"/>
              </a:rPr>
              <a:t>data analytics lowers the dangers</a:t>
            </a:r>
            <a:r>
              <a:rPr lang="en-US" sz="1200" dirty="0">
                <a:solidFill>
                  <a:srgbClr val="E0E2E5"/>
                </a:solidFill>
                <a:latin typeface="Quattrocento Sans" pitchFamily="34" charset="0"/>
                <a:ea typeface="Quattrocento Sans" pitchFamily="34" charset="-122"/>
                <a:cs typeface="Quattrocento Sans" pitchFamily="34" charset="-120"/>
              </a:rPr>
              <a:t> of high-stakes decisions by allowing you to review carefully calculated outcomes before committing.</a:t>
            </a:r>
            <a:endParaRPr lang="en-US" sz="1600" dirty="0"/>
          </a:p>
        </p:txBody>
      </p:sp>
      <p:sp>
        <p:nvSpPr>
          <p:cNvPr id="15" name="Shape 13"/>
          <p:cNvSpPr/>
          <p:nvPr/>
        </p:nvSpPr>
        <p:spPr>
          <a:xfrm>
            <a:off x="381000" y="5334000"/>
            <a:ext cx="5600700" cy="1447800"/>
          </a:xfrm>
          <a:custGeom>
            <a:avLst/>
            <a:gdLst/>
            <a:ahLst/>
            <a:cxnLst/>
            <a:rect l="l" t="t" r="r" b="b"/>
            <a:pathLst>
              <a:path w="5600700" h="1447800">
                <a:moveTo>
                  <a:pt x="38106" y="0"/>
                </a:moveTo>
                <a:lnTo>
                  <a:pt x="5562594" y="0"/>
                </a:lnTo>
                <a:cubicBezTo>
                  <a:pt x="5583639" y="0"/>
                  <a:pt x="5600700" y="17061"/>
                  <a:pt x="5600700" y="38106"/>
                </a:cubicBezTo>
                <a:lnTo>
                  <a:pt x="5600700" y="1409694"/>
                </a:lnTo>
                <a:cubicBezTo>
                  <a:pt x="5600700" y="1430739"/>
                  <a:pt x="5583639" y="1447800"/>
                  <a:pt x="5562594" y="1447800"/>
                </a:cubicBezTo>
                <a:lnTo>
                  <a:pt x="38106" y="1447800"/>
                </a:lnTo>
                <a:cubicBezTo>
                  <a:pt x="17061" y="1447800"/>
                  <a:pt x="0" y="1430739"/>
                  <a:pt x="0" y="1409694"/>
                </a:cubicBezTo>
                <a:lnTo>
                  <a:pt x="0" y="38106"/>
                </a:lnTo>
                <a:cubicBezTo>
                  <a:pt x="0" y="17075"/>
                  <a:pt x="17075" y="0"/>
                  <a:pt x="38106" y="0"/>
                </a:cubicBezTo>
                <a:close/>
              </a:path>
            </a:pathLst>
          </a:custGeom>
          <a:solidFill>
            <a:srgbClr val="3D4F5F"/>
          </a:solidFill>
          <a:ln/>
        </p:spPr>
        <p:txBody>
          <a:bodyPr/>
          <a:lstStyle/>
          <a:p>
            <a:endParaRPr lang="en-US"/>
          </a:p>
        </p:txBody>
      </p:sp>
      <p:sp>
        <p:nvSpPr>
          <p:cNvPr id="16" name="Shape 14"/>
          <p:cNvSpPr/>
          <p:nvPr/>
        </p:nvSpPr>
        <p:spPr>
          <a:xfrm>
            <a:off x="533400" y="548640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4A9D9C"/>
          </a:solidFill>
          <a:ln/>
        </p:spPr>
        <p:txBody>
          <a:bodyPr/>
          <a:lstStyle/>
          <a:p>
            <a:endParaRPr lang="en-US"/>
          </a:p>
        </p:txBody>
      </p:sp>
      <p:sp>
        <p:nvSpPr>
          <p:cNvPr id="17" name="Shape 15"/>
          <p:cNvSpPr/>
          <p:nvPr/>
        </p:nvSpPr>
        <p:spPr>
          <a:xfrm>
            <a:off x="657225" y="5638800"/>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1A1D21"/>
          </a:solidFill>
          <a:ln/>
        </p:spPr>
        <p:txBody>
          <a:bodyPr/>
          <a:lstStyle/>
          <a:p>
            <a:endParaRPr lang="en-US"/>
          </a:p>
        </p:txBody>
      </p:sp>
      <p:sp>
        <p:nvSpPr>
          <p:cNvPr id="18" name="Text 16"/>
          <p:cNvSpPr/>
          <p:nvPr/>
        </p:nvSpPr>
        <p:spPr>
          <a:xfrm>
            <a:off x="1219200" y="5600700"/>
            <a:ext cx="2124075"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Customer Retention</a:t>
            </a:r>
            <a:endParaRPr lang="en-US" sz="1600" dirty="0"/>
          </a:p>
        </p:txBody>
      </p:sp>
      <p:sp>
        <p:nvSpPr>
          <p:cNvPr id="19" name="Text 17"/>
          <p:cNvSpPr/>
          <p:nvPr/>
        </p:nvSpPr>
        <p:spPr>
          <a:xfrm>
            <a:off x="533400" y="6134100"/>
            <a:ext cx="5372100" cy="49530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Analyzing </a:t>
            </a:r>
            <a:r>
              <a:rPr lang="en-US" sz="1200" b="1" dirty="0">
                <a:solidFill>
                  <a:srgbClr val="4A9D9C"/>
                </a:solidFill>
                <a:latin typeface="Quattrocento Sans" pitchFamily="34" charset="0"/>
                <a:ea typeface="Quattrocento Sans" pitchFamily="34" charset="-122"/>
                <a:cs typeface="Quattrocento Sans" pitchFamily="34" charset="-120"/>
              </a:rPr>
              <a:t>customer trends, patterns, and behaviors</a:t>
            </a:r>
            <a:r>
              <a:rPr lang="en-US" sz="1200" dirty="0">
                <a:solidFill>
                  <a:srgbClr val="E0E2E5"/>
                </a:solidFill>
                <a:latin typeface="Quattrocento Sans" pitchFamily="34" charset="0"/>
                <a:ea typeface="Quattrocento Sans" pitchFamily="34" charset="-122"/>
                <a:cs typeface="Quattrocento Sans" pitchFamily="34" charset="-120"/>
              </a:rPr>
              <a:t> helps your team better market to individuals, providing exactly what they need when they need it.</a:t>
            </a:r>
            <a:endParaRPr lang="en-US" sz="1600" dirty="0"/>
          </a:p>
        </p:txBody>
      </p:sp>
      <p:sp>
        <p:nvSpPr>
          <p:cNvPr id="20" name="Shape 18"/>
          <p:cNvSpPr/>
          <p:nvPr/>
        </p:nvSpPr>
        <p:spPr>
          <a:xfrm>
            <a:off x="6210300" y="1638300"/>
            <a:ext cx="5600700" cy="2362200"/>
          </a:xfrm>
          <a:custGeom>
            <a:avLst/>
            <a:gdLst/>
            <a:ahLst/>
            <a:cxnLst/>
            <a:rect l="l" t="t" r="r" b="b"/>
            <a:pathLst>
              <a:path w="5600700" h="2362200">
                <a:moveTo>
                  <a:pt x="38102" y="0"/>
                </a:moveTo>
                <a:lnTo>
                  <a:pt x="5562598" y="0"/>
                </a:lnTo>
                <a:cubicBezTo>
                  <a:pt x="5583627" y="0"/>
                  <a:pt x="5600700" y="17073"/>
                  <a:pt x="5600700" y="38102"/>
                </a:cubicBezTo>
                <a:lnTo>
                  <a:pt x="5600700" y="2324098"/>
                </a:lnTo>
                <a:cubicBezTo>
                  <a:pt x="5600700" y="2345141"/>
                  <a:pt x="5583641" y="2362200"/>
                  <a:pt x="5562598" y="2362200"/>
                </a:cubicBezTo>
                <a:lnTo>
                  <a:pt x="38102" y="2362200"/>
                </a:lnTo>
                <a:cubicBezTo>
                  <a:pt x="17073" y="2362200"/>
                  <a:pt x="0" y="2345127"/>
                  <a:pt x="0" y="2324098"/>
                </a:cubicBezTo>
                <a:lnTo>
                  <a:pt x="0" y="38102"/>
                </a:lnTo>
                <a:cubicBezTo>
                  <a:pt x="0" y="17073"/>
                  <a:pt x="17073" y="0"/>
                  <a:pt x="38102" y="0"/>
                </a:cubicBezTo>
                <a:close/>
              </a:path>
            </a:pathLst>
          </a:custGeom>
          <a:solidFill>
            <a:srgbClr val="3D4F5F"/>
          </a:solidFill>
          <a:ln/>
        </p:spPr>
        <p:txBody>
          <a:bodyPr/>
          <a:lstStyle/>
          <a:p>
            <a:endParaRPr lang="en-US"/>
          </a:p>
        </p:txBody>
      </p:sp>
      <p:sp>
        <p:nvSpPr>
          <p:cNvPr id="21" name="Text 19"/>
          <p:cNvSpPr/>
          <p:nvPr/>
        </p:nvSpPr>
        <p:spPr>
          <a:xfrm>
            <a:off x="6362700" y="1790700"/>
            <a:ext cx="5410200"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Key Benefits at a Glance</a:t>
            </a:r>
            <a:endParaRPr lang="en-US" sz="1600" dirty="0"/>
          </a:p>
        </p:txBody>
      </p:sp>
      <p:sp>
        <p:nvSpPr>
          <p:cNvPr id="22" name="Shape 20"/>
          <p:cNvSpPr/>
          <p:nvPr/>
        </p:nvSpPr>
        <p:spPr>
          <a:xfrm>
            <a:off x="6362700" y="2304931"/>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4A9D9C"/>
          </a:solidFill>
          <a:ln/>
        </p:spPr>
        <p:txBody>
          <a:bodyPr/>
          <a:lstStyle/>
          <a:p>
            <a:endParaRPr lang="en-US"/>
          </a:p>
        </p:txBody>
      </p:sp>
      <p:sp>
        <p:nvSpPr>
          <p:cNvPr id="23" name="Text 21"/>
          <p:cNvSpPr/>
          <p:nvPr/>
        </p:nvSpPr>
        <p:spPr>
          <a:xfrm>
            <a:off x="6553200" y="2209681"/>
            <a:ext cx="3276600"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Improved ROI through optimized strategies</a:t>
            </a:r>
            <a:endParaRPr lang="en-US" sz="1600" dirty="0"/>
          </a:p>
        </p:txBody>
      </p:sp>
      <p:sp>
        <p:nvSpPr>
          <p:cNvPr id="24" name="Shape 22"/>
          <p:cNvSpPr/>
          <p:nvPr/>
        </p:nvSpPr>
        <p:spPr>
          <a:xfrm>
            <a:off x="6362700" y="2647831"/>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4A9D9C"/>
          </a:solidFill>
          <a:ln/>
        </p:spPr>
        <p:txBody>
          <a:bodyPr/>
          <a:lstStyle/>
          <a:p>
            <a:endParaRPr lang="en-US"/>
          </a:p>
        </p:txBody>
      </p:sp>
      <p:sp>
        <p:nvSpPr>
          <p:cNvPr id="25" name="Text 23"/>
          <p:cNvSpPr/>
          <p:nvPr/>
        </p:nvSpPr>
        <p:spPr>
          <a:xfrm>
            <a:off x="6553200" y="2552581"/>
            <a:ext cx="2447925"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Enhanced operational efficiency</a:t>
            </a:r>
            <a:endParaRPr lang="en-US" sz="1600" dirty="0"/>
          </a:p>
        </p:txBody>
      </p:sp>
      <p:sp>
        <p:nvSpPr>
          <p:cNvPr id="26" name="Shape 24"/>
          <p:cNvSpPr/>
          <p:nvPr/>
        </p:nvSpPr>
        <p:spPr>
          <a:xfrm>
            <a:off x="6362700" y="2990731"/>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4A9D9C"/>
          </a:solidFill>
          <a:ln/>
        </p:spPr>
        <p:txBody>
          <a:bodyPr/>
          <a:lstStyle/>
          <a:p>
            <a:endParaRPr lang="en-US"/>
          </a:p>
        </p:txBody>
      </p:sp>
      <p:sp>
        <p:nvSpPr>
          <p:cNvPr id="27" name="Text 25"/>
          <p:cNvSpPr/>
          <p:nvPr/>
        </p:nvSpPr>
        <p:spPr>
          <a:xfrm>
            <a:off x="6553200" y="2895481"/>
            <a:ext cx="1971675"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Informed risk assessment</a:t>
            </a:r>
            <a:endParaRPr lang="en-US" sz="1600" dirty="0"/>
          </a:p>
        </p:txBody>
      </p:sp>
      <p:sp>
        <p:nvSpPr>
          <p:cNvPr id="28" name="Shape 26"/>
          <p:cNvSpPr/>
          <p:nvPr/>
        </p:nvSpPr>
        <p:spPr>
          <a:xfrm>
            <a:off x="6362700" y="3333631"/>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4A9D9C"/>
          </a:solidFill>
          <a:ln/>
        </p:spPr>
        <p:txBody>
          <a:bodyPr/>
          <a:lstStyle/>
          <a:p>
            <a:endParaRPr lang="en-US"/>
          </a:p>
        </p:txBody>
      </p:sp>
      <p:sp>
        <p:nvSpPr>
          <p:cNvPr id="29" name="Text 27"/>
          <p:cNvSpPr/>
          <p:nvPr/>
        </p:nvSpPr>
        <p:spPr>
          <a:xfrm>
            <a:off x="6553200" y="3238381"/>
            <a:ext cx="2371725"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Better customer understanding</a:t>
            </a:r>
            <a:endParaRPr lang="en-US" sz="1600" dirty="0"/>
          </a:p>
        </p:txBody>
      </p:sp>
      <p:sp>
        <p:nvSpPr>
          <p:cNvPr id="30" name="Shape 28"/>
          <p:cNvSpPr/>
          <p:nvPr/>
        </p:nvSpPr>
        <p:spPr>
          <a:xfrm>
            <a:off x="6362700" y="3676531"/>
            <a:ext cx="76200" cy="76200"/>
          </a:xfrm>
          <a:custGeom>
            <a:avLst/>
            <a:gdLst/>
            <a:ahLst/>
            <a:cxnLst/>
            <a:rect l="l" t="t" r="r" b="b"/>
            <a:pathLst>
              <a:path w="76200" h="76200">
                <a:moveTo>
                  <a:pt x="0" y="0"/>
                </a:moveTo>
                <a:lnTo>
                  <a:pt x="76200" y="0"/>
                </a:lnTo>
                <a:lnTo>
                  <a:pt x="76200" y="76200"/>
                </a:lnTo>
                <a:lnTo>
                  <a:pt x="0" y="76200"/>
                </a:lnTo>
                <a:lnTo>
                  <a:pt x="0" y="0"/>
                </a:lnTo>
                <a:close/>
              </a:path>
            </a:pathLst>
          </a:custGeom>
          <a:solidFill>
            <a:srgbClr val="4A9D9C"/>
          </a:solidFill>
          <a:ln/>
        </p:spPr>
        <p:txBody>
          <a:bodyPr/>
          <a:lstStyle/>
          <a:p>
            <a:endParaRPr lang="en-US"/>
          </a:p>
        </p:txBody>
      </p:sp>
      <p:sp>
        <p:nvSpPr>
          <p:cNvPr id="31" name="Text 29"/>
          <p:cNvSpPr/>
          <p:nvPr/>
        </p:nvSpPr>
        <p:spPr>
          <a:xfrm>
            <a:off x="6553200" y="3581281"/>
            <a:ext cx="2857500" cy="266700"/>
          </a:xfrm>
          <a:prstGeom prst="rect">
            <a:avLst/>
          </a:prstGeom>
          <a:noFill/>
          <a:ln/>
        </p:spPr>
        <p:txBody>
          <a:bodyPr wrap="square" lIns="0" tIns="0" rIns="0" bIns="0" rtlCol="0" anchor="ctr"/>
          <a:lstStyle/>
          <a:p>
            <a:pPr>
              <a:lnSpc>
                <a:spcPct val="130000"/>
              </a:lnSpc>
            </a:pPr>
            <a:r>
              <a:rPr lang="en-US" sz="1350" dirty="0">
                <a:solidFill>
                  <a:srgbClr val="E0E2E5"/>
                </a:solidFill>
                <a:latin typeface="Quattrocento Sans" pitchFamily="34" charset="0"/>
                <a:ea typeface="Quattrocento Sans" pitchFamily="34" charset="-122"/>
                <a:cs typeface="Quattrocento Sans" pitchFamily="34" charset="-120"/>
              </a:rPr>
              <a:t>Accurate predictions and conclusions</a:t>
            </a:r>
            <a:endParaRPr lang="en-US" sz="1600" dirty="0"/>
          </a:p>
        </p:txBody>
      </p:sp>
      <p:pic>
        <p:nvPicPr>
          <p:cNvPr id="32" name="Image 0" descr="https://kimi-web-img.moonshot.cn/img/static.vecteezy.com/33994c86b5b3dab78920941c9f9ae756affd6506.jpg"/>
          <p:cNvPicPr>
            <a:picLocks noChangeAspect="1"/>
          </p:cNvPicPr>
          <p:nvPr/>
        </p:nvPicPr>
        <p:blipFill>
          <a:blip r:embed="rId3"/>
          <a:srcRect t="10695" b="10695"/>
          <a:stretch/>
        </p:blipFill>
        <p:spPr>
          <a:xfrm>
            <a:off x="6210300" y="4152781"/>
            <a:ext cx="5600700" cy="2476500"/>
          </a:xfrm>
          <a:prstGeom prst="roundRect">
            <a:avLst>
              <a:gd name="adj" fmla="val 1538"/>
            </a:avLst>
          </a:prstGeom>
        </p:spPr>
      </p:pic>
      <p:sp>
        <p:nvSpPr>
          <p:cNvPr id="33" name="Shape 30"/>
          <p:cNvSpPr/>
          <p:nvPr/>
        </p:nvSpPr>
        <p:spPr>
          <a:xfrm>
            <a:off x="6210300" y="4152781"/>
            <a:ext cx="5600700" cy="2476500"/>
          </a:xfrm>
          <a:custGeom>
            <a:avLst/>
            <a:gdLst/>
            <a:ahLst/>
            <a:cxnLst/>
            <a:rect l="l" t="t" r="r" b="b"/>
            <a:pathLst>
              <a:path w="5600700" h="2476500">
                <a:moveTo>
                  <a:pt x="38089" y="0"/>
                </a:moveTo>
                <a:lnTo>
                  <a:pt x="5562611" y="0"/>
                </a:lnTo>
                <a:cubicBezTo>
                  <a:pt x="5583647" y="0"/>
                  <a:pt x="5600700" y="17053"/>
                  <a:pt x="5600700" y="38089"/>
                </a:cubicBezTo>
                <a:lnTo>
                  <a:pt x="5600700" y="2438411"/>
                </a:lnTo>
                <a:cubicBezTo>
                  <a:pt x="5600700" y="2459447"/>
                  <a:pt x="5583647" y="2476500"/>
                  <a:pt x="5562611" y="2476500"/>
                </a:cubicBezTo>
                <a:lnTo>
                  <a:pt x="38089" y="2476500"/>
                </a:lnTo>
                <a:cubicBezTo>
                  <a:pt x="17053" y="2476500"/>
                  <a:pt x="0" y="2459447"/>
                  <a:pt x="0" y="2438411"/>
                </a:cubicBezTo>
                <a:lnTo>
                  <a:pt x="0" y="38089"/>
                </a:lnTo>
                <a:cubicBezTo>
                  <a:pt x="0" y="17067"/>
                  <a:pt x="17067" y="0"/>
                  <a:pt x="38089" y="0"/>
                </a:cubicBezTo>
                <a:close/>
              </a:path>
            </a:pathLst>
          </a:custGeom>
          <a:gradFill flip="none" rotWithShape="1">
            <a:gsLst>
              <a:gs pos="0">
                <a:srgbClr val="1A1D21">
                  <a:alpha val="95000"/>
                </a:srgbClr>
              </a:gs>
              <a:gs pos="100000">
                <a:srgbClr val="000000">
                  <a:alpha val="0"/>
                </a:srgbClr>
              </a:gs>
            </a:gsLst>
            <a:lin ang="16200000" scaled="1"/>
          </a:gradFill>
          <a:ln/>
        </p:spPr>
        <p:txBody>
          <a:bodyPr/>
          <a:lstStyle/>
          <a:p>
            <a:endParaRPr 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1152525"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Workflow</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The Data Analytics Process</a:t>
            </a:r>
            <a:endParaRPr lang="en-US" sz="1600" dirty="0"/>
          </a:p>
        </p:txBody>
      </p:sp>
      <p:sp>
        <p:nvSpPr>
          <p:cNvPr id="5" name="Text 3"/>
          <p:cNvSpPr/>
          <p:nvPr/>
        </p:nvSpPr>
        <p:spPr>
          <a:xfrm>
            <a:off x="381000" y="1638300"/>
            <a:ext cx="11515725" cy="561975"/>
          </a:xfrm>
          <a:prstGeom prst="rect">
            <a:avLst/>
          </a:prstGeom>
          <a:noFill/>
          <a:ln/>
        </p:spPr>
        <p:txBody>
          <a:bodyPr wrap="square" lIns="26670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Data analytics is the </a:t>
            </a:r>
            <a:r>
              <a:rPr lang="en-US" sz="1350" b="1" dirty="0">
                <a:solidFill>
                  <a:srgbClr val="4A9D9C"/>
                </a:solidFill>
                <a:latin typeface="Quattrocento Sans" pitchFamily="34" charset="0"/>
                <a:ea typeface="Quattrocento Sans" pitchFamily="34" charset="-122"/>
                <a:cs typeface="Quattrocento Sans" pitchFamily="34" charset="-120"/>
              </a:rPr>
              <a:t>collection and processing of data</a:t>
            </a:r>
            <a:r>
              <a:rPr lang="en-US" sz="1350" dirty="0">
                <a:solidFill>
                  <a:srgbClr val="E0E2E5"/>
                </a:solidFill>
                <a:latin typeface="Quattrocento Sans" pitchFamily="34" charset="0"/>
                <a:ea typeface="Quattrocento Sans" pitchFamily="34" charset="-122"/>
                <a:cs typeface="Quattrocento Sans" pitchFamily="34" charset="-120"/>
              </a:rPr>
              <a:t> to gain insights and draw conclusions. Understanding what constitutes data is crucial - it includes numbers, text snippets, images, and videos.</a:t>
            </a:r>
            <a:endParaRPr lang="en-US" sz="1600" dirty="0"/>
          </a:p>
        </p:txBody>
      </p:sp>
      <p:sp>
        <p:nvSpPr>
          <p:cNvPr id="6" name="Shape 4"/>
          <p:cNvSpPr/>
          <p:nvPr/>
        </p:nvSpPr>
        <p:spPr>
          <a:xfrm>
            <a:off x="381000" y="2347913"/>
            <a:ext cx="2743200" cy="3714750"/>
          </a:xfrm>
          <a:custGeom>
            <a:avLst/>
            <a:gdLst/>
            <a:ahLst/>
            <a:cxnLst/>
            <a:rect l="l" t="t" r="r" b="b"/>
            <a:pathLst>
              <a:path w="2743200" h="3714750">
                <a:moveTo>
                  <a:pt x="38103" y="0"/>
                </a:moveTo>
                <a:lnTo>
                  <a:pt x="2705097" y="0"/>
                </a:lnTo>
                <a:cubicBezTo>
                  <a:pt x="2726141" y="0"/>
                  <a:pt x="2743200" y="17059"/>
                  <a:pt x="2743200" y="38103"/>
                </a:cubicBezTo>
                <a:lnTo>
                  <a:pt x="2743200" y="3676647"/>
                </a:lnTo>
                <a:cubicBezTo>
                  <a:pt x="2743200" y="3697691"/>
                  <a:pt x="2726141" y="3714750"/>
                  <a:pt x="2705097" y="3714750"/>
                </a:cubicBezTo>
                <a:lnTo>
                  <a:pt x="38103" y="3714750"/>
                </a:lnTo>
                <a:cubicBezTo>
                  <a:pt x="17059" y="3714750"/>
                  <a:pt x="0" y="3697691"/>
                  <a:pt x="0" y="3676647"/>
                </a:cubicBezTo>
                <a:lnTo>
                  <a:pt x="0" y="38103"/>
                </a:lnTo>
                <a:cubicBezTo>
                  <a:pt x="0" y="17073"/>
                  <a:pt x="17073" y="0"/>
                  <a:pt x="38103" y="0"/>
                </a:cubicBezTo>
                <a:close/>
              </a:path>
            </a:pathLst>
          </a:custGeom>
          <a:solidFill>
            <a:srgbClr val="3D4F5F"/>
          </a:solidFill>
          <a:ln/>
        </p:spPr>
        <p:txBody>
          <a:bodyPr/>
          <a:lstStyle/>
          <a:p>
            <a:endParaRPr lang="en-US"/>
          </a:p>
        </p:txBody>
      </p:sp>
      <p:sp>
        <p:nvSpPr>
          <p:cNvPr id="7" name="Shape 5"/>
          <p:cNvSpPr/>
          <p:nvPr/>
        </p:nvSpPr>
        <p:spPr>
          <a:xfrm>
            <a:off x="533400" y="250031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8" name="Text 6"/>
          <p:cNvSpPr/>
          <p:nvPr/>
        </p:nvSpPr>
        <p:spPr>
          <a:xfrm>
            <a:off x="647105" y="2576513"/>
            <a:ext cx="342900" cy="304800"/>
          </a:xfrm>
          <a:prstGeom prst="rect">
            <a:avLst/>
          </a:prstGeom>
          <a:noFill/>
          <a:ln/>
        </p:spPr>
        <p:txBody>
          <a:bodyPr wrap="square" lIns="0" tIns="0" rIns="0" bIns="0" rtlCol="0" anchor="ctr"/>
          <a:lstStyle/>
          <a:p>
            <a:pPr>
              <a:lnSpc>
                <a:spcPct val="110000"/>
              </a:lnSpc>
            </a:pPr>
            <a:r>
              <a:rPr lang="en-US" sz="1800" b="1" dirty="0">
                <a:solidFill>
                  <a:srgbClr val="1A1D21"/>
                </a:solidFill>
                <a:latin typeface="Hedvig Letters Sans" pitchFamily="34" charset="0"/>
                <a:ea typeface="Hedvig Letters Sans" pitchFamily="34" charset="-122"/>
                <a:cs typeface="Hedvig Letters Sans" pitchFamily="34" charset="-120"/>
              </a:rPr>
              <a:t>01</a:t>
            </a:r>
            <a:endParaRPr lang="en-US" sz="1600" dirty="0"/>
          </a:p>
        </p:txBody>
      </p:sp>
      <p:sp>
        <p:nvSpPr>
          <p:cNvPr id="9" name="Text 7"/>
          <p:cNvSpPr/>
          <p:nvPr/>
        </p:nvSpPr>
        <p:spPr>
          <a:xfrm>
            <a:off x="1104900" y="2595563"/>
            <a:ext cx="94297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Collection</a:t>
            </a:r>
            <a:endParaRPr lang="en-US" sz="1600" dirty="0"/>
          </a:p>
        </p:txBody>
      </p:sp>
      <p:sp>
        <p:nvSpPr>
          <p:cNvPr id="10" name="Text 8"/>
          <p:cNvSpPr/>
          <p:nvPr/>
        </p:nvSpPr>
        <p:spPr>
          <a:xfrm>
            <a:off x="533400" y="3071813"/>
            <a:ext cx="2514600" cy="24955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Gathering data from various sources including </a:t>
            </a:r>
            <a:r>
              <a:rPr lang="en-US" sz="1200" b="1" dirty="0">
                <a:solidFill>
                  <a:srgbClr val="4A9D9C"/>
                </a:solidFill>
                <a:latin typeface="Quattrocento Sans" pitchFamily="34" charset="0"/>
                <a:ea typeface="Quattrocento Sans" pitchFamily="34" charset="-122"/>
                <a:cs typeface="Quattrocento Sans" pitchFamily="34" charset="-120"/>
              </a:rPr>
              <a:t>spreadsheets, social media, and sensors</a:t>
            </a:r>
            <a:r>
              <a:rPr lang="en-US" sz="1200" dirty="0">
                <a:solidFill>
                  <a:srgbClr val="E0E2E5"/>
                </a:solidFill>
                <a:latin typeface="Quattrocento Sans" pitchFamily="34" charset="0"/>
                <a:ea typeface="Quattrocento Sans" pitchFamily="34" charset="-122"/>
                <a:cs typeface="Quattrocento Sans" pitchFamily="34" charset="-120"/>
              </a:rPr>
              <a:t>. If it's trackable, it can be counted as data.</a:t>
            </a:r>
            <a:endParaRPr lang="en-US" sz="1600" dirty="0"/>
          </a:p>
        </p:txBody>
      </p:sp>
      <p:sp>
        <p:nvSpPr>
          <p:cNvPr id="11" name="Shape 9"/>
          <p:cNvSpPr/>
          <p:nvPr/>
        </p:nvSpPr>
        <p:spPr>
          <a:xfrm>
            <a:off x="561975" y="5715000"/>
            <a:ext cx="133350" cy="152400"/>
          </a:xfrm>
          <a:custGeom>
            <a:avLst/>
            <a:gdLst/>
            <a:ahLst/>
            <a:cxnLst/>
            <a:rect l="l" t="t" r="r" b="b"/>
            <a:pathLst>
              <a:path w="133350" h="152400">
                <a:moveTo>
                  <a:pt x="76200" y="9525"/>
                </a:moveTo>
                <a:cubicBezTo>
                  <a:pt x="76200" y="4256"/>
                  <a:pt x="71944" y="0"/>
                  <a:pt x="66675" y="0"/>
                </a:cubicBezTo>
                <a:cubicBezTo>
                  <a:pt x="61406" y="0"/>
                  <a:pt x="57150" y="4256"/>
                  <a:pt x="57150" y="9525"/>
                </a:cubicBezTo>
                <a:lnTo>
                  <a:pt x="57150" y="72241"/>
                </a:lnTo>
                <a:lnTo>
                  <a:pt x="44827" y="59918"/>
                </a:lnTo>
                <a:cubicBezTo>
                  <a:pt x="41106" y="56197"/>
                  <a:pt x="35064" y="56197"/>
                  <a:pt x="31343" y="59918"/>
                </a:cubicBezTo>
                <a:cubicBezTo>
                  <a:pt x="27622" y="63639"/>
                  <a:pt x="27622" y="69681"/>
                  <a:pt x="31343" y="73402"/>
                </a:cubicBezTo>
                <a:lnTo>
                  <a:pt x="59918" y="101977"/>
                </a:lnTo>
                <a:cubicBezTo>
                  <a:pt x="63639" y="105698"/>
                  <a:pt x="69681" y="105698"/>
                  <a:pt x="73402" y="101977"/>
                </a:cubicBezTo>
                <a:lnTo>
                  <a:pt x="101977" y="73402"/>
                </a:lnTo>
                <a:cubicBezTo>
                  <a:pt x="105698" y="69681"/>
                  <a:pt x="105698" y="63639"/>
                  <a:pt x="101977" y="59918"/>
                </a:cubicBezTo>
                <a:cubicBezTo>
                  <a:pt x="98256" y="56197"/>
                  <a:pt x="92214" y="56197"/>
                  <a:pt x="88493" y="59918"/>
                </a:cubicBezTo>
                <a:lnTo>
                  <a:pt x="76200" y="72241"/>
                </a:lnTo>
                <a:lnTo>
                  <a:pt x="76200" y="9525"/>
                </a:lnTo>
                <a:close/>
                <a:moveTo>
                  <a:pt x="19050" y="95250"/>
                </a:moveTo>
                <a:cubicBezTo>
                  <a:pt x="8543" y="95250"/>
                  <a:pt x="0" y="103793"/>
                  <a:pt x="0" y="114300"/>
                </a:cubicBezTo>
                <a:lnTo>
                  <a:pt x="0" y="123825"/>
                </a:lnTo>
                <a:cubicBezTo>
                  <a:pt x="0" y="134332"/>
                  <a:pt x="8543" y="142875"/>
                  <a:pt x="19050" y="142875"/>
                </a:cubicBezTo>
                <a:lnTo>
                  <a:pt x="114300" y="142875"/>
                </a:lnTo>
                <a:cubicBezTo>
                  <a:pt x="124807" y="142875"/>
                  <a:pt x="133350" y="134332"/>
                  <a:pt x="133350" y="123825"/>
                </a:cubicBezTo>
                <a:lnTo>
                  <a:pt x="133350" y="114300"/>
                </a:lnTo>
                <a:cubicBezTo>
                  <a:pt x="133350" y="103793"/>
                  <a:pt x="124807" y="95250"/>
                  <a:pt x="114300" y="95250"/>
                </a:cubicBezTo>
                <a:lnTo>
                  <a:pt x="100340" y="95250"/>
                </a:lnTo>
                <a:lnTo>
                  <a:pt x="83493" y="112097"/>
                </a:lnTo>
                <a:cubicBezTo>
                  <a:pt x="74206" y="121384"/>
                  <a:pt x="59115" y="121384"/>
                  <a:pt x="49828" y="112097"/>
                </a:cubicBezTo>
                <a:lnTo>
                  <a:pt x="33010" y="95250"/>
                </a:lnTo>
                <a:lnTo>
                  <a:pt x="19050" y="95250"/>
                </a:lnTo>
                <a:close/>
                <a:moveTo>
                  <a:pt x="109537" y="111919"/>
                </a:moveTo>
                <a:cubicBezTo>
                  <a:pt x="113480" y="111919"/>
                  <a:pt x="116681" y="115120"/>
                  <a:pt x="116681" y="119062"/>
                </a:cubicBezTo>
                <a:cubicBezTo>
                  <a:pt x="116681" y="123005"/>
                  <a:pt x="113480" y="126206"/>
                  <a:pt x="109537" y="126206"/>
                </a:cubicBezTo>
                <a:cubicBezTo>
                  <a:pt x="105595" y="126206"/>
                  <a:pt x="102394" y="123005"/>
                  <a:pt x="102394" y="119062"/>
                </a:cubicBezTo>
                <a:cubicBezTo>
                  <a:pt x="102394" y="115120"/>
                  <a:pt x="105595" y="111919"/>
                  <a:pt x="109537" y="111919"/>
                </a:cubicBezTo>
                <a:close/>
              </a:path>
            </a:pathLst>
          </a:custGeom>
          <a:solidFill>
            <a:srgbClr val="4A9D9C"/>
          </a:solidFill>
          <a:ln/>
        </p:spPr>
        <p:txBody>
          <a:bodyPr/>
          <a:lstStyle/>
          <a:p>
            <a:endParaRPr lang="en-US"/>
          </a:p>
        </p:txBody>
      </p:sp>
      <p:sp>
        <p:nvSpPr>
          <p:cNvPr id="12" name="Text 10"/>
          <p:cNvSpPr/>
          <p:nvPr/>
        </p:nvSpPr>
        <p:spPr>
          <a:xfrm>
            <a:off x="800100" y="5676900"/>
            <a:ext cx="1171575"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Multiple Sources</a:t>
            </a:r>
            <a:endParaRPr lang="en-US" sz="1600" dirty="0"/>
          </a:p>
        </p:txBody>
      </p:sp>
      <p:sp>
        <p:nvSpPr>
          <p:cNvPr id="13" name="Shape 11"/>
          <p:cNvSpPr/>
          <p:nvPr/>
        </p:nvSpPr>
        <p:spPr>
          <a:xfrm>
            <a:off x="3276600" y="2347913"/>
            <a:ext cx="2743200" cy="3714750"/>
          </a:xfrm>
          <a:custGeom>
            <a:avLst/>
            <a:gdLst/>
            <a:ahLst/>
            <a:cxnLst/>
            <a:rect l="l" t="t" r="r" b="b"/>
            <a:pathLst>
              <a:path w="2743200" h="3714750">
                <a:moveTo>
                  <a:pt x="38103" y="0"/>
                </a:moveTo>
                <a:lnTo>
                  <a:pt x="2705097" y="0"/>
                </a:lnTo>
                <a:cubicBezTo>
                  <a:pt x="2726141" y="0"/>
                  <a:pt x="2743200" y="17059"/>
                  <a:pt x="2743200" y="38103"/>
                </a:cubicBezTo>
                <a:lnTo>
                  <a:pt x="2743200" y="3676647"/>
                </a:lnTo>
                <a:cubicBezTo>
                  <a:pt x="2743200" y="3697691"/>
                  <a:pt x="2726141" y="3714750"/>
                  <a:pt x="2705097" y="3714750"/>
                </a:cubicBezTo>
                <a:lnTo>
                  <a:pt x="38103" y="3714750"/>
                </a:lnTo>
                <a:cubicBezTo>
                  <a:pt x="17059" y="3714750"/>
                  <a:pt x="0" y="3697691"/>
                  <a:pt x="0" y="3676647"/>
                </a:cubicBezTo>
                <a:lnTo>
                  <a:pt x="0" y="38103"/>
                </a:lnTo>
                <a:cubicBezTo>
                  <a:pt x="0" y="17073"/>
                  <a:pt x="17073" y="0"/>
                  <a:pt x="38103" y="0"/>
                </a:cubicBezTo>
                <a:close/>
              </a:path>
            </a:pathLst>
          </a:custGeom>
          <a:solidFill>
            <a:srgbClr val="3D4F5F"/>
          </a:solidFill>
          <a:ln/>
        </p:spPr>
        <p:txBody>
          <a:bodyPr/>
          <a:lstStyle/>
          <a:p>
            <a:endParaRPr lang="en-US"/>
          </a:p>
        </p:txBody>
      </p:sp>
      <p:sp>
        <p:nvSpPr>
          <p:cNvPr id="14" name="Shape 12"/>
          <p:cNvSpPr/>
          <p:nvPr/>
        </p:nvSpPr>
        <p:spPr>
          <a:xfrm>
            <a:off x="3429000" y="250031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15" name="Text 13"/>
          <p:cNvSpPr/>
          <p:nvPr/>
        </p:nvSpPr>
        <p:spPr>
          <a:xfrm>
            <a:off x="3526274" y="2576513"/>
            <a:ext cx="381000" cy="304800"/>
          </a:xfrm>
          <a:prstGeom prst="rect">
            <a:avLst/>
          </a:prstGeom>
          <a:noFill/>
          <a:ln/>
        </p:spPr>
        <p:txBody>
          <a:bodyPr wrap="square" lIns="0" tIns="0" rIns="0" bIns="0" rtlCol="0" anchor="ctr"/>
          <a:lstStyle/>
          <a:p>
            <a:pPr>
              <a:lnSpc>
                <a:spcPct val="110000"/>
              </a:lnSpc>
            </a:pPr>
            <a:r>
              <a:rPr lang="en-US" sz="1800" b="1" dirty="0">
                <a:solidFill>
                  <a:srgbClr val="1A1D21"/>
                </a:solidFill>
                <a:latin typeface="Hedvig Letters Sans" pitchFamily="34" charset="0"/>
                <a:ea typeface="Hedvig Letters Sans" pitchFamily="34" charset="-122"/>
                <a:cs typeface="Hedvig Letters Sans" pitchFamily="34" charset="-120"/>
              </a:rPr>
              <a:t>02</a:t>
            </a:r>
            <a:endParaRPr lang="en-US" sz="1600" dirty="0"/>
          </a:p>
        </p:txBody>
      </p:sp>
      <p:sp>
        <p:nvSpPr>
          <p:cNvPr id="16" name="Text 14"/>
          <p:cNvSpPr/>
          <p:nvPr/>
        </p:nvSpPr>
        <p:spPr>
          <a:xfrm>
            <a:off x="4000500" y="2595563"/>
            <a:ext cx="9334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Cleansing</a:t>
            </a:r>
            <a:endParaRPr lang="en-US" sz="1600" dirty="0"/>
          </a:p>
        </p:txBody>
      </p:sp>
      <p:sp>
        <p:nvSpPr>
          <p:cNvPr id="17" name="Text 15"/>
          <p:cNvSpPr/>
          <p:nvPr/>
        </p:nvSpPr>
        <p:spPr>
          <a:xfrm>
            <a:off x="3429000" y="3071813"/>
            <a:ext cx="2514600" cy="24955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Reviewing raw data to ensure critical information is not missing. Includes </a:t>
            </a:r>
            <a:r>
              <a:rPr lang="en-US" sz="1200" b="1" dirty="0">
                <a:solidFill>
                  <a:srgbClr val="4A9D9C"/>
                </a:solidFill>
                <a:latin typeface="Quattrocento Sans" pitchFamily="34" charset="0"/>
                <a:ea typeface="Quattrocento Sans" pitchFamily="34" charset="-122"/>
                <a:cs typeface="Quattrocento Sans" pitchFamily="34" charset="-120"/>
              </a:rPr>
              <a:t>data normalization and transformation</a:t>
            </a:r>
            <a:r>
              <a:rPr lang="en-US" sz="1200" dirty="0">
                <a:solidFill>
                  <a:srgbClr val="E0E2E5"/>
                </a:solidFill>
                <a:latin typeface="Quattrocento Sans" pitchFamily="34" charset="0"/>
                <a:ea typeface="Quattrocento Sans" pitchFamily="34" charset="-122"/>
                <a:cs typeface="Quattrocento Sans" pitchFamily="34" charset="-120"/>
              </a:rPr>
              <a:t> into usable form.</a:t>
            </a:r>
            <a:endParaRPr lang="en-US" sz="1600" dirty="0"/>
          </a:p>
        </p:txBody>
      </p:sp>
      <p:sp>
        <p:nvSpPr>
          <p:cNvPr id="18" name="Shape 16"/>
          <p:cNvSpPr/>
          <p:nvPr/>
        </p:nvSpPr>
        <p:spPr>
          <a:xfrm>
            <a:off x="3438525" y="5715000"/>
            <a:ext cx="171450" cy="152400"/>
          </a:xfrm>
          <a:custGeom>
            <a:avLst/>
            <a:gdLst/>
            <a:ahLst/>
            <a:cxnLst/>
            <a:rect l="l" t="t" r="r" b="b"/>
            <a:pathLst>
              <a:path w="171450" h="152400">
                <a:moveTo>
                  <a:pt x="168652" y="16252"/>
                </a:moveTo>
                <a:cubicBezTo>
                  <a:pt x="172373" y="12531"/>
                  <a:pt x="172373" y="6489"/>
                  <a:pt x="168652" y="2768"/>
                </a:cubicBezTo>
                <a:cubicBezTo>
                  <a:pt x="164931" y="-952"/>
                  <a:pt x="158889" y="-952"/>
                  <a:pt x="155168" y="2768"/>
                </a:cubicBezTo>
                <a:lnTo>
                  <a:pt x="98018" y="59918"/>
                </a:lnTo>
                <a:lnTo>
                  <a:pt x="87690" y="49590"/>
                </a:lnTo>
                <a:cubicBezTo>
                  <a:pt x="86439" y="48339"/>
                  <a:pt x="84713" y="47625"/>
                  <a:pt x="82927" y="47625"/>
                </a:cubicBezTo>
                <a:cubicBezTo>
                  <a:pt x="79206" y="47625"/>
                  <a:pt x="76200" y="50631"/>
                  <a:pt x="76200" y="54352"/>
                </a:cubicBezTo>
                <a:lnTo>
                  <a:pt x="76200" y="63014"/>
                </a:lnTo>
                <a:lnTo>
                  <a:pt x="108436" y="95250"/>
                </a:lnTo>
                <a:lnTo>
                  <a:pt x="117098" y="95250"/>
                </a:lnTo>
                <a:cubicBezTo>
                  <a:pt x="120819" y="95250"/>
                  <a:pt x="123825" y="92244"/>
                  <a:pt x="123825" y="88523"/>
                </a:cubicBezTo>
                <a:cubicBezTo>
                  <a:pt x="123825" y="86737"/>
                  <a:pt x="123111" y="85011"/>
                  <a:pt x="121860" y="83760"/>
                </a:cubicBezTo>
                <a:lnTo>
                  <a:pt x="111532" y="73432"/>
                </a:lnTo>
                <a:lnTo>
                  <a:pt x="168682" y="16282"/>
                </a:lnTo>
                <a:close/>
                <a:moveTo>
                  <a:pt x="101531" y="105192"/>
                </a:moveTo>
                <a:lnTo>
                  <a:pt x="66258" y="69919"/>
                </a:lnTo>
                <a:cubicBezTo>
                  <a:pt x="53548" y="68818"/>
                  <a:pt x="40898" y="73402"/>
                  <a:pt x="31790" y="82510"/>
                </a:cubicBezTo>
                <a:lnTo>
                  <a:pt x="29408" y="84892"/>
                </a:lnTo>
                <a:cubicBezTo>
                  <a:pt x="22771" y="91529"/>
                  <a:pt x="19050" y="100519"/>
                  <a:pt x="19050" y="109895"/>
                </a:cubicBezTo>
                <a:cubicBezTo>
                  <a:pt x="19050" y="111919"/>
                  <a:pt x="21163" y="113228"/>
                  <a:pt x="22979" y="112335"/>
                </a:cubicBezTo>
                <a:lnTo>
                  <a:pt x="38189" y="104745"/>
                </a:lnTo>
                <a:cubicBezTo>
                  <a:pt x="39678" y="104001"/>
                  <a:pt x="41017" y="105966"/>
                  <a:pt x="39797" y="107097"/>
                </a:cubicBezTo>
                <a:lnTo>
                  <a:pt x="2173" y="140910"/>
                </a:lnTo>
                <a:cubicBezTo>
                  <a:pt x="804" y="142161"/>
                  <a:pt x="0" y="143947"/>
                  <a:pt x="0" y="145822"/>
                </a:cubicBezTo>
                <a:cubicBezTo>
                  <a:pt x="0" y="149453"/>
                  <a:pt x="2947" y="152400"/>
                  <a:pt x="6578" y="152400"/>
                </a:cubicBezTo>
                <a:lnTo>
                  <a:pt x="58162" y="152400"/>
                </a:lnTo>
                <a:cubicBezTo>
                  <a:pt x="69711" y="152400"/>
                  <a:pt x="80754" y="147816"/>
                  <a:pt x="88940" y="139660"/>
                </a:cubicBezTo>
                <a:cubicBezTo>
                  <a:pt x="98048" y="130552"/>
                  <a:pt x="102602" y="117902"/>
                  <a:pt x="101531" y="105192"/>
                </a:cubicBezTo>
                <a:close/>
              </a:path>
            </a:pathLst>
          </a:custGeom>
          <a:solidFill>
            <a:srgbClr val="4A9D9C"/>
          </a:solidFill>
          <a:ln/>
        </p:spPr>
        <p:txBody>
          <a:bodyPr/>
          <a:lstStyle/>
          <a:p>
            <a:endParaRPr lang="en-US"/>
          </a:p>
        </p:txBody>
      </p:sp>
      <p:sp>
        <p:nvSpPr>
          <p:cNvPr id="19" name="Text 17"/>
          <p:cNvSpPr/>
          <p:nvPr/>
        </p:nvSpPr>
        <p:spPr>
          <a:xfrm>
            <a:off x="3695700" y="5676900"/>
            <a:ext cx="1266825"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Quality Assurance</a:t>
            </a:r>
            <a:endParaRPr lang="en-US" sz="1600" dirty="0"/>
          </a:p>
        </p:txBody>
      </p:sp>
      <p:sp>
        <p:nvSpPr>
          <p:cNvPr id="20" name="Shape 18"/>
          <p:cNvSpPr/>
          <p:nvPr/>
        </p:nvSpPr>
        <p:spPr>
          <a:xfrm>
            <a:off x="6172200" y="2347913"/>
            <a:ext cx="2743200" cy="3714750"/>
          </a:xfrm>
          <a:custGeom>
            <a:avLst/>
            <a:gdLst/>
            <a:ahLst/>
            <a:cxnLst/>
            <a:rect l="l" t="t" r="r" b="b"/>
            <a:pathLst>
              <a:path w="2743200" h="3714750">
                <a:moveTo>
                  <a:pt x="38103" y="0"/>
                </a:moveTo>
                <a:lnTo>
                  <a:pt x="2705097" y="0"/>
                </a:lnTo>
                <a:cubicBezTo>
                  <a:pt x="2726141" y="0"/>
                  <a:pt x="2743200" y="17059"/>
                  <a:pt x="2743200" y="38103"/>
                </a:cubicBezTo>
                <a:lnTo>
                  <a:pt x="2743200" y="3676647"/>
                </a:lnTo>
                <a:cubicBezTo>
                  <a:pt x="2743200" y="3697691"/>
                  <a:pt x="2726141" y="3714750"/>
                  <a:pt x="2705097" y="3714750"/>
                </a:cubicBezTo>
                <a:lnTo>
                  <a:pt x="38103" y="3714750"/>
                </a:lnTo>
                <a:cubicBezTo>
                  <a:pt x="17059" y="3714750"/>
                  <a:pt x="0" y="3697691"/>
                  <a:pt x="0" y="3676647"/>
                </a:cubicBezTo>
                <a:lnTo>
                  <a:pt x="0" y="38103"/>
                </a:lnTo>
                <a:cubicBezTo>
                  <a:pt x="0" y="17073"/>
                  <a:pt x="17073" y="0"/>
                  <a:pt x="38103" y="0"/>
                </a:cubicBezTo>
                <a:close/>
              </a:path>
            </a:pathLst>
          </a:custGeom>
          <a:solidFill>
            <a:srgbClr val="3D4F5F"/>
          </a:solidFill>
          <a:ln/>
        </p:spPr>
        <p:txBody>
          <a:bodyPr/>
          <a:lstStyle/>
          <a:p>
            <a:endParaRPr lang="en-US"/>
          </a:p>
        </p:txBody>
      </p:sp>
      <p:sp>
        <p:nvSpPr>
          <p:cNvPr id="21" name="Shape 19"/>
          <p:cNvSpPr/>
          <p:nvPr/>
        </p:nvSpPr>
        <p:spPr>
          <a:xfrm>
            <a:off x="6324600" y="250031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22" name="Text 20"/>
          <p:cNvSpPr/>
          <p:nvPr/>
        </p:nvSpPr>
        <p:spPr>
          <a:xfrm>
            <a:off x="6418540" y="2576513"/>
            <a:ext cx="381000" cy="304800"/>
          </a:xfrm>
          <a:prstGeom prst="rect">
            <a:avLst/>
          </a:prstGeom>
          <a:noFill/>
          <a:ln/>
        </p:spPr>
        <p:txBody>
          <a:bodyPr wrap="square" lIns="0" tIns="0" rIns="0" bIns="0" rtlCol="0" anchor="ctr"/>
          <a:lstStyle/>
          <a:p>
            <a:pPr>
              <a:lnSpc>
                <a:spcPct val="110000"/>
              </a:lnSpc>
            </a:pPr>
            <a:r>
              <a:rPr lang="en-US" sz="1800" b="1" dirty="0">
                <a:solidFill>
                  <a:srgbClr val="1A1D21"/>
                </a:solidFill>
                <a:latin typeface="Hedvig Letters Sans" pitchFamily="34" charset="0"/>
                <a:ea typeface="Hedvig Letters Sans" pitchFamily="34" charset="-122"/>
                <a:cs typeface="Hedvig Letters Sans" pitchFamily="34" charset="-120"/>
              </a:rPr>
              <a:t>03</a:t>
            </a:r>
            <a:endParaRPr lang="en-US" sz="1600" dirty="0"/>
          </a:p>
        </p:txBody>
      </p:sp>
      <p:sp>
        <p:nvSpPr>
          <p:cNvPr id="23" name="Text 21"/>
          <p:cNvSpPr/>
          <p:nvPr/>
        </p:nvSpPr>
        <p:spPr>
          <a:xfrm>
            <a:off x="6896100" y="2595563"/>
            <a:ext cx="76200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Storage</a:t>
            </a:r>
            <a:endParaRPr lang="en-US" sz="1600" dirty="0"/>
          </a:p>
        </p:txBody>
      </p:sp>
      <p:sp>
        <p:nvSpPr>
          <p:cNvPr id="24" name="Text 22"/>
          <p:cNvSpPr/>
          <p:nvPr/>
        </p:nvSpPr>
        <p:spPr>
          <a:xfrm>
            <a:off x="6324600" y="3071813"/>
            <a:ext cx="2514600" cy="24955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Data resides in </a:t>
            </a:r>
            <a:r>
              <a:rPr lang="en-US" sz="1200" b="1" dirty="0">
                <a:solidFill>
                  <a:srgbClr val="4A9D9C"/>
                </a:solidFill>
                <a:latin typeface="Quattrocento Sans" pitchFamily="34" charset="0"/>
                <a:ea typeface="Quattrocento Sans" pitchFamily="34" charset="-122"/>
                <a:cs typeface="Quattrocento Sans" pitchFamily="34" charset="-120"/>
              </a:rPr>
              <a:t>hard drives or data warehouses</a:t>
            </a:r>
            <a:r>
              <a:rPr lang="en-US" sz="1200" dirty="0">
                <a:solidFill>
                  <a:srgbClr val="E0E2E5"/>
                </a:solidFill>
                <a:latin typeface="Quattrocento Sans" pitchFamily="34" charset="0"/>
                <a:ea typeface="Quattrocento Sans" pitchFamily="34" charset="-122"/>
                <a:cs typeface="Quattrocento Sans" pitchFamily="34" charset="-120"/>
              </a:rPr>
              <a:t>, often referred to as data silos, ensuring secure and organized access.</a:t>
            </a:r>
            <a:endParaRPr lang="en-US" sz="1600" dirty="0"/>
          </a:p>
        </p:txBody>
      </p:sp>
      <p:sp>
        <p:nvSpPr>
          <p:cNvPr id="25" name="Shape 23"/>
          <p:cNvSpPr/>
          <p:nvPr/>
        </p:nvSpPr>
        <p:spPr>
          <a:xfrm>
            <a:off x="6353175" y="5715000"/>
            <a:ext cx="133350" cy="152400"/>
          </a:xfrm>
          <a:custGeom>
            <a:avLst/>
            <a:gdLst/>
            <a:ahLst/>
            <a:cxnLst/>
            <a:rect l="l" t="t" r="r" b="b"/>
            <a:pathLst>
              <a:path w="133350" h="152400">
                <a:moveTo>
                  <a:pt x="19050" y="9525"/>
                </a:moveTo>
                <a:cubicBezTo>
                  <a:pt x="8543" y="9525"/>
                  <a:pt x="0" y="18068"/>
                  <a:pt x="0" y="28575"/>
                </a:cubicBezTo>
                <a:lnTo>
                  <a:pt x="0" y="47625"/>
                </a:lnTo>
                <a:cubicBezTo>
                  <a:pt x="0" y="58132"/>
                  <a:pt x="8543" y="66675"/>
                  <a:pt x="19050" y="66675"/>
                </a:cubicBezTo>
                <a:lnTo>
                  <a:pt x="114300" y="66675"/>
                </a:lnTo>
                <a:cubicBezTo>
                  <a:pt x="124807" y="66675"/>
                  <a:pt x="133350" y="58132"/>
                  <a:pt x="133350" y="47625"/>
                </a:cubicBezTo>
                <a:lnTo>
                  <a:pt x="133350" y="28575"/>
                </a:lnTo>
                <a:cubicBezTo>
                  <a:pt x="133350" y="18068"/>
                  <a:pt x="124807" y="9525"/>
                  <a:pt x="114300" y="9525"/>
                </a:cubicBezTo>
                <a:lnTo>
                  <a:pt x="19050" y="9525"/>
                </a:lnTo>
                <a:close/>
                <a:moveTo>
                  <a:pt x="83344" y="30956"/>
                </a:moveTo>
                <a:cubicBezTo>
                  <a:pt x="87286" y="30956"/>
                  <a:pt x="90488" y="34157"/>
                  <a:pt x="90488" y="38100"/>
                </a:cubicBezTo>
                <a:cubicBezTo>
                  <a:pt x="90488" y="42043"/>
                  <a:pt x="87286" y="45244"/>
                  <a:pt x="83344" y="45244"/>
                </a:cubicBezTo>
                <a:cubicBezTo>
                  <a:pt x="79401" y="45244"/>
                  <a:pt x="76200" y="42043"/>
                  <a:pt x="76200" y="38100"/>
                </a:cubicBezTo>
                <a:cubicBezTo>
                  <a:pt x="76200" y="34157"/>
                  <a:pt x="79401" y="30956"/>
                  <a:pt x="83344" y="30956"/>
                </a:cubicBezTo>
                <a:close/>
                <a:moveTo>
                  <a:pt x="100013" y="38100"/>
                </a:moveTo>
                <a:cubicBezTo>
                  <a:pt x="100013" y="34157"/>
                  <a:pt x="103214" y="30956"/>
                  <a:pt x="107156" y="30956"/>
                </a:cubicBezTo>
                <a:cubicBezTo>
                  <a:pt x="111099" y="30956"/>
                  <a:pt x="114300" y="34157"/>
                  <a:pt x="114300" y="38100"/>
                </a:cubicBezTo>
                <a:cubicBezTo>
                  <a:pt x="114300" y="42043"/>
                  <a:pt x="111099" y="45244"/>
                  <a:pt x="107156" y="45244"/>
                </a:cubicBezTo>
                <a:cubicBezTo>
                  <a:pt x="103214" y="45244"/>
                  <a:pt x="100013" y="42043"/>
                  <a:pt x="100013" y="38100"/>
                </a:cubicBezTo>
                <a:close/>
                <a:moveTo>
                  <a:pt x="19050" y="85725"/>
                </a:moveTo>
                <a:cubicBezTo>
                  <a:pt x="8543" y="85725"/>
                  <a:pt x="0" y="94268"/>
                  <a:pt x="0" y="104775"/>
                </a:cubicBezTo>
                <a:lnTo>
                  <a:pt x="0" y="123825"/>
                </a:lnTo>
                <a:cubicBezTo>
                  <a:pt x="0" y="134332"/>
                  <a:pt x="8543" y="142875"/>
                  <a:pt x="19050" y="142875"/>
                </a:cubicBezTo>
                <a:lnTo>
                  <a:pt x="114300" y="142875"/>
                </a:lnTo>
                <a:cubicBezTo>
                  <a:pt x="124807" y="142875"/>
                  <a:pt x="133350" y="134332"/>
                  <a:pt x="133350" y="123825"/>
                </a:cubicBezTo>
                <a:lnTo>
                  <a:pt x="133350" y="104775"/>
                </a:lnTo>
                <a:cubicBezTo>
                  <a:pt x="133350" y="94268"/>
                  <a:pt x="124807" y="85725"/>
                  <a:pt x="114300" y="85725"/>
                </a:cubicBezTo>
                <a:lnTo>
                  <a:pt x="19050" y="85725"/>
                </a:lnTo>
                <a:close/>
                <a:moveTo>
                  <a:pt x="83344" y="107156"/>
                </a:moveTo>
                <a:cubicBezTo>
                  <a:pt x="87286" y="107156"/>
                  <a:pt x="90488" y="110357"/>
                  <a:pt x="90488" y="114300"/>
                </a:cubicBezTo>
                <a:cubicBezTo>
                  <a:pt x="90488" y="118243"/>
                  <a:pt x="87286" y="121444"/>
                  <a:pt x="83344" y="121444"/>
                </a:cubicBezTo>
                <a:cubicBezTo>
                  <a:pt x="79401" y="121444"/>
                  <a:pt x="76200" y="118243"/>
                  <a:pt x="76200" y="114300"/>
                </a:cubicBezTo>
                <a:cubicBezTo>
                  <a:pt x="76200" y="110357"/>
                  <a:pt x="79401" y="107156"/>
                  <a:pt x="83344" y="107156"/>
                </a:cubicBezTo>
                <a:close/>
                <a:moveTo>
                  <a:pt x="100013" y="114300"/>
                </a:moveTo>
                <a:cubicBezTo>
                  <a:pt x="100013" y="110357"/>
                  <a:pt x="103214" y="107156"/>
                  <a:pt x="107156" y="107156"/>
                </a:cubicBezTo>
                <a:cubicBezTo>
                  <a:pt x="111099" y="107156"/>
                  <a:pt x="114300" y="110357"/>
                  <a:pt x="114300" y="114300"/>
                </a:cubicBezTo>
                <a:cubicBezTo>
                  <a:pt x="114300" y="118243"/>
                  <a:pt x="111099" y="121444"/>
                  <a:pt x="107156" y="121444"/>
                </a:cubicBezTo>
                <a:cubicBezTo>
                  <a:pt x="103214" y="121444"/>
                  <a:pt x="100013" y="118243"/>
                  <a:pt x="100013" y="114300"/>
                </a:cubicBezTo>
                <a:close/>
              </a:path>
            </a:pathLst>
          </a:custGeom>
          <a:solidFill>
            <a:srgbClr val="4A9D9C"/>
          </a:solidFill>
          <a:ln/>
        </p:spPr>
        <p:txBody>
          <a:bodyPr/>
          <a:lstStyle/>
          <a:p>
            <a:endParaRPr lang="en-US"/>
          </a:p>
        </p:txBody>
      </p:sp>
      <p:sp>
        <p:nvSpPr>
          <p:cNvPr id="26" name="Text 24"/>
          <p:cNvSpPr/>
          <p:nvPr/>
        </p:nvSpPr>
        <p:spPr>
          <a:xfrm>
            <a:off x="6591300" y="5676900"/>
            <a:ext cx="1409700"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Secure Warehouses</a:t>
            </a:r>
            <a:endParaRPr lang="en-US" sz="1600" dirty="0"/>
          </a:p>
        </p:txBody>
      </p:sp>
      <p:sp>
        <p:nvSpPr>
          <p:cNvPr id="27" name="Shape 25"/>
          <p:cNvSpPr/>
          <p:nvPr/>
        </p:nvSpPr>
        <p:spPr>
          <a:xfrm>
            <a:off x="9067800" y="2347913"/>
            <a:ext cx="2743200" cy="3714750"/>
          </a:xfrm>
          <a:custGeom>
            <a:avLst/>
            <a:gdLst/>
            <a:ahLst/>
            <a:cxnLst/>
            <a:rect l="l" t="t" r="r" b="b"/>
            <a:pathLst>
              <a:path w="2743200" h="3714750">
                <a:moveTo>
                  <a:pt x="38103" y="0"/>
                </a:moveTo>
                <a:lnTo>
                  <a:pt x="2705097" y="0"/>
                </a:lnTo>
                <a:cubicBezTo>
                  <a:pt x="2726141" y="0"/>
                  <a:pt x="2743200" y="17059"/>
                  <a:pt x="2743200" y="38103"/>
                </a:cubicBezTo>
                <a:lnTo>
                  <a:pt x="2743200" y="3676647"/>
                </a:lnTo>
                <a:cubicBezTo>
                  <a:pt x="2743200" y="3697691"/>
                  <a:pt x="2726141" y="3714750"/>
                  <a:pt x="2705097" y="3714750"/>
                </a:cubicBezTo>
                <a:lnTo>
                  <a:pt x="38103" y="3714750"/>
                </a:lnTo>
                <a:cubicBezTo>
                  <a:pt x="17059" y="3714750"/>
                  <a:pt x="0" y="3697691"/>
                  <a:pt x="0" y="3676647"/>
                </a:cubicBezTo>
                <a:lnTo>
                  <a:pt x="0" y="38103"/>
                </a:lnTo>
                <a:cubicBezTo>
                  <a:pt x="0" y="17073"/>
                  <a:pt x="17073" y="0"/>
                  <a:pt x="38103" y="0"/>
                </a:cubicBezTo>
                <a:close/>
              </a:path>
            </a:pathLst>
          </a:custGeom>
          <a:solidFill>
            <a:srgbClr val="3D4F5F"/>
          </a:solidFill>
          <a:ln/>
        </p:spPr>
        <p:txBody>
          <a:bodyPr/>
          <a:lstStyle/>
          <a:p>
            <a:endParaRPr lang="en-US"/>
          </a:p>
        </p:txBody>
      </p:sp>
      <p:sp>
        <p:nvSpPr>
          <p:cNvPr id="28" name="Shape 26"/>
          <p:cNvSpPr/>
          <p:nvPr/>
        </p:nvSpPr>
        <p:spPr>
          <a:xfrm>
            <a:off x="9220200" y="250031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29" name="Text 27"/>
          <p:cNvSpPr/>
          <p:nvPr/>
        </p:nvSpPr>
        <p:spPr>
          <a:xfrm>
            <a:off x="9311045" y="2576513"/>
            <a:ext cx="390525" cy="304800"/>
          </a:xfrm>
          <a:prstGeom prst="rect">
            <a:avLst/>
          </a:prstGeom>
          <a:noFill/>
          <a:ln/>
        </p:spPr>
        <p:txBody>
          <a:bodyPr wrap="square" lIns="0" tIns="0" rIns="0" bIns="0" rtlCol="0" anchor="ctr"/>
          <a:lstStyle/>
          <a:p>
            <a:pPr>
              <a:lnSpc>
                <a:spcPct val="110000"/>
              </a:lnSpc>
            </a:pPr>
            <a:r>
              <a:rPr lang="en-US" sz="1800" b="1" dirty="0">
                <a:solidFill>
                  <a:srgbClr val="1A1D21"/>
                </a:solidFill>
                <a:latin typeface="Hedvig Letters Sans" pitchFamily="34" charset="0"/>
                <a:ea typeface="Hedvig Letters Sans" pitchFamily="34" charset="-122"/>
                <a:cs typeface="Hedvig Letters Sans" pitchFamily="34" charset="-120"/>
              </a:rPr>
              <a:t>04</a:t>
            </a:r>
            <a:endParaRPr lang="en-US" sz="1600" dirty="0"/>
          </a:p>
        </p:txBody>
      </p:sp>
      <p:sp>
        <p:nvSpPr>
          <p:cNvPr id="30" name="Text 28"/>
          <p:cNvSpPr/>
          <p:nvPr/>
        </p:nvSpPr>
        <p:spPr>
          <a:xfrm>
            <a:off x="9791700" y="2595563"/>
            <a:ext cx="6191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Ethics</a:t>
            </a:r>
            <a:endParaRPr lang="en-US" sz="1600" dirty="0"/>
          </a:p>
        </p:txBody>
      </p:sp>
      <p:sp>
        <p:nvSpPr>
          <p:cNvPr id="31" name="Text 29"/>
          <p:cNvSpPr/>
          <p:nvPr/>
        </p:nvSpPr>
        <p:spPr>
          <a:xfrm>
            <a:off x="9220200" y="3071813"/>
            <a:ext cx="2514600" cy="24955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Ensuring </a:t>
            </a:r>
            <a:r>
              <a:rPr lang="en-US" sz="1200" b="1" dirty="0">
                <a:solidFill>
                  <a:srgbClr val="4A9D9C"/>
                </a:solidFill>
                <a:latin typeface="Quattrocento Sans" pitchFamily="34" charset="0"/>
                <a:ea typeface="Quattrocento Sans" pitchFamily="34" charset="-122"/>
                <a:cs typeface="Quattrocento Sans" pitchFamily="34" charset="-120"/>
              </a:rPr>
              <a:t>prior consent and GDPR/CCPA compliance</a:t>
            </a:r>
            <a:r>
              <a:rPr lang="en-US" sz="1200" dirty="0">
                <a:solidFill>
                  <a:srgbClr val="E0E2E5"/>
                </a:solidFill>
                <a:latin typeface="Quattrocento Sans" pitchFamily="34" charset="0"/>
                <a:ea typeface="Quattrocento Sans" pitchFamily="34" charset="-122"/>
                <a:cs typeface="Quattrocento Sans" pitchFamily="34" charset="-120"/>
              </a:rPr>
              <a:t>. Non-compliance can lead to serious legal consequences.</a:t>
            </a:r>
            <a:endParaRPr lang="en-US" sz="1600" dirty="0"/>
          </a:p>
        </p:txBody>
      </p:sp>
      <p:sp>
        <p:nvSpPr>
          <p:cNvPr id="32" name="Shape 30"/>
          <p:cNvSpPr/>
          <p:nvPr/>
        </p:nvSpPr>
        <p:spPr>
          <a:xfrm>
            <a:off x="9239250" y="5715000"/>
            <a:ext cx="152400" cy="152400"/>
          </a:xfrm>
          <a:custGeom>
            <a:avLst/>
            <a:gdLst/>
            <a:ahLst/>
            <a:cxnLst/>
            <a:rect l="l" t="t" r="r" b="b"/>
            <a:pathLst>
              <a:path w="152400" h="152400">
                <a:moveTo>
                  <a:pt x="76200" y="0"/>
                </a:moveTo>
                <a:cubicBezTo>
                  <a:pt x="77569" y="0"/>
                  <a:pt x="78938" y="298"/>
                  <a:pt x="80189" y="863"/>
                </a:cubicBezTo>
                <a:lnTo>
                  <a:pt x="136267" y="24646"/>
                </a:lnTo>
                <a:cubicBezTo>
                  <a:pt x="142815" y="27414"/>
                  <a:pt x="147697" y="33873"/>
                  <a:pt x="147667" y="41672"/>
                </a:cubicBezTo>
                <a:cubicBezTo>
                  <a:pt x="147518" y="71199"/>
                  <a:pt x="135374" y="125224"/>
                  <a:pt x="84088" y="149781"/>
                </a:cubicBezTo>
                <a:cubicBezTo>
                  <a:pt x="79117" y="152162"/>
                  <a:pt x="73343" y="152162"/>
                  <a:pt x="68372" y="149781"/>
                </a:cubicBezTo>
                <a:cubicBezTo>
                  <a:pt x="17056" y="125224"/>
                  <a:pt x="4941" y="71199"/>
                  <a:pt x="4792" y="41672"/>
                </a:cubicBezTo>
                <a:cubicBezTo>
                  <a:pt x="4762" y="33873"/>
                  <a:pt x="9644" y="27414"/>
                  <a:pt x="16192" y="24646"/>
                </a:cubicBezTo>
                <a:lnTo>
                  <a:pt x="72241" y="863"/>
                </a:lnTo>
                <a:cubicBezTo>
                  <a:pt x="73491" y="298"/>
                  <a:pt x="74831" y="0"/>
                  <a:pt x="76200" y="0"/>
                </a:cubicBezTo>
                <a:close/>
                <a:moveTo>
                  <a:pt x="76200" y="19883"/>
                </a:moveTo>
                <a:lnTo>
                  <a:pt x="76200" y="132427"/>
                </a:lnTo>
                <a:cubicBezTo>
                  <a:pt x="117277" y="112544"/>
                  <a:pt x="128320" y="68491"/>
                  <a:pt x="128588" y="42118"/>
                </a:cubicBezTo>
                <a:lnTo>
                  <a:pt x="76200" y="19913"/>
                </a:lnTo>
                <a:lnTo>
                  <a:pt x="76200" y="19913"/>
                </a:lnTo>
                <a:close/>
              </a:path>
            </a:pathLst>
          </a:custGeom>
          <a:solidFill>
            <a:srgbClr val="4A9D9C"/>
          </a:solidFill>
          <a:ln/>
        </p:spPr>
        <p:txBody>
          <a:bodyPr/>
          <a:lstStyle/>
          <a:p>
            <a:endParaRPr lang="en-US"/>
          </a:p>
        </p:txBody>
      </p:sp>
      <p:sp>
        <p:nvSpPr>
          <p:cNvPr id="33" name="Text 31"/>
          <p:cNvSpPr/>
          <p:nvPr/>
        </p:nvSpPr>
        <p:spPr>
          <a:xfrm>
            <a:off x="9486900" y="5676900"/>
            <a:ext cx="1238250"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Legal Compliance</a:t>
            </a:r>
            <a:endParaRPr lang="en-US" sz="1600" dirty="0"/>
          </a:p>
        </p:txBody>
      </p:sp>
      <p:sp>
        <p:nvSpPr>
          <p:cNvPr id="34" name="Shape 32"/>
          <p:cNvSpPr/>
          <p:nvPr/>
        </p:nvSpPr>
        <p:spPr>
          <a:xfrm>
            <a:off x="676275" y="6229350"/>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00013" y="71438"/>
                </a:moveTo>
                <a:cubicBezTo>
                  <a:pt x="100013" y="63552"/>
                  <a:pt x="106415" y="57150"/>
                  <a:pt x="114300" y="57150"/>
                </a:cubicBezTo>
                <a:cubicBezTo>
                  <a:pt x="122185" y="57150"/>
                  <a:pt x="128588" y="63552"/>
                  <a:pt x="128588" y="71438"/>
                </a:cubicBezTo>
                <a:cubicBezTo>
                  <a:pt x="128588" y="79323"/>
                  <a:pt x="122185" y="85725"/>
                  <a:pt x="114300" y="85725"/>
                </a:cubicBezTo>
                <a:cubicBezTo>
                  <a:pt x="106415" y="85725"/>
                  <a:pt x="100013" y="79323"/>
                  <a:pt x="100013" y="71438"/>
                </a:cubicBezTo>
                <a:close/>
                <a:moveTo>
                  <a:pt x="96441" y="100013"/>
                </a:moveTo>
                <a:lnTo>
                  <a:pt x="117872" y="100013"/>
                </a:lnTo>
                <a:cubicBezTo>
                  <a:pt x="123810" y="100013"/>
                  <a:pt x="128588" y="104790"/>
                  <a:pt x="128588" y="110728"/>
                </a:cubicBezTo>
                <a:lnTo>
                  <a:pt x="128588" y="150019"/>
                </a:lnTo>
                <a:lnTo>
                  <a:pt x="132159" y="150019"/>
                </a:lnTo>
                <a:cubicBezTo>
                  <a:pt x="138098" y="150019"/>
                  <a:pt x="142875" y="154796"/>
                  <a:pt x="142875" y="160734"/>
                </a:cubicBezTo>
                <a:cubicBezTo>
                  <a:pt x="142875" y="166673"/>
                  <a:pt x="138098" y="171450"/>
                  <a:pt x="132159" y="171450"/>
                </a:cubicBezTo>
                <a:lnTo>
                  <a:pt x="96441" y="171450"/>
                </a:lnTo>
                <a:cubicBezTo>
                  <a:pt x="90502" y="171450"/>
                  <a:pt x="85725" y="166673"/>
                  <a:pt x="85725" y="160734"/>
                </a:cubicBezTo>
                <a:cubicBezTo>
                  <a:pt x="85725" y="154796"/>
                  <a:pt x="90502" y="150019"/>
                  <a:pt x="96441" y="150019"/>
                </a:cubicBezTo>
                <a:lnTo>
                  <a:pt x="107156" y="150019"/>
                </a:lnTo>
                <a:lnTo>
                  <a:pt x="107156" y="121444"/>
                </a:lnTo>
                <a:lnTo>
                  <a:pt x="96441" y="121444"/>
                </a:lnTo>
                <a:cubicBezTo>
                  <a:pt x="90502" y="121444"/>
                  <a:pt x="85725" y="116666"/>
                  <a:pt x="85725" y="110728"/>
                </a:cubicBezTo>
                <a:cubicBezTo>
                  <a:pt x="85725" y="104790"/>
                  <a:pt x="90502" y="100013"/>
                  <a:pt x="96441" y="100013"/>
                </a:cubicBezTo>
                <a:close/>
              </a:path>
            </a:pathLst>
          </a:custGeom>
          <a:solidFill>
            <a:srgbClr val="4A9D9C"/>
          </a:solidFill>
          <a:ln/>
        </p:spPr>
        <p:txBody>
          <a:bodyPr/>
          <a:lstStyle/>
          <a:p>
            <a:endParaRPr lang="en-US"/>
          </a:p>
        </p:txBody>
      </p:sp>
      <p:sp>
        <p:nvSpPr>
          <p:cNvPr id="35" name="Text 33"/>
          <p:cNvSpPr/>
          <p:nvPr/>
        </p:nvSpPr>
        <p:spPr>
          <a:xfrm>
            <a:off x="1047750" y="6210300"/>
            <a:ext cx="5505450"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Remember:</a:t>
            </a:r>
            <a:r>
              <a:rPr lang="en-US" sz="1350" dirty="0">
                <a:solidFill>
                  <a:srgbClr val="E0E2E5"/>
                </a:solidFill>
                <a:latin typeface="Quattrocento Sans" pitchFamily="34" charset="0"/>
                <a:ea typeface="Quattrocento Sans" pitchFamily="34" charset="-122"/>
                <a:cs typeface="Quattrocento Sans" pitchFamily="34" charset="-120"/>
              </a:rPr>
              <a:t> Both quantitative metrics and qualitative insights are valuable</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2181225"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Essential Vocabulary</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Key Concepts &amp; Terminology</a:t>
            </a:r>
            <a:endParaRPr lang="en-US" sz="1600" dirty="0"/>
          </a:p>
        </p:txBody>
      </p:sp>
      <p:sp>
        <p:nvSpPr>
          <p:cNvPr id="5" name="Shape 3"/>
          <p:cNvSpPr/>
          <p:nvPr/>
        </p:nvSpPr>
        <p:spPr>
          <a:xfrm>
            <a:off x="381000" y="16383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6" name="Shape 4"/>
          <p:cNvSpPr/>
          <p:nvPr/>
        </p:nvSpPr>
        <p:spPr>
          <a:xfrm>
            <a:off x="557213" y="1838325"/>
            <a:ext cx="171450" cy="171450"/>
          </a:xfrm>
          <a:custGeom>
            <a:avLst/>
            <a:gdLst/>
            <a:ahLst/>
            <a:cxnLst/>
            <a:rect l="l" t="t" r="r" b="b"/>
            <a:pathLst>
              <a:path w="171450" h="171450">
                <a:moveTo>
                  <a:pt x="135218" y="11519"/>
                </a:moveTo>
                <a:cubicBezTo>
                  <a:pt x="139236" y="9845"/>
                  <a:pt x="143824" y="10783"/>
                  <a:pt x="146905" y="13830"/>
                </a:cubicBezTo>
                <a:lnTo>
                  <a:pt x="168336" y="35261"/>
                </a:lnTo>
                <a:cubicBezTo>
                  <a:pt x="170345" y="37270"/>
                  <a:pt x="171483" y="39983"/>
                  <a:pt x="171483" y="42829"/>
                </a:cubicBezTo>
                <a:cubicBezTo>
                  <a:pt x="171483" y="45675"/>
                  <a:pt x="170345" y="48388"/>
                  <a:pt x="168336" y="50397"/>
                </a:cubicBezTo>
                <a:lnTo>
                  <a:pt x="146905" y="71828"/>
                </a:lnTo>
                <a:cubicBezTo>
                  <a:pt x="143824" y="74909"/>
                  <a:pt x="139236" y="75813"/>
                  <a:pt x="135218" y="74139"/>
                </a:cubicBezTo>
                <a:cubicBezTo>
                  <a:pt x="131199" y="72464"/>
                  <a:pt x="128588" y="68613"/>
                  <a:pt x="128588" y="64294"/>
                </a:cubicBezTo>
                <a:lnTo>
                  <a:pt x="128588" y="53578"/>
                </a:lnTo>
                <a:lnTo>
                  <a:pt x="117872" y="53578"/>
                </a:lnTo>
                <a:cubicBezTo>
                  <a:pt x="114490" y="53578"/>
                  <a:pt x="111309" y="55152"/>
                  <a:pt x="109299" y="57864"/>
                </a:cubicBezTo>
                <a:lnTo>
                  <a:pt x="98450" y="72330"/>
                </a:lnTo>
                <a:lnTo>
                  <a:pt x="85055" y="54482"/>
                </a:lnTo>
                <a:lnTo>
                  <a:pt x="92154" y="45006"/>
                </a:lnTo>
                <a:cubicBezTo>
                  <a:pt x="98215" y="36902"/>
                  <a:pt x="107759" y="32147"/>
                  <a:pt x="117872" y="32147"/>
                </a:cubicBezTo>
                <a:lnTo>
                  <a:pt x="128588" y="32147"/>
                </a:lnTo>
                <a:lnTo>
                  <a:pt x="128588" y="21431"/>
                </a:lnTo>
                <a:cubicBezTo>
                  <a:pt x="128588" y="17112"/>
                  <a:pt x="131199" y="13194"/>
                  <a:pt x="135218" y="11519"/>
                </a:cubicBezTo>
                <a:close/>
                <a:moveTo>
                  <a:pt x="51569" y="99120"/>
                </a:moveTo>
                <a:lnTo>
                  <a:pt x="64963" y="116968"/>
                </a:lnTo>
                <a:lnTo>
                  <a:pt x="57864" y="126444"/>
                </a:lnTo>
                <a:cubicBezTo>
                  <a:pt x="51803" y="134548"/>
                  <a:pt x="42260" y="139303"/>
                  <a:pt x="32147" y="139303"/>
                </a:cubicBezTo>
                <a:lnTo>
                  <a:pt x="10716" y="139303"/>
                </a:lnTo>
                <a:cubicBezTo>
                  <a:pt x="4789" y="139303"/>
                  <a:pt x="0" y="134515"/>
                  <a:pt x="0" y="128588"/>
                </a:cubicBezTo>
                <a:cubicBezTo>
                  <a:pt x="0" y="122660"/>
                  <a:pt x="4789" y="117872"/>
                  <a:pt x="10716" y="117872"/>
                </a:cubicBezTo>
                <a:lnTo>
                  <a:pt x="32147" y="117872"/>
                </a:lnTo>
                <a:cubicBezTo>
                  <a:pt x="35529" y="117872"/>
                  <a:pt x="38710" y="116298"/>
                  <a:pt x="40719" y="113586"/>
                </a:cubicBezTo>
                <a:lnTo>
                  <a:pt x="51569" y="99120"/>
                </a:lnTo>
                <a:close/>
                <a:moveTo>
                  <a:pt x="146871" y="157587"/>
                </a:moveTo>
                <a:cubicBezTo>
                  <a:pt x="143790" y="160667"/>
                  <a:pt x="139203" y="161572"/>
                  <a:pt x="135184" y="159897"/>
                </a:cubicBezTo>
                <a:cubicBezTo>
                  <a:pt x="131166" y="158223"/>
                  <a:pt x="128588" y="154338"/>
                  <a:pt x="128588" y="150019"/>
                </a:cubicBezTo>
                <a:lnTo>
                  <a:pt x="128588" y="139303"/>
                </a:lnTo>
                <a:lnTo>
                  <a:pt x="117872" y="139303"/>
                </a:lnTo>
                <a:cubicBezTo>
                  <a:pt x="107759" y="139303"/>
                  <a:pt x="98215" y="134548"/>
                  <a:pt x="92154" y="126444"/>
                </a:cubicBezTo>
                <a:lnTo>
                  <a:pt x="40719" y="57864"/>
                </a:lnTo>
                <a:cubicBezTo>
                  <a:pt x="38710" y="55152"/>
                  <a:pt x="35529" y="53578"/>
                  <a:pt x="32147" y="53578"/>
                </a:cubicBezTo>
                <a:lnTo>
                  <a:pt x="10716" y="53578"/>
                </a:lnTo>
                <a:cubicBezTo>
                  <a:pt x="4789" y="53578"/>
                  <a:pt x="0" y="48790"/>
                  <a:pt x="0" y="42863"/>
                </a:cubicBezTo>
                <a:cubicBezTo>
                  <a:pt x="0" y="36935"/>
                  <a:pt x="4789" y="32147"/>
                  <a:pt x="10716" y="32147"/>
                </a:cubicBezTo>
                <a:lnTo>
                  <a:pt x="32147" y="32147"/>
                </a:lnTo>
                <a:cubicBezTo>
                  <a:pt x="42260" y="32147"/>
                  <a:pt x="51803" y="36902"/>
                  <a:pt x="57864" y="45006"/>
                </a:cubicBezTo>
                <a:lnTo>
                  <a:pt x="109299" y="113586"/>
                </a:lnTo>
                <a:cubicBezTo>
                  <a:pt x="111309" y="116298"/>
                  <a:pt x="114490" y="117872"/>
                  <a:pt x="117872" y="117872"/>
                </a:cubicBezTo>
                <a:lnTo>
                  <a:pt x="128588" y="117872"/>
                </a:lnTo>
                <a:lnTo>
                  <a:pt x="128588" y="107156"/>
                </a:lnTo>
                <a:cubicBezTo>
                  <a:pt x="128588" y="102837"/>
                  <a:pt x="131199" y="98919"/>
                  <a:pt x="135218" y="97244"/>
                </a:cubicBezTo>
                <a:cubicBezTo>
                  <a:pt x="139236" y="95570"/>
                  <a:pt x="143824" y="96508"/>
                  <a:pt x="146905" y="99555"/>
                </a:cubicBezTo>
                <a:lnTo>
                  <a:pt x="168336" y="120986"/>
                </a:lnTo>
                <a:cubicBezTo>
                  <a:pt x="170345" y="122995"/>
                  <a:pt x="171483" y="125708"/>
                  <a:pt x="171483" y="128554"/>
                </a:cubicBezTo>
                <a:cubicBezTo>
                  <a:pt x="171483" y="131400"/>
                  <a:pt x="170345" y="134113"/>
                  <a:pt x="168336" y="136122"/>
                </a:cubicBezTo>
                <a:lnTo>
                  <a:pt x="146905" y="157553"/>
                </a:lnTo>
                <a:close/>
              </a:path>
            </a:pathLst>
          </a:custGeom>
          <a:solidFill>
            <a:srgbClr val="4A9D9C"/>
          </a:solidFill>
          <a:ln/>
        </p:spPr>
        <p:txBody>
          <a:bodyPr/>
          <a:lstStyle/>
          <a:p>
            <a:endParaRPr lang="en-US"/>
          </a:p>
        </p:txBody>
      </p:sp>
      <p:sp>
        <p:nvSpPr>
          <p:cNvPr id="7" name="Text 5"/>
          <p:cNvSpPr/>
          <p:nvPr/>
        </p:nvSpPr>
        <p:spPr>
          <a:xfrm>
            <a:off x="823913" y="1790700"/>
            <a:ext cx="8858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Sampling</a:t>
            </a:r>
            <a:endParaRPr lang="en-US" sz="1600" dirty="0"/>
          </a:p>
        </p:txBody>
      </p:sp>
      <p:sp>
        <p:nvSpPr>
          <p:cNvPr id="8" name="Text 6"/>
          <p:cNvSpPr/>
          <p:nvPr/>
        </p:nvSpPr>
        <p:spPr>
          <a:xfrm>
            <a:off x="533400" y="2133600"/>
            <a:ext cx="2514600" cy="419100"/>
          </a:xfrm>
          <a:prstGeom prst="rect">
            <a:avLst/>
          </a:prstGeom>
          <a:noFill/>
          <a:ln/>
        </p:spPr>
        <p:txBody>
          <a:bodyPr wrap="square" lIns="0" tIns="0" rIns="0" bIns="0" rtlCol="0" anchor="ctr"/>
          <a:lstStyle/>
          <a:p>
            <a:pPr>
              <a:lnSpc>
                <a:spcPct val="110000"/>
              </a:lnSpc>
            </a:pPr>
            <a:r>
              <a:rPr lang="en-US" sz="1200" dirty="0">
                <a:solidFill>
                  <a:srgbClr val="E0E2E5"/>
                </a:solidFill>
                <a:latin typeface="Quattrocento Sans" pitchFamily="34" charset="0"/>
                <a:ea typeface="Quattrocento Sans" pitchFamily="34" charset="-122"/>
                <a:cs typeface="Quattrocento Sans" pitchFamily="34" charset="-120"/>
              </a:rPr>
              <a:t>Choosing a </a:t>
            </a:r>
            <a:r>
              <a:rPr lang="en-US" sz="1200" b="1" dirty="0">
                <a:solidFill>
                  <a:srgbClr val="4A9D9C"/>
                </a:solidFill>
                <a:latin typeface="Quattrocento Sans" pitchFamily="34" charset="0"/>
                <a:ea typeface="Quattrocento Sans" pitchFamily="34" charset="-122"/>
                <a:cs typeface="Quattrocento Sans" pitchFamily="34" charset="-120"/>
              </a:rPr>
              <a:t>subset of data</a:t>
            </a:r>
            <a:r>
              <a:rPr lang="en-US" sz="1200" dirty="0">
                <a:solidFill>
                  <a:srgbClr val="E0E2E5"/>
                </a:solidFill>
                <a:latin typeface="Quattrocento Sans" pitchFamily="34" charset="0"/>
                <a:ea typeface="Quattrocento Sans" pitchFamily="34" charset="-122"/>
                <a:cs typeface="Quattrocento Sans" pitchFamily="34" charset="-120"/>
              </a:rPr>
              <a:t> from large datasets for analysis.</a:t>
            </a:r>
            <a:endParaRPr lang="en-US" sz="1600" dirty="0"/>
          </a:p>
        </p:txBody>
      </p:sp>
      <p:sp>
        <p:nvSpPr>
          <p:cNvPr id="9" name="Shape 7"/>
          <p:cNvSpPr/>
          <p:nvPr/>
        </p:nvSpPr>
        <p:spPr>
          <a:xfrm>
            <a:off x="3276600" y="16383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10" name="Shape 8"/>
          <p:cNvSpPr/>
          <p:nvPr/>
        </p:nvSpPr>
        <p:spPr>
          <a:xfrm>
            <a:off x="3452813" y="1838325"/>
            <a:ext cx="171450" cy="171450"/>
          </a:xfrm>
          <a:custGeom>
            <a:avLst/>
            <a:gdLst/>
            <a:ahLst/>
            <a:cxnLst/>
            <a:rect l="l" t="t" r="r" b="b"/>
            <a:pathLst>
              <a:path w="171450" h="171450">
                <a:moveTo>
                  <a:pt x="10716" y="21431"/>
                </a:moveTo>
                <a:cubicBezTo>
                  <a:pt x="6396" y="21431"/>
                  <a:pt x="2478" y="24043"/>
                  <a:pt x="804" y="28062"/>
                </a:cubicBezTo>
                <a:cubicBezTo>
                  <a:pt x="-871" y="32080"/>
                  <a:pt x="67" y="36668"/>
                  <a:pt x="3148" y="39715"/>
                </a:cubicBezTo>
                <a:lnTo>
                  <a:pt x="64294" y="100894"/>
                </a:lnTo>
                <a:lnTo>
                  <a:pt x="64294" y="139303"/>
                </a:lnTo>
                <a:cubicBezTo>
                  <a:pt x="64294" y="142149"/>
                  <a:pt x="65432" y="144862"/>
                  <a:pt x="67441" y="146871"/>
                </a:cubicBezTo>
                <a:lnTo>
                  <a:pt x="88873" y="168302"/>
                </a:lnTo>
                <a:cubicBezTo>
                  <a:pt x="91953" y="171383"/>
                  <a:pt x="96541" y="172287"/>
                  <a:pt x="100559" y="170613"/>
                </a:cubicBezTo>
                <a:cubicBezTo>
                  <a:pt x="104578" y="168939"/>
                  <a:pt x="107156" y="165054"/>
                  <a:pt x="107156" y="160734"/>
                </a:cubicBezTo>
                <a:lnTo>
                  <a:pt x="107156" y="100894"/>
                </a:lnTo>
                <a:lnTo>
                  <a:pt x="168302" y="39748"/>
                </a:lnTo>
                <a:cubicBezTo>
                  <a:pt x="171383" y="36668"/>
                  <a:pt x="172287" y="32080"/>
                  <a:pt x="170613" y="28062"/>
                </a:cubicBezTo>
                <a:cubicBezTo>
                  <a:pt x="168939" y="24043"/>
                  <a:pt x="165054" y="21431"/>
                  <a:pt x="160734" y="21431"/>
                </a:cubicBezTo>
                <a:lnTo>
                  <a:pt x="10716" y="21431"/>
                </a:lnTo>
                <a:close/>
              </a:path>
            </a:pathLst>
          </a:custGeom>
          <a:solidFill>
            <a:srgbClr val="4A9D9C"/>
          </a:solidFill>
          <a:ln/>
        </p:spPr>
        <p:txBody>
          <a:bodyPr/>
          <a:lstStyle/>
          <a:p>
            <a:endParaRPr lang="en-US"/>
          </a:p>
        </p:txBody>
      </p:sp>
      <p:sp>
        <p:nvSpPr>
          <p:cNvPr id="11" name="Text 9"/>
          <p:cNvSpPr/>
          <p:nvPr/>
        </p:nvSpPr>
        <p:spPr>
          <a:xfrm>
            <a:off x="3719512" y="1790700"/>
            <a:ext cx="12382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Classification</a:t>
            </a:r>
            <a:endParaRPr lang="en-US" sz="1600" dirty="0"/>
          </a:p>
        </p:txBody>
      </p:sp>
      <p:sp>
        <p:nvSpPr>
          <p:cNvPr id="12" name="Text 10"/>
          <p:cNvSpPr/>
          <p:nvPr/>
        </p:nvSpPr>
        <p:spPr>
          <a:xfrm>
            <a:off x="3429000" y="2133600"/>
            <a:ext cx="2514600" cy="419100"/>
          </a:xfrm>
          <a:prstGeom prst="rect">
            <a:avLst/>
          </a:prstGeom>
          <a:noFill/>
          <a:ln/>
        </p:spPr>
        <p:txBody>
          <a:bodyPr wrap="square" lIns="0" tIns="0" rIns="0" bIns="0" rtlCol="0" anchor="ctr"/>
          <a:lstStyle/>
          <a:p>
            <a:pPr>
              <a:lnSpc>
                <a:spcPct val="110000"/>
              </a:lnSpc>
            </a:pPr>
            <a:r>
              <a:rPr lang="en-US" sz="1200" dirty="0">
                <a:solidFill>
                  <a:srgbClr val="E0E2E5"/>
                </a:solidFill>
                <a:latin typeface="Quattrocento Sans" pitchFamily="34" charset="0"/>
                <a:ea typeface="Quattrocento Sans" pitchFamily="34" charset="-122"/>
                <a:cs typeface="Quattrocento Sans" pitchFamily="34" charset="-120"/>
              </a:rPr>
              <a:t>Setting </a:t>
            </a:r>
            <a:r>
              <a:rPr lang="en-US" sz="1200" b="1" dirty="0">
                <a:solidFill>
                  <a:srgbClr val="4A9D9C"/>
                </a:solidFill>
                <a:latin typeface="Quattrocento Sans" pitchFamily="34" charset="0"/>
                <a:ea typeface="Quattrocento Sans" pitchFamily="34" charset="-122"/>
                <a:cs typeface="Quattrocento Sans" pitchFamily="34" charset="-120"/>
              </a:rPr>
              <a:t>parameters for data</a:t>
            </a:r>
            <a:r>
              <a:rPr lang="en-US" sz="1200" dirty="0">
                <a:solidFill>
                  <a:srgbClr val="E0E2E5"/>
                </a:solidFill>
                <a:latin typeface="Quattrocento Sans" pitchFamily="34" charset="0"/>
                <a:ea typeface="Quattrocento Sans" pitchFamily="34" charset="-122"/>
                <a:cs typeface="Quattrocento Sans" pitchFamily="34" charset="-120"/>
              </a:rPr>
              <a:t>, like spam filters for email.</a:t>
            </a:r>
            <a:endParaRPr lang="en-US" sz="1600" dirty="0"/>
          </a:p>
        </p:txBody>
      </p:sp>
      <p:sp>
        <p:nvSpPr>
          <p:cNvPr id="13" name="Shape 11"/>
          <p:cNvSpPr/>
          <p:nvPr/>
        </p:nvSpPr>
        <p:spPr>
          <a:xfrm>
            <a:off x="6172200" y="16383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14" name="Shape 12"/>
          <p:cNvSpPr/>
          <p:nvPr/>
        </p:nvSpPr>
        <p:spPr>
          <a:xfrm>
            <a:off x="6348413" y="1838325"/>
            <a:ext cx="171450" cy="171450"/>
          </a:xfrm>
          <a:custGeom>
            <a:avLst/>
            <a:gdLst/>
            <a:ahLst/>
            <a:cxnLst/>
            <a:rect l="l" t="t" r="r" b="b"/>
            <a:pathLst>
              <a:path w="171450" h="171450">
                <a:moveTo>
                  <a:pt x="0" y="26789"/>
                </a:moveTo>
                <a:cubicBezTo>
                  <a:pt x="0" y="17915"/>
                  <a:pt x="7200" y="10716"/>
                  <a:pt x="16073" y="10716"/>
                </a:cubicBezTo>
                <a:lnTo>
                  <a:pt x="48220" y="10716"/>
                </a:lnTo>
                <a:cubicBezTo>
                  <a:pt x="57094" y="10716"/>
                  <a:pt x="64294" y="17915"/>
                  <a:pt x="64294" y="26789"/>
                </a:cubicBezTo>
                <a:lnTo>
                  <a:pt x="64294" y="32147"/>
                </a:lnTo>
                <a:lnTo>
                  <a:pt x="107156" y="32147"/>
                </a:lnTo>
                <a:lnTo>
                  <a:pt x="107156" y="26789"/>
                </a:lnTo>
                <a:cubicBezTo>
                  <a:pt x="107156" y="17915"/>
                  <a:pt x="114356" y="10716"/>
                  <a:pt x="123230" y="10716"/>
                </a:cubicBezTo>
                <a:lnTo>
                  <a:pt x="155377" y="10716"/>
                </a:lnTo>
                <a:cubicBezTo>
                  <a:pt x="164250" y="10716"/>
                  <a:pt x="171450" y="17915"/>
                  <a:pt x="171450" y="26789"/>
                </a:cubicBezTo>
                <a:lnTo>
                  <a:pt x="171450" y="58936"/>
                </a:lnTo>
                <a:cubicBezTo>
                  <a:pt x="171450" y="67810"/>
                  <a:pt x="164250" y="75009"/>
                  <a:pt x="155377" y="75009"/>
                </a:cubicBezTo>
                <a:lnTo>
                  <a:pt x="123230" y="75009"/>
                </a:lnTo>
                <a:cubicBezTo>
                  <a:pt x="114356" y="75009"/>
                  <a:pt x="107156" y="67810"/>
                  <a:pt x="107156" y="58936"/>
                </a:cubicBezTo>
                <a:lnTo>
                  <a:pt x="107156" y="53578"/>
                </a:lnTo>
                <a:lnTo>
                  <a:pt x="64294" y="53578"/>
                </a:lnTo>
                <a:lnTo>
                  <a:pt x="64294" y="58936"/>
                </a:lnTo>
                <a:cubicBezTo>
                  <a:pt x="64294" y="61380"/>
                  <a:pt x="63724" y="63724"/>
                  <a:pt x="62753" y="65801"/>
                </a:cubicBezTo>
                <a:lnTo>
                  <a:pt x="85725" y="96441"/>
                </a:lnTo>
                <a:lnTo>
                  <a:pt x="112514" y="96441"/>
                </a:lnTo>
                <a:cubicBezTo>
                  <a:pt x="121388" y="96441"/>
                  <a:pt x="128588" y="103640"/>
                  <a:pt x="128588" y="112514"/>
                </a:cubicBezTo>
                <a:lnTo>
                  <a:pt x="128588" y="144661"/>
                </a:lnTo>
                <a:cubicBezTo>
                  <a:pt x="128588" y="153535"/>
                  <a:pt x="121388" y="160734"/>
                  <a:pt x="112514" y="160734"/>
                </a:cubicBezTo>
                <a:lnTo>
                  <a:pt x="80367" y="160734"/>
                </a:lnTo>
                <a:cubicBezTo>
                  <a:pt x="71493" y="160734"/>
                  <a:pt x="64294" y="153535"/>
                  <a:pt x="64294" y="144661"/>
                </a:cubicBezTo>
                <a:lnTo>
                  <a:pt x="64294" y="112514"/>
                </a:lnTo>
                <a:cubicBezTo>
                  <a:pt x="64294" y="110070"/>
                  <a:pt x="64863" y="107726"/>
                  <a:pt x="65834" y="105649"/>
                </a:cubicBezTo>
                <a:lnTo>
                  <a:pt x="42863" y="75009"/>
                </a:lnTo>
                <a:lnTo>
                  <a:pt x="16073" y="75009"/>
                </a:lnTo>
                <a:cubicBezTo>
                  <a:pt x="7200" y="75009"/>
                  <a:pt x="0" y="67810"/>
                  <a:pt x="0" y="58936"/>
                </a:cubicBezTo>
                <a:lnTo>
                  <a:pt x="0" y="26789"/>
                </a:lnTo>
                <a:close/>
              </a:path>
            </a:pathLst>
          </a:custGeom>
          <a:solidFill>
            <a:srgbClr val="4A9D9C"/>
          </a:solidFill>
          <a:ln/>
        </p:spPr>
        <p:txBody>
          <a:bodyPr/>
          <a:lstStyle/>
          <a:p>
            <a:endParaRPr lang="en-US"/>
          </a:p>
        </p:txBody>
      </p:sp>
      <p:sp>
        <p:nvSpPr>
          <p:cNvPr id="15" name="Text 13"/>
          <p:cNvSpPr/>
          <p:nvPr/>
        </p:nvSpPr>
        <p:spPr>
          <a:xfrm>
            <a:off x="6615113" y="1790700"/>
            <a:ext cx="9620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Clustering</a:t>
            </a:r>
            <a:endParaRPr lang="en-US" sz="1600" dirty="0"/>
          </a:p>
        </p:txBody>
      </p:sp>
      <p:sp>
        <p:nvSpPr>
          <p:cNvPr id="16" name="Text 14"/>
          <p:cNvSpPr/>
          <p:nvPr/>
        </p:nvSpPr>
        <p:spPr>
          <a:xfrm>
            <a:off x="6324600" y="2133600"/>
            <a:ext cx="2514600" cy="419100"/>
          </a:xfrm>
          <a:prstGeom prst="rect">
            <a:avLst/>
          </a:prstGeom>
          <a:noFill/>
          <a:ln/>
        </p:spPr>
        <p:txBody>
          <a:bodyPr wrap="square" lIns="0" tIns="0" rIns="0" bIns="0" rtlCol="0" anchor="ctr"/>
          <a:lstStyle/>
          <a:p>
            <a:pPr>
              <a:lnSpc>
                <a:spcPct val="110000"/>
              </a:lnSpc>
            </a:pPr>
            <a:r>
              <a:rPr lang="en-US" sz="1200" b="1" dirty="0">
                <a:solidFill>
                  <a:srgbClr val="4A9D9C"/>
                </a:solidFill>
                <a:latin typeface="Quattrocento Sans" pitchFamily="34" charset="0"/>
                <a:ea typeface="Quattrocento Sans" pitchFamily="34" charset="-122"/>
                <a:cs typeface="Quattrocento Sans" pitchFamily="34" charset="-120"/>
              </a:rPr>
              <a:t>Grouping datasets</a:t>
            </a:r>
            <a:r>
              <a:rPr lang="en-US" sz="1200" dirty="0">
                <a:solidFill>
                  <a:srgbClr val="E0E2E5"/>
                </a:solidFill>
                <a:latin typeface="Quattrocento Sans" pitchFamily="34" charset="0"/>
                <a:ea typeface="Quattrocento Sans" pitchFamily="34" charset="-122"/>
                <a:cs typeface="Quattrocento Sans" pitchFamily="34" charset="-120"/>
              </a:rPr>
              <a:t> together based on similarities.</a:t>
            </a:r>
            <a:endParaRPr lang="en-US" sz="1600" dirty="0"/>
          </a:p>
        </p:txBody>
      </p:sp>
      <p:sp>
        <p:nvSpPr>
          <p:cNvPr id="17" name="Shape 15"/>
          <p:cNvSpPr/>
          <p:nvPr/>
        </p:nvSpPr>
        <p:spPr>
          <a:xfrm>
            <a:off x="9067800" y="16383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18" name="Shape 16"/>
          <p:cNvSpPr/>
          <p:nvPr/>
        </p:nvSpPr>
        <p:spPr>
          <a:xfrm>
            <a:off x="9222581" y="1838325"/>
            <a:ext cx="214313" cy="171450"/>
          </a:xfrm>
          <a:custGeom>
            <a:avLst/>
            <a:gdLst/>
            <a:ahLst/>
            <a:cxnLst/>
            <a:rect l="l" t="t" r="r" b="b"/>
            <a:pathLst>
              <a:path w="214313" h="171450">
                <a:moveTo>
                  <a:pt x="128588" y="10716"/>
                </a:moveTo>
                <a:lnTo>
                  <a:pt x="171450" y="10716"/>
                </a:lnTo>
                <a:cubicBezTo>
                  <a:pt x="177377" y="10716"/>
                  <a:pt x="182166" y="15504"/>
                  <a:pt x="182166" y="21431"/>
                </a:cubicBezTo>
                <a:cubicBezTo>
                  <a:pt x="182166" y="27358"/>
                  <a:pt x="177377" y="32147"/>
                  <a:pt x="171450" y="32147"/>
                </a:cubicBezTo>
                <a:lnTo>
                  <a:pt x="133410" y="32147"/>
                </a:lnTo>
                <a:cubicBezTo>
                  <a:pt x="131668" y="40786"/>
                  <a:pt x="125741" y="47919"/>
                  <a:pt x="117872" y="51335"/>
                </a:cubicBezTo>
                <a:lnTo>
                  <a:pt x="117872" y="150019"/>
                </a:lnTo>
                <a:lnTo>
                  <a:pt x="171450" y="150019"/>
                </a:lnTo>
                <a:cubicBezTo>
                  <a:pt x="177377" y="150019"/>
                  <a:pt x="182166" y="154807"/>
                  <a:pt x="182166" y="160734"/>
                </a:cubicBezTo>
                <a:cubicBezTo>
                  <a:pt x="182166" y="166661"/>
                  <a:pt x="177377" y="171450"/>
                  <a:pt x="171450" y="171450"/>
                </a:cubicBezTo>
                <a:lnTo>
                  <a:pt x="42863" y="171450"/>
                </a:lnTo>
                <a:cubicBezTo>
                  <a:pt x="36935" y="171450"/>
                  <a:pt x="32147" y="166661"/>
                  <a:pt x="32147" y="160734"/>
                </a:cubicBezTo>
                <a:cubicBezTo>
                  <a:pt x="32147" y="154807"/>
                  <a:pt x="36935" y="150019"/>
                  <a:pt x="42863" y="150019"/>
                </a:cubicBezTo>
                <a:lnTo>
                  <a:pt x="96441" y="150019"/>
                </a:lnTo>
                <a:lnTo>
                  <a:pt x="96441" y="51335"/>
                </a:lnTo>
                <a:cubicBezTo>
                  <a:pt x="88571" y="47885"/>
                  <a:pt x="82644" y="40753"/>
                  <a:pt x="80903" y="32147"/>
                </a:cubicBezTo>
                <a:lnTo>
                  <a:pt x="42863" y="32147"/>
                </a:lnTo>
                <a:cubicBezTo>
                  <a:pt x="36935" y="32147"/>
                  <a:pt x="32147" y="27358"/>
                  <a:pt x="32147" y="21431"/>
                </a:cubicBezTo>
                <a:cubicBezTo>
                  <a:pt x="32147" y="15504"/>
                  <a:pt x="36935" y="10716"/>
                  <a:pt x="42863" y="10716"/>
                </a:cubicBezTo>
                <a:lnTo>
                  <a:pt x="85725" y="10716"/>
                </a:lnTo>
                <a:cubicBezTo>
                  <a:pt x="90614" y="4219"/>
                  <a:pt x="98383" y="0"/>
                  <a:pt x="107156" y="0"/>
                </a:cubicBezTo>
                <a:cubicBezTo>
                  <a:pt x="115930" y="0"/>
                  <a:pt x="123698" y="4219"/>
                  <a:pt x="128588" y="10716"/>
                </a:cubicBezTo>
                <a:close/>
                <a:moveTo>
                  <a:pt x="147206" y="107156"/>
                </a:moveTo>
                <a:lnTo>
                  <a:pt x="195694" y="107156"/>
                </a:lnTo>
                <a:lnTo>
                  <a:pt x="171450" y="65566"/>
                </a:lnTo>
                <a:lnTo>
                  <a:pt x="147206" y="107156"/>
                </a:lnTo>
                <a:close/>
                <a:moveTo>
                  <a:pt x="171450" y="139303"/>
                </a:moveTo>
                <a:cubicBezTo>
                  <a:pt x="150387" y="139303"/>
                  <a:pt x="132874" y="127918"/>
                  <a:pt x="129257" y="112882"/>
                </a:cubicBezTo>
                <a:cubicBezTo>
                  <a:pt x="128387" y="109199"/>
                  <a:pt x="129592" y="105415"/>
                  <a:pt x="131501" y="102133"/>
                </a:cubicBezTo>
                <a:lnTo>
                  <a:pt x="163380" y="47484"/>
                </a:lnTo>
                <a:cubicBezTo>
                  <a:pt x="165054" y="44604"/>
                  <a:pt x="168135" y="42863"/>
                  <a:pt x="171450" y="42863"/>
                </a:cubicBezTo>
                <a:cubicBezTo>
                  <a:pt x="174765" y="42863"/>
                  <a:pt x="177846" y="44637"/>
                  <a:pt x="179520" y="47484"/>
                </a:cubicBezTo>
                <a:lnTo>
                  <a:pt x="211399" y="102133"/>
                </a:lnTo>
                <a:cubicBezTo>
                  <a:pt x="213308" y="105415"/>
                  <a:pt x="214513" y="109199"/>
                  <a:pt x="213643" y="112882"/>
                </a:cubicBezTo>
                <a:cubicBezTo>
                  <a:pt x="210026" y="127884"/>
                  <a:pt x="192513" y="139303"/>
                  <a:pt x="171450" y="139303"/>
                </a:cubicBezTo>
                <a:close/>
                <a:moveTo>
                  <a:pt x="42461" y="65566"/>
                </a:moveTo>
                <a:lnTo>
                  <a:pt x="18217" y="107156"/>
                </a:lnTo>
                <a:lnTo>
                  <a:pt x="66738" y="107156"/>
                </a:lnTo>
                <a:lnTo>
                  <a:pt x="42461" y="65566"/>
                </a:lnTo>
                <a:close/>
                <a:moveTo>
                  <a:pt x="301" y="112882"/>
                </a:moveTo>
                <a:cubicBezTo>
                  <a:pt x="-569" y="109199"/>
                  <a:pt x="636" y="105415"/>
                  <a:pt x="2545" y="102133"/>
                </a:cubicBezTo>
                <a:lnTo>
                  <a:pt x="34424" y="47484"/>
                </a:lnTo>
                <a:cubicBezTo>
                  <a:pt x="36098" y="44604"/>
                  <a:pt x="39179" y="42863"/>
                  <a:pt x="42494" y="42863"/>
                </a:cubicBezTo>
                <a:cubicBezTo>
                  <a:pt x="45809" y="42863"/>
                  <a:pt x="48890" y="44637"/>
                  <a:pt x="50564" y="47484"/>
                </a:cubicBezTo>
                <a:lnTo>
                  <a:pt x="82443" y="102133"/>
                </a:lnTo>
                <a:cubicBezTo>
                  <a:pt x="84352" y="105415"/>
                  <a:pt x="85558" y="109199"/>
                  <a:pt x="84687" y="112882"/>
                </a:cubicBezTo>
                <a:cubicBezTo>
                  <a:pt x="81070" y="127884"/>
                  <a:pt x="63557" y="139303"/>
                  <a:pt x="42494" y="139303"/>
                </a:cubicBezTo>
                <a:cubicBezTo>
                  <a:pt x="21431" y="139303"/>
                  <a:pt x="3918" y="127918"/>
                  <a:pt x="301" y="112882"/>
                </a:cubicBezTo>
                <a:close/>
              </a:path>
            </a:pathLst>
          </a:custGeom>
          <a:solidFill>
            <a:srgbClr val="4A9D9C"/>
          </a:solidFill>
          <a:ln/>
        </p:spPr>
        <p:txBody>
          <a:bodyPr/>
          <a:lstStyle/>
          <a:p>
            <a:endParaRPr lang="en-US"/>
          </a:p>
        </p:txBody>
      </p:sp>
      <p:sp>
        <p:nvSpPr>
          <p:cNvPr id="19" name="Text 17"/>
          <p:cNvSpPr/>
          <p:nvPr/>
        </p:nvSpPr>
        <p:spPr>
          <a:xfrm>
            <a:off x="9510713" y="1790700"/>
            <a:ext cx="140970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Bias &amp; Variance</a:t>
            </a:r>
            <a:endParaRPr lang="en-US" sz="1600" dirty="0"/>
          </a:p>
        </p:txBody>
      </p:sp>
      <p:sp>
        <p:nvSpPr>
          <p:cNvPr id="20" name="Text 18"/>
          <p:cNvSpPr/>
          <p:nvPr/>
        </p:nvSpPr>
        <p:spPr>
          <a:xfrm>
            <a:off x="9220200" y="2133600"/>
            <a:ext cx="2514600" cy="419100"/>
          </a:xfrm>
          <a:prstGeom prst="rect">
            <a:avLst/>
          </a:prstGeom>
          <a:noFill/>
          <a:ln/>
        </p:spPr>
        <p:txBody>
          <a:bodyPr wrap="square" lIns="0" tIns="0" rIns="0" bIns="0" rtlCol="0" anchor="ctr"/>
          <a:lstStyle/>
          <a:p>
            <a:pPr>
              <a:lnSpc>
                <a:spcPct val="110000"/>
              </a:lnSpc>
            </a:pPr>
            <a:r>
              <a:rPr lang="en-US" sz="1200" b="1" dirty="0">
                <a:solidFill>
                  <a:srgbClr val="4A9D9C"/>
                </a:solidFill>
                <a:latin typeface="Quattrocento Sans" pitchFamily="34" charset="0"/>
                <a:ea typeface="Quattrocento Sans" pitchFamily="34" charset="-122"/>
                <a:cs typeface="Quattrocento Sans" pitchFamily="34" charset="-120"/>
              </a:rPr>
              <a:t>Systematic vs. random errors</a:t>
            </a:r>
            <a:r>
              <a:rPr lang="en-US" sz="1200" dirty="0">
                <a:solidFill>
                  <a:srgbClr val="E0E2E5"/>
                </a:solidFill>
                <a:latin typeface="Quattrocento Sans" pitchFamily="34" charset="0"/>
                <a:ea typeface="Quattrocento Sans" pitchFamily="34" charset="-122"/>
                <a:cs typeface="Quattrocento Sans" pitchFamily="34" charset="-120"/>
              </a:rPr>
              <a:t> that must be balanced.</a:t>
            </a:r>
            <a:endParaRPr lang="en-US" sz="1600" dirty="0"/>
          </a:p>
        </p:txBody>
      </p:sp>
      <p:sp>
        <p:nvSpPr>
          <p:cNvPr id="21" name="Shape 19"/>
          <p:cNvSpPr/>
          <p:nvPr/>
        </p:nvSpPr>
        <p:spPr>
          <a:xfrm>
            <a:off x="381000" y="28575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22" name="Shape 20"/>
          <p:cNvSpPr/>
          <p:nvPr/>
        </p:nvSpPr>
        <p:spPr>
          <a:xfrm>
            <a:off x="546497" y="3057525"/>
            <a:ext cx="192881" cy="171450"/>
          </a:xfrm>
          <a:custGeom>
            <a:avLst/>
            <a:gdLst/>
            <a:ahLst/>
            <a:cxnLst/>
            <a:rect l="l" t="t" r="r" b="b"/>
            <a:pathLst>
              <a:path w="192881" h="171450">
                <a:moveTo>
                  <a:pt x="140475" y="32147"/>
                </a:moveTo>
                <a:cubicBezTo>
                  <a:pt x="134916" y="32147"/>
                  <a:pt x="129525" y="33654"/>
                  <a:pt x="124804" y="36400"/>
                </a:cubicBezTo>
                <a:cubicBezTo>
                  <a:pt x="119513" y="31042"/>
                  <a:pt x="113351" y="26555"/>
                  <a:pt x="106553" y="23173"/>
                </a:cubicBezTo>
                <a:cubicBezTo>
                  <a:pt x="115997" y="15136"/>
                  <a:pt x="128018" y="10716"/>
                  <a:pt x="140475" y="10716"/>
                </a:cubicBezTo>
                <a:cubicBezTo>
                  <a:pt x="169407" y="10716"/>
                  <a:pt x="192881" y="34156"/>
                  <a:pt x="192881" y="63122"/>
                </a:cubicBezTo>
                <a:cubicBezTo>
                  <a:pt x="192881" y="77019"/>
                  <a:pt x="187356" y="90346"/>
                  <a:pt x="177545" y="100158"/>
                </a:cubicBezTo>
                <a:lnTo>
                  <a:pt x="153736" y="123966"/>
                </a:lnTo>
                <a:cubicBezTo>
                  <a:pt x="143924" y="133778"/>
                  <a:pt x="130597" y="139303"/>
                  <a:pt x="116700" y="139303"/>
                </a:cubicBezTo>
                <a:cubicBezTo>
                  <a:pt x="87768" y="139303"/>
                  <a:pt x="64294" y="115863"/>
                  <a:pt x="64294" y="86897"/>
                </a:cubicBezTo>
                <a:cubicBezTo>
                  <a:pt x="64294" y="86395"/>
                  <a:pt x="64294" y="85892"/>
                  <a:pt x="64327" y="85390"/>
                </a:cubicBezTo>
                <a:cubicBezTo>
                  <a:pt x="64495" y="79463"/>
                  <a:pt x="69417" y="74808"/>
                  <a:pt x="75344" y="74976"/>
                </a:cubicBezTo>
                <a:cubicBezTo>
                  <a:pt x="81271" y="75143"/>
                  <a:pt x="85926" y="80066"/>
                  <a:pt x="85758" y="85993"/>
                </a:cubicBezTo>
                <a:cubicBezTo>
                  <a:pt x="85758" y="86294"/>
                  <a:pt x="85758" y="86596"/>
                  <a:pt x="85758" y="86864"/>
                </a:cubicBezTo>
                <a:cubicBezTo>
                  <a:pt x="85758" y="103975"/>
                  <a:pt x="99622" y="117838"/>
                  <a:pt x="116733" y="117838"/>
                </a:cubicBezTo>
                <a:cubicBezTo>
                  <a:pt x="124937" y="117838"/>
                  <a:pt x="132807" y="114590"/>
                  <a:pt x="138633" y="108764"/>
                </a:cubicBezTo>
                <a:lnTo>
                  <a:pt x="162442" y="84955"/>
                </a:lnTo>
                <a:cubicBezTo>
                  <a:pt x="168235" y="79162"/>
                  <a:pt x="171517" y="71259"/>
                  <a:pt x="171517" y="63055"/>
                </a:cubicBezTo>
                <a:cubicBezTo>
                  <a:pt x="171517" y="45943"/>
                  <a:pt x="157654" y="32080"/>
                  <a:pt x="140542" y="32080"/>
                </a:cubicBezTo>
                <a:close/>
                <a:moveTo>
                  <a:pt x="92154" y="58032"/>
                </a:moveTo>
                <a:cubicBezTo>
                  <a:pt x="91518" y="57764"/>
                  <a:pt x="90882" y="57396"/>
                  <a:pt x="90313" y="56994"/>
                </a:cubicBezTo>
                <a:cubicBezTo>
                  <a:pt x="86093" y="54817"/>
                  <a:pt x="81271" y="53578"/>
                  <a:pt x="76215" y="53578"/>
                </a:cubicBezTo>
                <a:cubicBezTo>
                  <a:pt x="68011" y="53578"/>
                  <a:pt x="60141" y="56826"/>
                  <a:pt x="54315" y="62653"/>
                </a:cubicBezTo>
                <a:lnTo>
                  <a:pt x="30506" y="86462"/>
                </a:lnTo>
                <a:cubicBezTo>
                  <a:pt x="24713" y="92255"/>
                  <a:pt x="21431" y="100158"/>
                  <a:pt x="21431" y="108362"/>
                </a:cubicBezTo>
                <a:cubicBezTo>
                  <a:pt x="21431" y="125473"/>
                  <a:pt x="35295" y="139337"/>
                  <a:pt x="52406" y="139337"/>
                </a:cubicBezTo>
                <a:cubicBezTo>
                  <a:pt x="57931" y="139337"/>
                  <a:pt x="63323" y="137863"/>
                  <a:pt x="68044" y="135117"/>
                </a:cubicBezTo>
                <a:cubicBezTo>
                  <a:pt x="73335" y="140475"/>
                  <a:pt x="79497" y="144962"/>
                  <a:pt x="86328" y="148344"/>
                </a:cubicBezTo>
                <a:cubicBezTo>
                  <a:pt x="76885" y="156348"/>
                  <a:pt x="64897" y="160801"/>
                  <a:pt x="52406" y="160801"/>
                </a:cubicBezTo>
                <a:cubicBezTo>
                  <a:pt x="23474" y="160801"/>
                  <a:pt x="0" y="137361"/>
                  <a:pt x="0" y="108395"/>
                </a:cubicBezTo>
                <a:cubicBezTo>
                  <a:pt x="0" y="94498"/>
                  <a:pt x="5525" y="81171"/>
                  <a:pt x="15337" y="71359"/>
                </a:cubicBezTo>
                <a:lnTo>
                  <a:pt x="39146" y="47551"/>
                </a:lnTo>
                <a:cubicBezTo>
                  <a:pt x="48957" y="37739"/>
                  <a:pt x="62285" y="32214"/>
                  <a:pt x="76181" y="32214"/>
                </a:cubicBezTo>
                <a:cubicBezTo>
                  <a:pt x="105181" y="32214"/>
                  <a:pt x="128588" y="55855"/>
                  <a:pt x="128588" y="84754"/>
                </a:cubicBezTo>
                <a:cubicBezTo>
                  <a:pt x="128588" y="85189"/>
                  <a:pt x="128588" y="85625"/>
                  <a:pt x="128588" y="86060"/>
                </a:cubicBezTo>
                <a:cubicBezTo>
                  <a:pt x="128454" y="91987"/>
                  <a:pt x="123531" y="96642"/>
                  <a:pt x="117604" y="96508"/>
                </a:cubicBezTo>
                <a:cubicBezTo>
                  <a:pt x="111677" y="96374"/>
                  <a:pt x="107022" y="91451"/>
                  <a:pt x="107156" y="85524"/>
                </a:cubicBezTo>
                <a:cubicBezTo>
                  <a:pt x="107156" y="85256"/>
                  <a:pt x="107156" y="85022"/>
                  <a:pt x="107156" y="84754"/>
                </a:cubicBezTo>
                <a:cubicBezTo>
                  <a:pt x="107156" y="73469"/>
                  <a:pt x="101129" y="63557"/>
                  <a:pt x="92154" y="58099"/>
                </a:cubicBezTo>
                <a:close/>
              </a:path>
            </a:pathLst>
          </a:custGeom>
          <a:solidFill>
            <a:srgbClr val="4A9D9C"/>
          </a:solidFill>
          <a:ln/>
        </p:spPr>
        <p:txBody>
          <a:bodyPr/>
          <a:lstStyle/>
          <a:p>
            <a:endParaRPr lang="en-US"/>
          </a:p>
        </p:txBody>
      </p:sp>
      <p:sp>
        <p:nvSpPr>
          <p:cNvPr id="23" name="Text 21"/>
          <p:cNvSpPr/>
          <p:nvPr/>
        </p:nvSpPr>
        <p:spPr>
          <a:xfrm>
            <a:off x="823913" y="3009900"/>
            <a:ext cx="102870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Correlation</a:t>
            </a:r>
            <a:endParaRPr lang="en-US" sz="1600" dirty="0"/>
          </a:p>
        </p:txBody>
      </p:sp>
      <p:sp>
        <p:nvSpPr>
          <p:cNvPr id="24" name="Text 22"/>
          <p:cNvSpPr/>
          <p:nvPr/>
        </p:nvSpPr>
        <p:spPr>
          <a:xfrm>
            <a:off x="533400" y="3352800"/>
            <a:ext cx="2514600" cy="419100"/>
          </a:xfrm>
          <a:prstGeom prst="rect">
            <a:avLst/>
          </a:prstGeom>
          <a:noFill/>
          <a:ln/>
        </p:spPr>
        <p:txBody>
          <a:bodyPr wrap="square" lIns="0" tIns="0" rIns="0" bIns="0" rtlCol="0" anchor="ctr"/>
          <a:lstStyle/>
          <a:p>
            <a:pPr>
              <a:lnSpc>
                <a:spcPct val="110000"/>
              </a:lnSpc>
            </a:pPr>
            <a:r>
              <a:rPr lang="en-US" sz="1200" dirty="0">
                <a:solidFill>
                  <a:srgbClr val="E0E2E5"/>
                </a:solidFill>
                <a:latin typeface="Quattrocento Sans" pitchFamily="34" charset="0"/>
                <a:ea typeface="Quattrocento Sans" pitchFamily="34" charset="-122"/>
                <a:cs typeface="Quattrocento Sans" pitchFamily="34" charset="-120"/>
              </a:rPr>
              <a:t>Describing </a:t>
            </a:r>
            <a:r>
              <a:rPr lang="en-US" sz="1200" b="1" dirty="0">
                <a:solidFill>
                  <a:srgbClr val="4A9D9C"/>
                </a:solidFill>
                <a:latin typeface="Quattrocento Sans" pitchFamily="34" charset="0"/>
                <a:ea typeface="Quattrocento Sans" pitchFamily="34" charset="-122"/>
                <a:cs typeface="Quattrocento Sans" pitchFamily="34" charset="-120"/>
              </a:rPr>
              <a:t>relationships between variables</a:t>
            </a:r>
            <a:r>
              <a:rPr lang="en-US" sz="1200" dirty="0">
                <a:solidFill>
                  <a:srgbClr val="E0E2E5"/>
                </a:solidFill>
                <a:latin typeface="Quattrocento Sans" pitchFamily="34" charset="0"/>
                <a:ea typeface="Quattrocento Sans" pitchFamily="34" charset="-122"/>
                <a:cs typeface="Quattrocento Sans" pitchFamily="34" charset="-120"/>
              </a:rPr>
              <a:t> and outcomes.</a:t>
            </a:r>
            <a:endParaRPr lang="en-US" sz="1600" dirty="0"/>
          </a:p>
        </p:txBody>
      </p:sp>
      <p:sp>
        <p:nvSpPr>
          <p:cNvPr id="25" name="Shape 23"/>
          <p:cNvSpPr/>
          <p:nvPr/>
        </p:nvSpPr>
        <p:spPr>
          <a:xfrm>
            <a:off x="3276600" y="28575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26" name="Shape 24"/>
          <p:cNvSpPr/>
          <p:nvPr/>
        </p:nvSpPr>
        <p:spPr>
          <a:xfrm>
            <a:off x="3431381" y="3057525"/>
            <a:ext cx="214313" cy="171450"/>
          </a:xfrm>
          <a:custGeom>
            <a:avLst/>
            <a:gdLst/>
            <a:ahLst/>
            <a:cxnLst/>
            <a:rect l="l" t="t" r="r" b="b"/>
            <a:pathLst>
              <a:path w="214313" h="171450">
                <a:moveTo>
                  <a:pt x="117872" y="0"/>
                </a:moveTo>
                <a:cubicBezTo>
                  <a:pt x="117872" y="-5927"/>
                  <a:pt x="113083" y="-10716"/>
                  <a:pt x="107156" y="-10716"/>
                </a:cubicBezTo>
                <a:cubicBezTo>
                  <a:pt x="101229" y="-10716"/>
                  <a:pt x="96441" y="-5927"/>
                  <a:pt x="96441" y="0"/>
                </a:cubicBezTo>
                <a:lnTo>
                  <a:pt x="96441" y="21431"/>
                </a:lnTo>
                <a:lnTo>
                  <a:pt x="64294" y="21431"/>
                </a:lnTo>
                <a:cubicBezTo>
                  <a:pt x="46546" y="21431"/>
                  <a:pt x="32147" y="35830"/>
                  <a:pt x="32147" y="53578"/>
                </a:cubicBezTo>
                <a:lnTo>
                  <a:pt x="32147" y="128588"/>
                </a:lnTo>
                <a:cubicBezTo>
                  <a:pt x="32147" y="146335"/>
                  <a:pt x="46546" y="160734"/>
                  <a:pt x="64294" y="160734"/>
                </a:cubicBezTo>
                <a:lnTo>
                  <a:pt x="150019" y="160734"/>
                </a:lnTo>
                <a:cubicBezTo>
                  <a:pt x="167767" y="160734"/>
                  <a:pt x="182166" y="146335"/>
                  <a:pt x="182166" y="128588"/>
                </a:cubicBezTo>
                <a:lnTo>
                  <a:pt x="182166" y="53578"/>
                </a:lnTo>
                <a:cubicBezTo>
                  <a:pt x="182166" y="35830"/>
                  <a:pt x="167767" y="21431"/>
                  <a:pt x="150019" y="21431"/>
                </a:cubicBezTo>
                <a:lnTo>
                  <a:pt x="117872" y="21431"/>
                </a:lnTo>
                <a:lnTo>
                  <a:pt x="117872" y="0"/>
                </a:lnTo>
                <a:close/>
                <a:moveTo>
                  <a:pt x="53578" y="123230"/>
                </a:moveTo>
                <a:cubicBezTo>
                  <a:pt x="53578" y="118776"/>
                  <a:pt x="57161" y="115193"/>
                  <a:pt x="61615" y="115193"/>
                </a:cubicBezTo>
                <a:lnTo>
                  <a:pt x="72330" y="115193"/>
                </a:lnTo>
                <a:cubicBezTo>
                  <a:pt x="76784" y="115193"/>
                  <a:pt x="80367" y="118776"/>
                  <a:pt x="80367" y="123230"/>
                </a:cubicBezTo>
                <a:cubicBezTo>
                  <a:pt x="80367" y="127683"/>
                  <a:pt x="76784" y="131266"/>
                  <a:pt x="72330" y="131266"/>
                </a:cubicBezTo>
                <a:lnTo>
                  <a:pt x="61615" y="131266"/>
                </a:lnTo>
                <a:cubicBezTo>
                  <a:pt x="57161" y="131266"/>
                  <a:pt x="53578" y="127683"/>
                  <a:pt x="53578" y="123230"/>
                </a:cubicBezTo>
                <a:close/>
                <a:moveTo>
                  <a:pt x="93762" y="123230"/>
                </a:moveTo>
                <a:cubicBezTo>
                  <a:pt x="93762" y="118776"/>
                  <a:pt x="97345" y="115193"/>
                  <a:pt x="101798" y="115193"/>
                </a:cubicBezTo>
                <a:lnTo>
                  <a:pt x="112514" y="115193"/>
                </a:lnTo>
                <a:cubicBezTo>
                  <a:pt x="116968" y="115193"/>
                  <a:pt x="120551" y="118776"/>
                  <a:pt x="120551" y="123230"/>
                </a:cubicBezTo>
                <a:cubicBezTo>
                  <a:pt x="120551" y="127683"/>
                  <a:pt x="116968" y="131266"/>
                  <a:pt x="112514" y="131266"/>
                </a:cubicBezTo>
                <a:lnTo>
                  <a:pt x="101798" y="131266"/>
                </a:lnTo>
                <a:cubicBezTo>
                  <a:pt x="97345" y="131266"/>
                  <a:pt x="93762" y="127683"/>
                  <a:pt x="93762" y="123230"/>
                </a:cubicBezTo>
                <a:close/>
                <a:moveTo>
                  <a:pt x="133945" y="123230"/>
                </a:moveTo>
                <a:cubicBezTo>
                  <a:pt x="133945" y="118776"/>
                  <a:pt x="137528" y="115193"/>
                  <a:pt x="141982" y="115193"/>
                </a:cubicBezTo>
                <a:lnTo>
                  <a:pt x="152698" y="115193"/>
                </a:lnTo>
                <a:cubicBezTo>
                  <a:pt x="157151" y="115193"/>
                  <a:pt x="160734" y="118776"/>
                  <a:pt x="160734" y="123230"/>
                </a:cubicBezTo>
                <a:cubicBezTo>
                  <a:pt x="160734" y="127683"/>
                  <a:pt x="157151" y="131266"/>
                  <a:pt x="152698" y="131266"/>
                </a:cubicBezTo>
                <a:lnTo>
                  <a:pt x="141982" y="131266"/>
                </a:lnTo>
                <a:cubicBezTo>
                  <a:pt x="137528" y="131266"/>
                  <a:pt x="133945" y="127683"/>
                  <a:pt x="133945" y="123230"/>
                </a:cubicBezTo>
                <a:close/>
                <a:moveTo>
                  <a:pt x="75009" y="58936"/>
                </a:moveTo>
                <a:cubicBezTo>
                  <a:pt x="83881" y="58936"/>
                  <a:pt x="91083" y="66138"/>
                  <a:pt x="91083" y="75009"/>
                </a:cubicBezTo>
                <a:cubicBezTo>
                  <a:pt x="91083" y="83881"/>
                  <a:pt x="83881" y="91083"/>
                  <a:pt x="75009" y="91083"/>
                </a:cubicBezTo>
                <a:cubicBezTo>
                  <a:pt x="66138" y="91083"/>
                  <a:pt x="58936" y="83881"/>
                  <a:pt x="58936" y="75009"/>
                </a:cubicBezTo>
                <a:cubicBezTo>
                  <a:pt x="58936" y="66138"/>
                  <a:pt x="66138" y="58936"/>
                  <a:pt x="75009" y="58936"/>
                </a:cubicBezTo>
                <a:close/>
                <a:moveTo>
                  <a:pt x="123230" y="75009"/>
                </a:moveTo>
                <a:cubicBezTo>
                  <a:pt x="123230" y="66138"/>
                  <a:pt x="130432" y="58936"/>
                  <a:pt x="139303" y="58936"/>
                </a:cubicBezTo>
                <a:cubicBezTo>
                  <a:pt x="148174" y="58936"/>
                  <a:pt x="155377" y="66138"/>
                  <a:pt x="155377" y="75009"/>
                </a:cubicBezTo>
                <a:cubicBezTo>
                  <a:pt x="155377" y="83881"/>
                  <a:pt x="148174" y="91083"/>
                  <a:pt x="139303" y="91083"/>
                </a:cubicBezTo>
                <a:cubicBezTo>
                  <a:pt x="130432" y="91083"/>
                  <a:pt x="123230" y="83881"/>
                  <a:pt x="123230" y="75009"/>
                </a:cubicBezTo>
                <a:close/>
                <a:moveTo>
                  <a:pt x="21431" y="75009"/>
                </a:moveTo>
                <a:cubicBezTo>
                  <a:pt x="21431" y="69082"/>
                  <a:pt x="16643" y="64294"/>
                  <a:pt x="10716" y="64294"/>
                </a:cubicBezTo>
                <a:cubicBezTo>
                  <a:pt x="4789" y="64294"/>
                  <a:pt x="0" y="69082"/>
                  <a:pt x="0" y="75009"/>
                </a:cubicBezTo>
                <a:lnTo>
                  <a:pt x="0" y="107156"/>
                </a:lnTo>
                <a:cubicBezTo>
                  <a:pt x="0" y="113083"/>
                  <a:pt x="4789" y="117872"/>
                  <a:pt x="10716" y="117872"/>
                </a:cubicBezTo>
                <a:cubicBezTo>
                  <a:pt x="16643" y="117872"/>
                  <a:pt x="21431" y="113083"/>
                  <a:pt x="21431" y="107156"/>
                </a:cubicBezTo>
                <a:lnTo>
                  <a:pt x="21431" y="75009"/>
                </a:lnTo>
                <a:close/>
                <a:moveTo>
                  <a:pt x="203597" y="64294"/>
                </a:moveTo>
                <a:cubicBezTo>
                  <a:pt x="197670" y="64294"/>
                  <a:pt x="192881" y="69082"/>
                  <a:pt x="192881" y="75009"/>
                </a:cubicBezTo>
                <a:lnTo>
                  <a:pt x="192881" y="107156"/>
                </a:lnTo>
                <a:cubicBezTo>
                  <a:pt x="192881" y="113083"/>
                  <a:pt x="197670" y="117872"/>
                  <a:pt x="203597" y="117872"/>
                </a:cubicBezTo>
                <a:cubicBezTo>
                  <a:pt x="209524" y="117872"/>
                  <a:pt x="214313" y="113083"/>
                  <a:pt x="214313" y="107156"/>
                </a:cubicBezTo>
                <a:lnTo>
                  <a:pt x="214313" y="75009"/>
                </a:lnTo>
                <a:cubicBezTo>
                  <a:pt x="214313" y="69082"/>
                  <a:pt x="209524" y="64294"/>
                  <a:pt x="203597" y="64294"/>
                </a:cubicBezTo>
                <a:close/>
              </a:path>
            </a:pathLst>
          </a:custGeom>
          <a:solidFill>
            <a:srgbClr val="4A9D9C"/>
          </a:solidFill>
          <a:ln/>
        </p:spPr>
        <p:txBody>
          <a:bodyPr/>
          <a:lstStyle/>
          <a:p>
            <a:endParaRPr lang="en-US"/>
          </a:p>
        </p:txBody>
      </p:sp>
      <p:sp>
        <p:nvSpPr>
          <p:cNvPr id="27" name="Text 25"/>
          <p:cNvSpPr/>
          <p:nvPr/>
        </p:nvSpPr>
        <p:spPr>
          <a:xfrm>
            <a:off x="3719512" y="3009900"/>
            <a:ext cx="159067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Machine Learning</a:t>
            </a:r>
            <a:endParaRPr lang="en-US" sz="1600" dirty="0"/>
          </a:p>
        </p:txBody>
      </p:sp>
      <p:sp>
        <p:nvSpPr>
          <p:cNvPr id="28" name="Text 26"/>
          <p:cNvSpPr/>
          <p:nvPr/>
        </p:nvSpPr>
        <p:spPr>
          <a:xfrm>
            <a:off x="3429000" y="3352800"/>
            <a:ext cx="2514600" cy="419100"/>
          </a:xfrm>
          <a:prstGeom prst="rect">
            <a:avLst/>
          </a:prstGeom>
          <a:noFill/>
          <a:ln/>
        </p:spPr>
        <p:txBody>
          <a:bodyPr wrap="square" lIns="0" tIns="0" rIns="0" bIns="0" rtlCol="0" anchor="ctr"/>
          <a:lstStyle/>
          <a:p>
            <a:pPr>
              <a:lnSpc>
                <a:spcPct val="110000"/>
              </a:lnSpc>
            </a:pPr>
            <a:r>
              <a:rPr lang="en-US" sz="1200" b="1" dirty="0">
                <a:solidFill>
                  <a:srgbClr val="4A9D9C"/>
                </a:solidFill>
                <a:latin typeface="Quattrocento Sans" pitchFamily="34" charset="0"/>
                <a:ea typeface="Quattrocento Sans" pitchFamily="34" charset="-122"/>
                <a:cs typeface="Quattrocento Sans" pitchFamily="34" charset="-120"/>
              </a:rPr>
              <a:t>Algorithms and AI</a:t>
            </a:r>
            <a:r>
              <a:rPr lang="en-US" sz="1200" dirty="0">
                <a:solidFill>
                  <a:srgbClr val="E0E2E5"/>
                </a:solidFill>
                <a:latin typeface="Quattrocento Sans" pitchFamily="34" charset="0"/>
                <a:ea typeface="Quattrocento Sans" pitchFamily="34" charset="-122"/>
                <a:cs typeface="Quattrocento Sans" pitchFamily="34" charset="-120"/>
              </a:rPr>
              <a:t> that learn from data to make predictions.</a:t>
            </a:r>
            <a:endParaRPr lang="en-US" sz="1600" dirty="0"/>
          </a:p>
        </p:txBody>
      </p:sp>
      <p:sp>
        <p:nvSpPr>
          <p:cNvPr id="29" name="Shape 27"/>
          <p:cNvSpPr/>
          <p:nvPr/>
        </p:nvSpPr>
        <p:spPr>
          <a:xfrm>
            <a:off x="6172200" y="28575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30" name="Shape 28"/>
          <p:cNvSpPr/>
          <p:nvPr/>
        </p:nvSpPr>
        <p:spPr>
          <a:xfrm>
            <a:off x="6348413" y="3057525"/>
            <a:ext cx="171450" cy="171450"/>
          </a:xfrm>
          <a:custGeom>
            <a:avLst/>
            <a:gdLst/>
            <a:ahLst/>
            <a:cxnLst/>
            <a:rect l="l" t="t" r="r" b="b"/>
            <a:pathLst>
              <a:path w="171450" h="171450">
                <a:moveTo>
                  <a:pt x="40184" y="18752"/>
                </a:moveTo>
                <a:cubicBezTo>
                  <a:pt x="40184" y="8405"/>
                  <a:pt x="48589" y="0"/>
                  <a:pt x="58936" y="0"/>
                </a:cubicBezTo>
                <a:lnTo>
                  <a:pt x="66973" y="0"/>
                </a:lnTo>
                <a:cubicBezTo>
                  <a:pt x="72900" y="0"/>
                  <a:pt x="77688" y="4789"/>
                  <a:pt x="77688" y="10716"/>
                </a:cubicBezTo>
                <a:lnTo>
                  <a:pt x="77688" y="160734"/>
                </a:lnTo>
                <a:cubicBezTo>
                  <a:pt x="77688" y="166661"/>
                  <a:pt x="72900" y="171450"/>
                  <a:pt x="66973" y="171450"/>
                </a:cubicBezTo>
                <a:lnTo>
                  <a:pt x="56257" y="171450"/>
                </a:lnTo>
                <a:cubicBezTo>
                  <a:pt x="46278" y="171450"/>
                  <a:pt x="37873" y="164619"/>
                  <a:pt x="35496" y="155377"/>
                </a:cubicBezTo>
                <a:cubicBezTo>
                  <a:pt x="35261" y="155377"/>
                  <a:pt x="35060" y="155377"/>
                  <a:pt x="34826" y="155377"/>
                </a:cubicBezTo>
                <a:cubicBezTo>
                  <a:pt x="20025" y="155377"/>
                  <a:pt x="8037" y="143388"/>
                  <a:pt x="8037" y="128588"/>
                </a:cubicBezTo>
                <a:cubicBezTo>
                  <a:pt x="8037" y="122560"/>
                  <a:pt x="10046" y="117001"/>
                  <a:pt x="13395" y="112514"/>
                </a:cubicBezTo>
                <a:cubicBezTo>
                  <a:pt x="6898" y="107625"/>
                  <a:pt x="2679" y="99856"/>
                  <a:pt x="2679" y="91083"/>
                </a:cubicBezTo>
                <a:cubicBezTo>
                  <a:pt x="2679" y="80736"/>
                  <a:pt x="8573" y="71728"/>
                  <a:pt x="17145" y="67274"/>
                </a:cubicBezTo>
                <a:cubicBezTo>
                  <a:pt x="14767" y="63256"/>
                  <a:pt x="13395" y="58568"/>
                  <a:pt x="13395" y="53578"/>
                </a:cubicBezTo>
                <a:cubicBezTo>
                  <a:pt x="13395" y="38777"/>
                  <a:pt x="25383" y="26789"/>
                  <a:pt x="40184" y="26789"/>
                </a:cubicBezTo>
                <a:lnTo>
                  <a:pt x="40184" y="18752"/>
                </a:lnTo>
                <a:close/>
                <a:moveTo>
                  <a:pt x="131266" y="18752"/>
                </a:moveTo>
                <a:lnTo>
                  <a:pt x="131266" y="26789"/>
                </a:lnTo>
                <a:cubicBezTo>
                  <a:pt x="146067" y="26789"/>
                  <a:pt x="158055" y="38777"/>
                  <a:pt x="158055" y="53578"/>
                </a:cubicBezTo>
                <a:cubicBezTo>
                  <a:pt x="158055" y="58601"/>
                  <a:pt x="156683" y="63289"/>
                  <a:pt x="154305" y="67274"/>
                </a:cubicBezTo>
                <a:cubicBezTo>
                  <a:pt x="162911" y="71728"/>
                  <a:pt x="168771" y="80702"/>
                  <a:pt x="168771" y="91083"/>
                </a:cubicBezTo>
                <a:cubicBezTo>
                  <a:pt x="168771" y="99856"/>
                  <a:pt x="164552" y="107625"/>
                  <a:pt x="158055" y="112514"/>
                </a:cubicBezTo>
                <a:cubicBezTo>
                  <a:pt x="161404" y="117001"/>
                  <a:pt x="163413" y="122560"/>
                  <a:pt x="163413" y="128588"/>
                </a:cubicBezTo>
                <a:cubicBezTo>
                  <a:pt x="163413" y="143388"/>
                  <a:pt x="151425" y="155377"/>
                  <a:pt x="136624" y="155377"/>
                </a:cubicBezTo>
                <a:cubicBezTo>
                  <a:pt x="136390" y="155377"/>
                  <a:pt x="136189" y="155377"/>
                  <a:pt x="135954" y="155377"/>
                </a:cubicBezTo>
                <a:cubicBezTo>
                  <a:pt x="133577" y="164619"/>
                  <a:pt x="125172" y="171450"/>
                  <a:pt x="115193" y="171450"/>
                </a:cubicBezTo>
                <a:lnTo>
                  <a:pt x="104477" y="171450"/>
                </a:lnTo>
                <a:cubicBezTo>
                  <a:pt x="98550" y="171450"/>
                  <a:pt x="93762" y="166661"/>
                  <a:pt x="93762" y="160734"/>
                </a:cubicBezTo>
                <a:lnTo>
                  <a:pt x="93762" y="10716"/>
                </a:lnTo>
                <a:cubicBezTo>
                  <a:pt x="93762" y="4789"/>
                  <a:pt x="98550" y="0"/>
                  <a:pt x="104477" y="0"/>
                </a:cubicBezTo>
                <a:lnTo>
                  <a:pt x="112514" y="0"/>
                </a:lnTo>
                <a:cubicBezTo>
                  <a:pt x="122861" y="0"/>
                  <a:pt x="131266" y="8405"/>
                  <a:pt x="131266" y="18752"/>
                </a:cubicBezTo>
                <a:close/>
              </a:path>
            </a:pathLst>
          </a:custGeom>
          <a:solidFill>
            <a:srgbClr val="4A9D9C"/>
          </a:solidFill>
          <a:ln/>
        </p:spPr>
        <p:txBody>
          <a:bodyPr/>
          <a:lstStyle/>
          <a:p>
            <a:endParaRPr lang="en-US"/>
          </a:p>
        </p:txBody>
      </p:sp>
      <p:sp>
        <p:nvSpPr>
          <p:cNvPr id="31" name="Text 29"/>
          <p:cNvSpPr/>
          <p:nvPr/>
        </p:nvSpPr>
        <p:spPr>
          <a:xfrm>
            <a:off x="6615113" y="3009900"/>
            <a:ext cx="13144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Deep Learning</a:t>
            </a:r>
            <a:endParaRPr lang="en-US" sz="1600" dirty="0"/>
          </a:p>
        </p:txBody>
      </p:sp>
      <p:sp>
        <p:nvSpPr>
          <p:cNvPr id="32" name="Text 30"/>
          <p:cNvSpPr/>
          <p:nvPr/>
        </p:nvSpPr>
        <p:spPr>
          <a:xfrm>
            <a:off x="6324600" y="3352800"/>
            <a:ext cx="2514600" cy="419100"/>
          </a:xfrm>
          <a:prstGeom prst="rect">
            <a:avLst/>
          </a:prstGeom>
          <a:noFill/>
          <a:ln/>
        </p:spPr>
        <p:txBody>
          <a:bodyPr wrap="square" lIns="0" tIns="0" rIns="0" bIns="0" rtlCol="0" anchor="ctr"/>
          <a:lstStyle/>
          <a:p>
            <a:pPr>
              <a:lnSpc>
                <a:spcPct val="110000"/>
              </a:lnSpc>
            </a:pPr>
            <a:r>
              <a:rPr lang="en-US" sz="1200" b="1" dirty="0">
                <a:solidFill>
                  <a:srgbClr val="4A9D9C"/>
                </a:solidFill>
                <a:latin typeface="Quattrocento Sans" pitchFamily="34" charset="0"/>
                <a:ea typeface="Quattrocento Sans" pitchFamily="34" charset="-122"/>
                <a:cs typeface="Quattrocento Sans" pitchFamily="34" charset="-120"/>
              </a:rPr>
              <a:t>Neural networks</a:t>
            </a:r>
            <a:r>
              <a:rPr lang="en-US" sz="1200" dirty="0">
                <a:solidFill>
                  <a:srgbClr val="E0E2E5"/>
                </a:solidFill>
                <a:latin typeface="Quattrocento Sans" pitchFamily="34" charset="0"/>
                <a:ea typeface="Quattrocento Sans" pitchFamily="34" charset="-122"/>
                <a:cs typeface="Quattrocento Sans" pitchFamily="34" charset="-120"/>
              </a:rPr>
              <a:t> functioning like the human brain.</a:t>
            </a:r>
            <a:endParaRPr lang="en-US" sz="1600" dirty="0"/>
          </a:p>
        </p:txBody>
      </p:sp>
      <p:sp>
        <p:nvSpPr>
          <p:cNvPr id="33" name="Shape 31"/>
          <p:cNvSpPr/>
          <p:nvPr/>
        </p:nvSpPr>
        <p:spPr>
          <a:xfrm>
            <a:off x="9067800" y="2857500"/>
            <a:ext cx="2743200" cy="1066800"/>
          </a:xfrm>
          <a:custGeom>
            <a:avLst/>
            <a:gdLst/>
            <a:ahLst/>
            <a:cxnLst/>
            <a:rect l="l" t="t" r="r" b="b"/>
            <a:pathLst>
              <a:path w="2743200" h="1066800">
                <a:moveTo>
                  <a:pt x="38095" y="0"/>
                </a:moveTo>
                <a:lnTo>
                  <a:pt x="2705105" y="0"/>
                </a:lnTo>
                <a:cubicBezTo>
                  <a:pt x="2726130" y="0"/>
                  <a:pt x="2743200" y="17070"/>
                  <a:pt x="2743200" y="38095"/>
                </a:cubicBezTo>
                <a:lnTo>
                  <a:pt x="2743200" y="1028705"/>
                </a:lnTo>
                <a:cubicBezTo>
                  <a:pt x="2743200" y="1049730"/>
                  <a:pt x="2726130" y="1066800"/>
                  <a:pt x="2705105" y="1066800"/>
                </a:cubicBezTo>
                <a:lnTo>
                  <a:pt x="38095" y="1066800"/>
                </a:lnTo>
                <a:cubicBezTo>
                  <a:pt x="17070" y="1066800"/>
                  <a:pt x="0" y="1049730"/>
                  <a:pt x="0" y="1028705"/>
                </a:cubicBezTo>
                <a:lnTo>
                  <a:pt x="0" y="38095"/>
                </a:lnTo>
                <a:cubicBezTo>
                  <a:pt x="0" y="17070"/>
                  <a:pt x="17070" y="0"/>
                  <a:pt x="38095" y="0"/>
                </a:cubicBezTo>
                <a:close/>
              </a:path>
            </a:pathLst>
          </a:custGeom>
          <a:solidFill>
            <a:srgbClr val="3D4F5F"/>
          </a:solidFill>
          <a:ln/>
        </p:spPr>
        <p:txBody>
          <a:bodyPr/>
          <a:lstStyle/>
          <a:p>
            <a:endParaRPr lang="en-US"/>
          </a:p>
        </p:txBody>
      </p:sp>
      <p:sp>
        <p:nvSpPr>
          <p:cNvPr id="34" name="Shape 32"/>
          <p:cNvSpPr/>
          <p:nvPr/>
        </p:nvSpPr>
        <p:spPr>
          <a:xfrm>
            <a:off x="9233297" y="3057525"/>
            <a:ext cx="192881" cy="171450"/>
          </a:xfrm>
          <a:custGeom>
            <a:avLst/>
            <a:gdLst/>
            <a:ahLst/>
            <a:cxnLst/>
            <a:rect l="l" t="t" r="r" b="b"/>
            <a:pathLst>
              <a:path w="192881" h="171450">
                <a:moveTo>
                  <a:pt x="16073" y="117872"/>
                </a:moveTo>
                <a:lnTo>
                  <a:pt x="32147" y="117872"/>
                </a:lnTo>
                <a:lnTo>
                  <a:pt x="77052" y="157788"/>
                </a:lnTo>
                <a:cubicBezTo>
                  <a:pt x="79195" y="159696"/>
                  <a:pt x="81941" y="160734"/>
                  <a:pt x="84787" y="160734"/>
                </a:cubicBezTo>
                <a:cubicBezTo>
                  <a:pt x="91217" y="160734"/>
                  <a:pt x="96441" y="155511"/>
                  <a:pt x="96441" y="149081"/>
                </a:cubicBezTo>
                <a:lnTo>
                  <a:pt x="96441" y="22369"/>
                </a:lnTo>
                <a:cubicBezTo>
                  <a:pt x="96441" y="15939"/>
                  <a:pt x="91217" y="10716"/>
                  <a:pt x="84787" y="10716"/>
                </a:cubicBezTo>
                <a:cubicBezTo>
                  <a:pt x="81941" y="10716"/>
                  <a:pt x="79195" y="11754"/>
                  <a:pt x="77052" y="13662"/>
                </a:cubicBezTo>
                <a:lnTo>
                  <a:pt x="32147" y="53578"/>
                </a:lnTo>
                <a:lnTo>
                  <a:pt x="16073" y="53578"/>
                </a:lnTo>
                <a:cubicBezTo>
                  <a:pt x="7200" y="53578"/>
                  <a:pt x="0" y="60778"/>
                  <a:pt x="0" y="69652"/>
                </a:cubicBezTo>
                <a:lnTo>
                  <a:pt x="0" y="101798"/>
                </a:lnTo>
                <a:cubicBezTo>
                  <a:pt x="0" y="110672"/>
                  <a:pt x="7200" y="117872"/>
                  <a:pt x="16073" y="117872"/>
                </a:cubicBezTo>
                <a:close/>
                <a:moveTo>
                  <a:pt x="122895" y="58601"/>
                </a:moveTo>
                <a:cubicBezTo>
                  <a:pt x="119747" y="61749"/>
                  <a:pt x="119747" y="66839"/>
                  <a:pt x="122895" y="69953"/>
                </a:cubicBezTo>
                <a:lnTo>
                  <a:pt x="138633" y="85692"/>
                </a:lnTo>
                <a:lnTo>
                  <a:pt x="122895" y="101430"/>
                </a:lnTo>
                <a:cubicBezTo>
                  <a:pt x="119747" y="104578"/>
                  <a:pt x="119747" y="109668"/>
                  <a:pt x="122895" y="112782"/>
                </a:cubicBezTo>
                <a:cubicBezTo>
                  <a:pt x="126043" y="115896"/>
                  <a:pt x="131132" y="115930"/>
                  <a:pt x="134247" y="112782"/>
                </a:cubicBezTo>
                <a:lnTo>
                  <a:pt x="149985" y="97043"/>
                </a:lnTo>
                <a:lnTo>
                  <a:pt x="165724" y="112782"/>
                </a:lnTo>
                <a:cubicBezTo>
                  <a:pt x="168872" y="115930"/>
                  <a:pt x="173961" y="115930"/>
                  <a:pt x="177076" y="112782"/>
                </a:cubicBezTo>
                <a:cubicBezTo>
                  <a:pt x="180190" y="109634"/>
                  <a:pt x="180223" y="104544"/>
                  <a:pt x="177076" y="101430"/>
                </a:cubicBezTo>
                <a:lnTo>
                  <a:pt x="161337" y="85692"/>
                </a:lnTo>
                <a:lnTo>
                  <a:pt x="177076" y="69953"/>
                </a:lnTo>
                <a:cubicBezTo>
                  <a:pt x="180223" y="66805"/>
                  <a:pt x="180223" y="61715"/>
                  <a:pt x="177076" y="58601"/>
                </a:cubicBezTo>
                <a:cubicBezTo>
                  <a:pt x="173928" y="55487"/>
                  <a:pt x="168838" y="55453"/>
                  <a:pt x="165724" y="58601"/>
                </a:cubicBezTo>
                <a:lnTo>
                  <a:pt x="149985" y="74340"/>
                </a:lnTo>
                <a:lnTo>
                  <a:pt x="134247" y="58601"/>
                </a:lnTo>
                <a:cubicBezTo>
                  <a:pt x="131099" y="55453"/>
                  <a:pt x="126009" y="55453"/>
                  <a:pt x="122895" y="58601"/>
                </a:cubicBezTo>
                <a:close/>
              </a:path>
            </a:pathLst>
          </a:custGeom>
          <a:solidFill>
            <a:srgbClr val="4A9D9C"/>
          </a:solidFill>
          <a:ln/>
        </p:spPr>
        <p:txBody>
          <a:bodyPr/>
          <a:lstStyle/>
          <a:p>
            <a:endParaRPr lang="en-US"/>
          </a:p>
        </p:txBody>
      </p:sp>
      <p:sp>
        <p:nvSpPr>
          <p:cNvPr id="35" name="Text 33"/>
          <p:cNvSpPr/>
          <p:nvPr/>
        </p:nvSpPr>
        <p:spPr>
          <a:xfrm>
            <a:off x="9510713" y="3009900"/>
            <a:ext cx="5810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Noise</a:t>
            </a:r>
            <a:endParaRPr lang="en-US" sz="1600" dirty="0"/>
          </a:p>
        </p:txBody>
      </p:sp>
      <p:sp>
        <p:nvSpPr>
          <p:cNvPr id="36" name="Text 34"/>
          <p:cNvSpPr/>
          <p:nvPr/>
        </p:nvSpPr>
        <p:spPr>
          <a:xfrm>
            <a:off x="9220200" y="3352800"/>
            <a:ext cx="2514600" cy="419100"/>
          </a:xfrm>
          <a:prstGeom prst="rect">
            <a:avLst/>
          </a:prstGeom>
          <a:noFill/>
          <a:ln/>
        </p:spPr>
        <p:txBody>
          <a:bodyPr wrap="square" lIns="0" tIns="0" rIns="0" bIns="0" rtlCol="0" anchor="ctr"/>
          <a:lstStyle/>
          <a:p>
            <a:pPr>
              <a:lnSpc>
                <a:spcPct val="110000"/>
              </a:lnSpc>
            </a:pPr>
            <a:r>
              <a:rPr lang="en-US" sz="1200" b="1" dirty="0">
                <a:solidFill>
                  <a:srgbClr val="4A9D9C"/>
                </a:solidFill>
                <a:latin typeface="Quattrocento Sans" pitchFamily="34" charset="0"/>
                <a:ea typeface="Quattrocento Sans" pitchFamily="34" charset="-122"/>
                <a:cs typeface="Quattrocento Sans" pitchFamily="34" charset="-120"/>
              </a:rPr>
              <a:t>Corrupt or meaningless data</a:t>
            </a:r>
            <a:r>
              <a:rPr lang="en-US" sz="1200" dirty="0">
                <a:solidFill>
                  <a:srgbClr val="E0E2E5"/>
                </a:solidFill>
                <a:latin typeface="Quattrocento Sans" pitchFamily="34" charset="0"/>
                <a:ea typeface="Quattrocento Sans" pitchFamily="34" charset="-122"/>
                <a:cs typeface="Quattrocento Sans" pitchFamily="34" charset="-120"/>
              </a:rPr>
              <a:t> that must be filtered out.</a:t>
            </a:r>
            <a:endParaRPr lang="en-US" sz="1600" dirty="0"/>
          </a:p>
        </p:txBody>
      </p:sp>
      <p:sp>
        <p:nvSpPr>
          <p:cNvPr id="37" name="Shape 35"/>
          <p:cNvSpPr/>
          <p:nvPr/>
        </p:nvSpPr>
        <p:spPr>
          <a:xfrm>
            <a:off x="381000" y="5334000"/>
            <a:ext cx="5638800" cy="1143000"/>
          </a:xfrm>
          <a:custGeom>
            <a:avLst/>
            <a:gdLst/>
            <a:ahLst/>
            <a:cxnLst/>
            <a:rect l="l" t="t" r="r" b="b"/>
            <a:pathLst>
              <a:path w="5638800" h="1143000">
                <a:moveTo>
                  <a:pt x="38096" y="0"/>
                </a:moveTo>
                <a:lnTo>
                  <a:pt x="5600704" y="0"/>
                </a:lnTo>
                <a:cubicBezTo>
                  <a:pt x="5621744" y="0"/>
                  <a:pt x="5638800" y="17056"/>
                  <a:pt x="5638800" y="38096"/>
                </a:cubicBezTo>
                <a:lnTo>
                  <a:pt x="5638800" y="1104904"/>
                </a:lnTo>
                <a:cubicBezTo>
                  <a:pt x="5638800" y="1125944"/>
                  <a:pt x="5621744" y="1143000"/>
                  <a:pt x="5600704" y="1143000"/>
                </a:cubicBezTo>
                <a:lnTo>
                  <a:pt x="38096" y="1143000"/>
                </a:lnTo>
                <a:cubicBezTo>
                  <a:pt x="17056" y="1143000"/>
                  <a:pt x="0" y="1125944"/>
                  <a:pt x="0" y="1104904"/>
                </a:cubicBezTo>
                <a:lnTo>
                  <a:pt x="0" y="38096"/>
                </a:lnTo>
                <a:cubicBezTo>
                  <a:pt x="0" y="17070"/>
                  <a:pt x="17070" y="0"/>
                  <a:pt x="38096" y="0"/>
                </a:cubicBezTo>
                <a:close/>
              </a:path>
            </a:pathLst>
          </a:custGeom>
          <a:solidFill>
            <a:srgbClr val="3D4F5F"/>
          </a:solidFill>
          <a:ln/>
        </p:spPr>
        <p:txBody>
          <a:bodyPr/>
          <a:lstStyle/>
          <a:p>
            <a:endParaRPr lang="en-US"/>
          </a:p>
        </p:txBody>
      </p:sp>
      <p:sp>
        <p:nvSpPr>
          <p:cNvPr id="38" name="Shape 36"/>
          <p:cNvSpPr/>
          <p:nvPr/>
        </p:nvSpPr>
        <p:spPr>
          <a:xfrm>
            <a:off x="557213" y="5534025"/>
            <a:ext cx="171450" cy="171450"/>
          </a:xfrm>
          <a:custGeom>
            <a:avLst/>
            <a:gdLst/>
            <a:ahLst/>
            <a:cxnLst/>
            <a:rect l="l" t="t" r="r" b="b"/>
            <a:pathLst>
              <a:path w="171450" h="171450">
                <a:moveTo>
                  <a:pt x="85725" y="0"/>
                </a:moveTo>
                <a:cubicBezTo>
                  <a:pt x="90647" y="0"/>
                  <a:pt x="95168" y="2712"/>
                  <a:pt x="97512" y="7032"/>
                </a:cubicBezTo>
                <a:lnTo>
                  <a:pt x="169843" y="140977"/>
                </a:lnTo>
                <a:cubicBezTo>
                  <a:pt x="172086" y="145130"/>
                  <a:pt x="171986" y="150153"/>
                  <a:pt x="169575" y="154205"/>
                </a:cubicBezTo>
                <a:cubicBezTo>
                  <a:pt x="167164" y="158256"/>
                  <a:pt x="162777" y="160734"/>
                  <a:pt x="158055" y="160734"/>
                </a:cubicBezTo>
                <a:lnTo>
                  <a:pt x="13395" y="160734"/>
                </a:lnTo>
                <a:cubicBezTo>
                  <a:pt x="8673" y="160734"/>
                  <a:pt x="4320" y="158256"/>
                  <a:pt x="1875" y="154205"/>
                </a:cubicBezTo>
                <a:cubicBezTo>
                  <a:pt x="-569" y="150153"/>
                  <a:pt x="-636" y="145130"/>
                  <a:pt x="1607" y="140977"/>
                </a:cubicBezTo>
                <a:lnTo>
                  <a:pt x="73938" y="7032"/>
                </a:lnTo>
                <a:cubicBezTo>
                  <a:pt x="76282" y="2712"/>
                  <a:pt x="80803" y="0"/>
                  <a:pt x="85725" y="0"/>
                </a:cubicBezTo>
                <a:close/>
                <a:moveTo>
                  <a:pt x="85725" y="56257"/>
                </a:moveTo>
                <a:cubicBezTo>
                  <a:pt x="81271" y="56257"/>
                  <a:pt x="77688" y="59840"/>
                  <a:pt x="77688" y="64294"/>
                </a:cubicBezTo>
                <a:lnTo>
                  <a:pt x="77688" y="101798"/>
                </a:lnTo>
                <a:cubicBezTo>
                  <a:pt x="77688" y="106252"/>
                  <a:pt x="81271" y="109835"/>
                  <a:pt x="85725" y="109835"/>
                </a:cubicBezTo>
                <a:cubicBezTo>
                  <a:pt x="90179" y="109835"/>
                  <a:pt x="93762" y="106252"/>
                  <a:pt x="93762" y="101798"/>
                </a:cubicBezTo>
                <a:lnTo>
                  <a:pt x="93762" y="64294"/>
                </a:lnTo>
                <a:cubicBezTo>
                  <a:pt x="93762" y="59840"/>
                  <a:pt x="90179" y="56257"/>
                  <a:pt x="85725" y="56257"/>
                </a:cubicBezTo>
                <a:close/>
                <a:moveTo>
                  <a:pt x="94666" y="128588"/>
                </a:moveTo>
                <a:cubicBezTo>
                  <a:pt x="94869" y="125269"/>
                  <a:pt x="93214" y="122111"/>
                  <a:pt x="90369" y="120390"/>
                </a:cubicBezTo>
                <a:cubicBezTo>
                  <a:pt x="87524" y="118670"/>
                  <a:pt x="83959" y="118670"/>
                  <a:pt x="81114" y="120390"/>
                </a:cubicBezTo>
                <a:cubicBezTo>
                  <a:pt x="78269" y="122111"/>
                  <a:pt x="76614" y="125269"/>
                  <a:pt x="76818" y="128587"/>
                </a:cubicBezTo>
                <a:cubicBezTo>
                  <a:pt x="76614" y="131906"/>
                  <a:pt x="78269" y="135064"/>
                  <a:pt x="81114" y="136785"/>
                </a:cubicBezTo>
                <a:cubicBezTo>
                  <a:pt x="83959" y="138505"/>
                  <a:pt x="87524" y="138505"/>
                  <a:pt x="90369" y="136785"/>
                </a:cubicBezTo>
                <a:cubicBezTo>
                  <a:pt x="93214" y="135064"/>
                  <a:pt x="94869" y="131906"/>
                  <a:pt x="94666" y="128588"/>
                </a:cubicBezTo>
                <a:close/>
              </a:path>
            </a:pathLst>
          </a:custGeom>
          <a:solidFill>
            <a:srgbClr val="4A9D9C"/>
          </a:solidFill>
          <a:ln/>
        </p:spPr>
        <p:txBody>
          <a:bodyPr/>
          <a:lstStyle/>
          <a:p>
            <a:endParaRPr lang="en-US"/>
          </a:p>
        </p:txBody>
      </p:sp>
      <p:sp>
        <p:nvSpPr>
          <p:cNvPr id="39" name="Text 37"/>
          <p:cNvSpPr/>
          <p:nvPr/>
        </p:nvSpPr>
        <p:spPr>
          <a:xfrm>
            <a:off x="823913" y="5486400"/>
            <a:ext cx="10001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Overfitting</a:t>
            </a:r>
            <a:endParaRPr lang="en-US" sz="1600" dirty="0"/>
          </a:p>
        </p:txBody>
      </p:sp>
      <p:sp>
        <p:nvSpPr>
          <p:cNvPr id="40" name="Text 38"/>
          <p:cNvSpPr/>
          <p:nvPr/>
        </p:nvSpPr>
        <p:spPr>
          <a:xfrm>
            <a:off x="533400" y="5829300"/>
            <a:ext cx="5410200" cy="49530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When analysis matches training data too closely, creating errors. Requires </a:t>
            </a:r>
            <a:r>
              <a:rPr lang="en-US" sz="1200" b="1" dirty="0">
                <a:solidFill>
                  <a:srgbClr val="4A9D9C"/>
                </a:solidFill>
                <a:latin typeface="Quattrocento Sans" pitchFamily="34" charset="0"/>
                <a:ea typeface="Quattrocento Sans" pitchFamily="34" charset="-122"/>
                <a:cs typeface="Quattrocento Sans" pitchFamily="34" charset="-120"/>
              </a:rPr>
              <a:t>cross-validation</a:t>
            </a:r>
            <a:r>
              <a:rPr lang="en-US" sz="1200" dirty="0">
                <a:solidFill>
                  <a:srgbClr val="E0E2E5"/>
                </a:solidFill>
                <a:latin typeface="Quattrocento Sans" pitchFamily="34" charset="0"/>
                <a:ea typeface="Quattrocento Sans" pitchFamily="34" charset="-122"/>
                <a:cs typeface="Quattrocento Sans" pitchFamily="34" charset="-120"/>
              </a:rPr>
              <a:t> with separate testing and training data.</a:t>
            </a:r>
            <a:endParaRPr lang="en-US" sz="1600" dirty="0"/>
          </a:p>
        </p:txBody>
      </p:sp>
      <p:sp>
        <p:nvSpPr>
          <p:cNvPr id="41" name="Shape 39"/>
          <p:cNvSpPr/>
          <p:nvPr/>
        </p:nvSpPr>
        <p:spPr>
          <a:xfrm>
            <a:off x="6172200" y="5334000"/>
            <a:ext cx="5638800" cy="1143000"/>
          </a:xfrm>
          <a:custGeom>
            <a:avLst/>
            <a:gdLst/>
            <a:ahLst/>
            <a:cxnLst/>
            <a:rect l="l" t="t" r="r" b="b"/>
            <a:pathLst>
              <a:path w="5638800" h="1143000">
                <a:moveTo>
                  <a:pt x="38096" y="0"/>
                </a:moveTo>
                <a:lnTo>
                  <a:pt x="5600704" y="0"/>
                </a:lnTo>
                <a:cubicBezTo>
                  <a:pt x="5621744" y="0"/>
                  <a:pt x="5638800" y="17056"/>
                  <a:pt x="5638800" y="38096"/>
                </a:cubicBezTo>
                <a:lnTo>
                  <a:pt x="5638800" y="1104904"/>
                </a:lnTo>
                <a:cubicBezTo>
                  <a:pt x="5638800" y="1125944"/>
                  <a:pt x="5621744" y="1143000"/>
                  <a:pt x="5600704" y="1143000"/>
                </a:cubicBezTo>
                <a:lnTo>
                  <a:pt x="38096" y="1143000"/>
                </a:lnTo>
                <a:cubicBezTo>
                  <a:pt x="17056" y="1143000"/>
                  <a:pt x="0" y="1125944"/>
                  <a:pt x="0" y="1104904"/>
                </a:cubicBezTo>
                <a:lnTo>
                  <a:pt x="0" y="38096"/>
                </a:lnTo>
                <a:cubicBezTo>
                  <a:pt x="0" y="17070"/>
                  <a:pt x="17070" y="0"/>
                  <a:pt x="38096" y="0"/>
                </a:cubicBezTo>
                <a:close/>
              </a:path>
            </a:pathLst>
          </a:custGeom>
          <a:solidFill>
            <a:srgbClr val="3D4F5F"/>
          </a:solidFill>
          <a:ln/>
        </p:spPr>
        <p:txBody>
          <a:bodyPr/>
          <a:lstStyle/>
          <a:p>
            <a:endParaRPr lang="en-US"/>
          </a:p>
        </p:txBody>
      </p:sp>
      <p:sp>
        <p:nvSpPr>
          <p:cNvPr id="42" name="Shape 40"/>
          <p:cNvSpPr/>
          <p:nvPr/>
        </p:nvSpPr>
        <p:spPr>
          <a:xfrm>
            <a:off x="6348413" y="5534025"/>
            <a:ext cx="171450" cy="171450"/>
          </a:xfrm>
          <a:custGeom>
            <a:avLst/>
            <a:gdLst/>
            <a:ahLst/>
            <a:cxnLst/>
            <a:rect l="l" t="t" r="r" b="b"/>
            <a:pathLst>
              <a:path w="171450" h="171450">
                <a:moveTo>
                  <a:pt x="147172" y="2344"/>
                </a:moveTo>
                <a:cubicBezTo>
                  <a:pt x="150320" y="-804"/>
                  <a:pt x="155410" y="-804"/>
                  <a:pt x="158524" y="2344"/>
                </a:cubicBezTo>
                <a:lnTo>
                  <a:pt x="169240" y="13060"/>
                </a:lnTo>
                <a:cubicBezTo>
                  <a:pt x="172388" y="16207"/>
                  <a:pt x="172388" y="21297"/>
                  <a:pt x="169240" y="24412"/>
                </a:cubicBezTo>
                <a:lnTo>
                  <a:pt x="140107" y="53545"/>
                </a:lnTo>
                <a:lnTo>
                  <a:pt x="153166" y="66604"/>
                </a:lnTo>
                <a:cubicBezTo>
                  <a:pt x="155477" y="68915"/>
                  <a:pt x="156147" y="72364"/>
                  <a:pt x="154908" y="75378"/>
                </a:cubicBezTo>
                <a:cubicBezTo>
                  <a:pt x="153669" y="78391"/>
                  <a:pt x="150755" y="80367"/>
                  <a:pt x="147507" y="80367"/>
                </a:cubicBezTo>
                <a:lnTo>
                  <a:pt x="99287" y="80367"/>
                </a:lnTo>
                <a:cubicBezTo>
                  <a:pt x="94833" y="80367"/>
                  <a:pt x="91250" y="76784"/>
                  <a:pt x="91250" y="72330"/>
                </a:cubicBezTo>
                <a:lnTo>
                  <a:pt x="91250" y="24110"/>
                </a:lnTo>
                <a:cubicBezTo>
                  <a:pt x="91250" y="20862"/>
                  <a:pt x="93192" y="17915"/>
                  <a:pt x="96206" y="16676"/>
                </a:cubicBezTo>
                <a:cubicBezTo>
                  <a:pt x="99220" y="15437"/>
                  <a:pt x="102669" y="16107"/>
                  <a:pt x="104980" y="18417"/>
                </a:cubicBezTo>
                <a:lnTo>
                  <a:pt x="118039" y="31477"/>
                </a:lnTo>
                <a:lnTo>
                  <a:pt x="147172" y="2344"/>
                </a:lnTo>
                <a:close/>
                <a:moveTo>
                  <a:pt x="24278" y="91083"/>
                </a:moveTo>
                <a:lnTo>
                  <a:pt x="72498" y="91083"/>
                </a:lnTo>
                <a:cubicBezTo>
                  <a:pt x="76952" y="91083"/>
                  <a:pt x="80535" y="94666"/>
                  <a:pt x="80535" y="99120"/>
                </a:cubicBezTo>
                <a:lnTo>
                  <a:pt x="80535" y="147340"/>
                </a:lnTo>
                <a:cubicBezTo>
                  <a:pt x="80535" y="150588"/>
                  <a:pt x="78592" y="153535"/>
                  <a:pt x="75579" y="154774"/>
                </a:cubicBezTo>
                <a:cubicBezTo>
                  <a:pt x="72565" y="156013"/>
                  <a:pt x="69116" y="155343"/>
                  <a:pt x="66805" y="153033"/>
                </a:cubicBezTo>
                <a:lnTo>
                  <a:pt x="53746" y="139973"/>
                </a:lnTo>
                <a:lnTo>
                  <a:pt x="24612" y="169106"/>
                </a:lnTo>
                <a:cubicBezTo>
                  <a:pt x="21465" y="172254"/>
                  <a:pt x="16375" y="172254"/>
                  <a:pt x="13261" y="169106"/>
                </a:cubicBezTo>
                <a:lnTo>
                  <a:pt x="2545" y="158390"/>
                </a:lnTo>
                <a:cubicBezTo>
                  <a:pt x="-603" y="155243"/>
                  <a:pt x="-603" y="150153"/>
                  <a:pt x="2545" y="147038"/>
                </a:cubicBezTo>
                <a:lnTo>
                  <a:pt x="31678" y="117905"/>
                </a:lnTo>
                <a:lnTo>
                  <a:pt x="18618" y="104846"/>
                </a:lnTo>
                <a:cubicBezTo>
                  <a:pt x="16308" y="102535"/>
                  <a:pt x="15638" y="99086"/>
                  <a:pt x="16877" y="96072"/>
                </a:cubicBezTo>
                <a:cubicBezTo>
                  <a:pt x="18116" y="93059"/>
                  <a:pt x="21029" y="91083"/>
                  <a:pt x="24278" y="91083"/>
                </a:cubicBezTo>
                <a:close/>
              </a:path>
            </a:pathLst>
          </a:custGeom>
          <a:solidFill>
            <a:srgbClr val="4A9D9C"/>
          </a:solidFill>
          <a:ln/>
        </p:spPr>
        <p:txBody>
          <a:bodyPr/>
          <a:lstStyle/>
          <a:p>
            <a:endParaRPr lang="en-US"/>
          </a:p>
        </p:txBody>
      </p:sp>
      <p:sp>
        <p:nvSpPr>
          <p:cNvPr id="43" name="Text 41"/>
          <p:cNvSpPr/>
          <p:nvPr/>
        </p:nvSpPr>
        <p:spPr>
          <a:xfrm>
            <a:off x="6615113" y="5486400"/>
            <a:ext cx="11144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Underfitting</a:t>
            </a:r>
            <a:endParaRPr lang="en-US" sz="1600" dirty="0"/>
          </a:p>
        </p:txBody>
      </p:sp>
      <p:sp>
        <p:nvSpPr>
          <p:cNvPr id="44" name="Text 42"/>
          <p:cNvSpPr/>
          <p:nvPr/>
        </p:nvSpPr>
        <p:spPr>
          <a:xfrm>
            <a:off x="6324600" y="5829300"/>
            <a:ext cx="5410200" cy="495300"/>
          </a:xfrm>
          <a:prstGeom prst="rect">
            <a:avLst/>
          </a:prstGeom>
          <a:noFill/>
          <a:ln/>
        </p:spPr>
        <p:txBody>
          <a:bodyPr wrap="square" lIns="0" tIns="0" rIns="0" bIns="0" rtlCol="0" anchor="ctr"/>
          <a:lstStyle/>
          <a:p>
            <a:pPr>
              <a:lnSpc>
                <a:spcPct val="140000"/>
              </a:lnSpc>
            </a:pPr>
            <a:r>
              <a:rPr lang="en-US" sz="1200" b="1" dirty="0">
                <a:solidFill>
                  <a:srgbClr val="4A9D9C"/>
                </a:solidFill>
                <a:latin typeface="Quattrocento Sans" pitchFamily="34" charset="0"/>
                <a:ea typeface="Quattrocento Sans" pitchFamily="34" charset="-122"/>
                <a:cs typeface="Quattrocento Sans" pitchFamily="34" charset="-120"/>
              </a:rPr>
              <a:t>Oversimplifying the data</a:t>
            </a:r>
            <a:r>
              <a:rPr lang="en-US" sz="1200" dirty="0">
                <a:solidFill>
                  <a:srgbClr val="E0E2E5"/>
                </a:solidFill>
                <a:latin typeface="Quattrocento Sans" pitchFamily="34" charset="0"/>
                <a:ea typeface="Quattrocento Sans" pitchFamily="34" charset="-122"/>
                <a:cs typeface="Quattrocento Sans" pitchFamily="34" charset="-120"/>
              </a:rPr>
              <a:t>, representing only part of the picture. This is harmful because it misses critical insights.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1428750"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Methodology</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Manual vs. Automated Analysis</a:t>
            </a:r>
            <a:endParaRPr lang="en-US" sz="1600" dirty="0"/>
          </a:p>
        </p:txBody>
      </p:sp>
      <p:sp>
        <p:nvSpPr>
          <p:cNvPr id="5" name="Text 3"/>
          <p:cNvSpPr/>
          <p:nvPr/>
        </p:nvSpPr>
        <p:spPr>
          <a:xfrm>
            <a:off x="381000" y="1638300"/>
            <a:ext cx="11515725" cy="561975"/>
          </a:xfrm>
          <a:prstGeom prst="rect">
            <a:avLst/>
          </a:prstGeom>
          <a:noFill/>
          <a:ln/>
        </p:spPr>
        <p:txBody>
          <a:bodyPr wrap="square" lIns="26670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Your business likely collects data every minute. This data tells a </a:t>
            </a:r>
            <a:r>
              <a:rPr lang="en-US" sz="1350" b="1" dirty="0">
                <a:solidFill>
                  <a:srgbClr val="4A9D9C"/>
                </a:solidFill>
                <a:latin typeface="Quattrocento Sans" pitchFamily="34" charset="0"/>
                <a:ea typeface="Quattrocento Sans" pitchFamily="34" charset="-122"/>
                <a:cs typeface="Quattrocento Sans" pitchFamily="34" charset="-120"/>
              </a:rPr>
              <a:t>hidden story about your company's performance</a:t>
            </a:r>
            <a:r>
              <a:rPr lang="en-US" sz="1350" dirty="0">
                <a:solidFill>
                  <a:srgbClr val="E0E2E5"/>
                </a:solidFill>
                <a:latin typeface="Quattrocento Sans" pitchFamily="34" charset="0"/>
                <a:ea typeface="Quattrocento Sans" pitchFamily="34" charset="-122"/>
                <a:cs typeface="Quattrocento Sans" pitchFamily="34" charset="-120"/>
              </a:rPr>
              <a:t>, but you need critical examination to understand what it means.</a:t>
            </a:r>
            <a:endParaRPr lang="en-US" sz="1600" dirty="0"/>
          </a:p>
        </p:txBody>
      </p:sp>
      <p:sp>
        <p:nvSpPr>
          <p:cNvPr id="6" name="Shape 4"/>
          <p:cNvSpPr/>
          <p:nvPr/>
        </p:nvSpPr>
        <p:spPr>
          <a:xfrm>
            <a:off x="400050" y="2347913"/>
            <a:ext cx="5581650" cy="1714500"/>
          </a:xfrm>
          <a:custGeom>
            <a:avLst/>
            <a:gdLst/>
            <a:ahLst/>
            <a:cxnLst/>
            <a:rect l="l" t="t" r="r" b="b"/>
            <a:pathLst>
              <a:path w="5581650" h="1714500">
                <a:moveTo>
                  <a:pt x="38096" y="0"/>
                </a:moveTo>
                <a:lnTo>
                  <a:pt x="5543554" y="0"/>
                </a:lnTo>
                <a:cubicBezTo>
                  <a:pt x="5564594" y="0"/>
                  <a:pt x="5581650" y="17056"/>
                  <a:pt x="5581650" y="38096"/>
                </a:cubicBezTo>
                <a:lnTo>
                  <a:pt x="5581650" y="1676404"/>
                </a:lnTo>
                <a:cubicBezTo>
                  <a:pt x="5581650" y="1697444"/>
                  <a:pt x="5564594" y="1714500"/>
                  <a:pt x="5543554" y="1714500"/>
                </a:cubicBezTo>
                <a:lnTo>
                  <a:pt x="38096" y="1714500"/>
                </a:lnTo>
                <a:cubicBezTo>
                  <a:pt x="17056" y="1714500"/>
                  <a:pt x="0" y="1697444"/>
                  <a:pt x="0" y="1676404"/>
                </a:cubicBezTo>
                <a:lnTo>
                  <a:pt x="0" y="38096"/>
                </a:lnTo>
                <a:cubicBezTo>
                  <a:pt x="0" y="17070"/>
                  <a:pt x="17070" y="0"/>
                  <a:pt x="38096" y="0"/>
                </a:cubicBezTo>
                <a:close/>
              </a:path>
            </a:pathLst>
          </a:custGeom>
          <a:solidFill>
            <a:srgbClr val="3D4F5F"/>
          </a:solidFill>
          <a:ln/>
        </p:spPr>
        <p:txBody>
          <a:bodyPr/>
          <a:lstStyle/>
          <a:p>
            <a:endParaRPr lang="en-US"/>
          </a:p>
        </p:txBody>
      </p:sp>
      <p:sp>
        <p:nvSpPr>
          <p:cNvPr id="7" name="Shape 5"/>
          <p:cNvSpPr/>
          <p:nvPr/>
        </p:nvSpPr>
        <p:spPr>
          <a:xfrm>
            <a:off x="400050" y="2347913"/>
            <a:ext cx="38100" cy="1714500"/>
          </a:xfrm>
          <a:custGeom>
            <a:avLst/>
            <a:gdLst/>
            <a:ahLst/>
            <a:cxnLst/>
            <a:rect l="l" t="t" r="r" b="b"/>
            <a:pathLst>
              <a:path w="38100" h="1714500">
                <a:moveTo>
                  <a:pt x="38100" y="0"/>
                </a:moveTo>
                <a:lnTo>
                  <a:pt x="38100" y="0"/>
                </a:lnTo>
                <a:lnTo>
                  <a:pt x="38100" y="1714500"/>
                </a:lnTo>
                <a:lnTo>
                  <a:pt x="38100" y="1714500"/>
                </a:lnTo>
                <a:cubicBezTo>
                  <a:pt x="17072" y="1714500"/>
                  <a:pt x="0" y="1697428"/>
                  <a:pt x="0" y="1676400"/>
                </a:cubicBezTo>
                <a:lnTo>
                  <a:pt x="0" y="38100"/>
                </a:lnTo>
                <a:cubicBezTo>
                  <a:pt x="0" y="17072"/>
                  <a:pt x="17072" y="0"/>
                  <a:pt x="38100" y="0"/>
                </a:cubicBezTo>
                <a:close/>
              </a:path>
            </a:pathLst>
          </a:custGeom>
          <a:solidFill>
            <a:srgbClr val="6B7B83"/>
          </a:solidFill>
          <a:ln/>
        </p:spPr>
        <p:txBody>
          <a:bodyPr/>
          <a:lstStyle/>
          <a:p>
            <a:endParaRPr lang="en-US"/>
          </a:p>
        </p:txBody>
      </p:sp>
      <p:sp>
        <p:nvSpPr>
          <p:cNvPr id="8" name="Shape 6"/>
          <p:cNvSpPr/>
          <p:nvPr/>
        </p:nvSpPr>
        <p:spPr>
          <a:xfrm>
            <a:off x="571500" y="250031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6B7B83"/>
          </a:solidFill>
          <a:ln/>
        </p:spPr>
        <p:txBody>
          <a:bodyPr/>
          <a:lstStyle/>
          <a:p>
            <a:endParaRPr lang="en-US"/>
          </a:p>
        </p:txBody>
      </p:sp>
      <p:sp>
        <p:nvSpPr>
          <p:cNvPr id="9" name="Shape 7"/>
          <p:cNvSpPr/>
          <p:nvPr/>
        </p:nvSpPr>
        <p:spPr>
          <a:xfrm>
            <a:off x="716756" y="2633663"/>
            <a:ext cx="166688" cy="190500"/>
          </a:xfrm>
          <a:custGeom>
            <a:avLst/>
            <a:gdLst/>
            <a:ahLst/>
            <a:cxnLst/>
            <a:rect l="l" t="t" r="r" b="b"/>
            <a:pathLst>
              <a:path w="166688" h="190500">
                <a:moveTo>
                  <a:pt x="83344" y="92273"/>
                </a:moveTo>
                <a:cubicBezTo>
                  <a:pt x="107986" y="92273"/>
                  <a:pt x="127992" y="72267"/>
                  <a:pt x="127992" y="47625"/>
                </a:cubicBezTo>
                <a:cubicBezTo>
                  <a:pt x="127992" y="22983"/>
                  <a:pt x="107986" y="2977"/>
                  <a:pt x="83344" y="2977"/>
                </a:cubicBezTo>
                <a:cubicBezTo>
                  <a:pt x="58702" y="2977"/>
                  <a:pt x="38695" y="22983"/>
                  <a:pt x="38695" y="47625"/>
                </a:cubicBezTo>
                <a:cubicBezTo>
                  <a:pt x="38695" y="72267"/>
                  <a:pt x="58702" y="92273"/>
                  <a:pt x="83344" y="92273"/>
                </a:cubicBezTo>
                <a:close/>
                <a:moveTo>
                  <a:pt x="72293" y="113109"/>
                </a:moveTo>
                <a:cubicBezTo>
                  <a:pt x="35644" y="113109"/>
                  <a:pt x="5953" y="142801"/>
                  <a:pt x="5953" y="179450"/>
                </a:cubicBezTo>
                <a:cubicBezTo>
                  <a:pt x="5953" y="185551"/>
                  <a:pt x="10902" y="190500"/>
                  <a:pt x="17004" y="190500"/>
                </a:cubicBezTo>
                <a:lnTo>
                  <a:pt x="149684" y="190500"/>
                </a:lnTo>
                <a:cubicBezTo>
                  <a:pt x="155786" y="190500"/>
                  <a:pt x="160734" y="185551"/>
                  <a:pt x="160734" y="179450"/>
                </a:cubicBezTo>
                <a:cubicBezTo>
                  <a:pt x="160734" y="142801"/>
                  <a:pt x="131043" y="113109"/>
                  <a:pt x="94394" y="113109"/>
                </a:cubicBezTo>
                <a:lnTo>
                  <a:pt x="72293" y="113109"/>
                </a:lnTo>
                <a:close/>
              </a:path>
            </a:pathLst>
          </a:custGeom>
          <a:solidFill>
            <a:srgbClr val="E0E2E5"/>
          </a:solidFill>
          <a:ln/>
        </p:spPr>
        <p:txBody>
          <a:bodyPr/>
          <a:lstStyle/>
          <a:p>
            <a:endParaRPr lang="en-US"/>
          </a:p>
        </p:txBody>
      </p:sp>
      <p:sp>
        <p:nvSpPr>
          <p:cNvPr id="10" name="Text 8"/>
          <p:cNvSpPr/>
          <p:nvPr/>
        </p:nvSpPr>
        <p:spPr>
          <a:xfrm>
            <a:off x="1143000" y="2576513"/>
            <a:ext cx="1714500" cy="304800"/>
          </a:xfrm>
          <a:prstGeom prst="rect">
            <a:avLst/>
          </a:prstGeom>
          <a:noFill/>
          <a:ln/>
        </p:spPr>
        <p:txBody>
          <a:bodyPr wrap="square" lIns="0" tIns="0" rIns="0" bIns="0" rtlCol="0" anchor="ctr"/>
          <a:lstStyle/>
          <a:p>
            <a:pPr>
              <a:lnSpc>
                <a:spcPct val="110000"/>
              </a:lnSpc>
            </a:pPr>
            <a:r>
              <a:rPr lang="en-US" sz="1800" b="1" dirty="0">
                <a:solidFill>
                  <a:srgbClr val="6B7B83"/>
                </a:solidFill>
                <a:latin typeface="Liter" pitchFamily="34" charset="0"/>
                <a:ea typeface="Liter" pitchFamily="34" charset="-122"/>
                <a:cs typeface="Liter" pitchFamily="34" charset="-120"/>
              </a:rPr>
              <a:t>Manual Process</a:t>
            </a:r>
            <a:endParaRPr lang="en-US" sz="1600" dirty="0"/>
          </a:p>
        </p:txBody>
      </p:sp>
      <p:sp>
        <p:nvSpPr>
          <p:cNvPr id="11" name="Shape 9"/>
          <p:cNvSpPr/>
          <p:nvPr/>
        </p:nvSpPr>
        <p:spPr>
          <a:xfrm>
            <a:off x="590550" y="3109913"/>
            <a:ext cx="152400" cy="152400"/>
          </a:xfrm>
          <a:custGeom>
            <a:avLst/>
            <a:gdLst/>
            <a:ahLst/>
            <a:cxnLst/>
            <a:rect l="l" t="t" r="r" b="b"/>
            <a:pathLst>
              <a:path w="152400" h="152400">
                <a:moveTo>
                  <a:pt x="76200" y="0"/>
                </a:moveTo>
                <a:cubicBezTo>
                  <a:pt x="118256" y="0"/>
                  <a:pt x="152400" y="34144"/>
                  <a:pt x="152400" y="76200"/>
                </a:cubicBezTo>
                <a:cubicBezTo>
                  <a:pt x="152400" y="118256"/>
                  <a:pt x="118256" y="152400"/>
                  <a:pt x="76200" y="152400"/>
                </a:cubicBezTo>
                <a:cubicBezTo>
                  <a:pt x="34144" y="152400"/>
                  <a:pt x="0" y="118256"/>
                  <a:pt x="0" y="76200"/>
                </a:cubicBezTo>
                <a:cubicBezTo>
                  <a:pt x="0" y="34144"/>
                  <a:pt x="34144" y="0"/>
                  <a:pt x="76200" y="0"/>
                </a:cubicBezTo>
                <a:close/>
                <a:moveTo>
                  <a:pt x="69056" y="35719"/>
                </a:moveTo>
                <a:lnTo>
                  <a:pt x="69056" y="76200"/>
                </a:lnTo>
                <a:cubicBezTo>
                  <a:pt x="69056" y="78581"/>
                  <a:pt x="70247" y="80814"/>
                  <a:pt x="72241" y="82153"/>
                </a:cubicBezTo>
                <a:lnTo>
                  <a:pt x="100816" y="101203"/>
                </a:lnTo>
                <a:cubicBezTo>
                  <a:pt x="104090" y="103406"/>
                  <a:pt x="108525" y="102513"/>
                  <a:pt x="110728" y="99209"/>
                </a:cubicBezTo>
                <a:cubicBezTo>
                  <a:pt x="112931" y="95905"/>
                  <a:pt x="112038" y="91500"/>
                  <a:pt x="108734" y="89297"/>
                </a:cubicBezTo>
                <a:lnTo>
                  <a:pt x="83344" y="72390"/>
                </a:lnTo>
                <a:lnTo>
                  <a:pt x="83344" y="35719"/>
                </a:lnTo>
                <a:cubicBezTo>
                  <a:pt x="83344" y="31760"/>
                  <a:pt x="80159" y="28575"/>
                  <a:pt x="76200" y="28575"/>
                </a:cubicBezTo>
                <a:cubicBezTo>
                  <a:pt x="72241" y="28575"/>
                  <a:pt x="69056" y="31760"/>
                  <a:pt x="69056" y="35719"/>
                </a:cubicBezTo>
                <a:close/>
              </a:path>
            </a:pathLst>
          </a:custGeom>
          <a:solidFill>
            <a:srgbClr val="6B7B83"/>
          </a:solidFill>
          <a:ln/>
        </p:spPr>
        <p:txBody>
          <a:bodyPr/>
          <a:lstStyle/>
          <a:p>
            <a:endParaRPr lang="en-US"/>
          </a:p>
        </p:txBody>
      </p:sp>
      <p:sp>
        <p:nvSpPr>
          <p:cNvPr id="12" name="Text 10"/>
          <p:cNvSpPr/>
          <p:nvPr/>
        </p:nvSpPr>
        <p:spPr>
          <a:xfrm>
            <a:off x="838200" y="3071813"/>
            <a:ext cx="392430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Time-consuming: analysts spend hours crunching datasets</a:t>
            </a:r>
            <a:endParaRPr lang="en-US" sz="1600" dirty="0"/>
          </a:p>
        </p:txBody>
      </p:sp>
      <p:sp>
        <p:nvSpPr>
          <p:cNvPr id="13" name="Shape 11"/>
          <p:cNvSpPr/>
          <p:nvPr/>
        </p:nvSpPr>
        <p:spPr>
          <a:xfrm>
            <a:off x="590550" y="341471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0481"/>
                </a:moveTo>
                <a:cubicBezTo>
                  <a:pt x="80159" y="40481"/>
                  <a:pt x="83344" y="43666"/>
                  <a:pt x="83344" y="47625"/>
                </a:cubicBezTo>
                <a:lnTo>
                  <a:pt x="83344" y="80962"/>
                </a:lnTo>
                <a:cubicBezTo>
                  <a:pt x="83344" y="84921"/>
                  <a:pt x="80159" y="88106"/>
                  <a:pt x="76200" y="88106"/>
                </a:cubicBezTo>
                <a:cubicBezTo>
                  <a:pt x="72241" y="88106"/>
                  <a:pt x="69056" y="84921"/>
                  <a:pt x="69056" y="80962"/>
                </a:cubicBezTo>
                <a:lnTo>
                  <a:pt x="69056" y="47625"/>
                </a:lnTo>
                <a:cubicBezTo>
                  <a:pt x="69056" y="43666"/>
                  <a:pt x="72241" y="40481"/>
                  <a:pt x="76200" y="40481"/>
                </a:cubicBezTo>
                <a:close/>
                <a:moveTo>
                  <a:pt x="68253" y="104775"/>
                </a:moveTo>
                <a:cubicBezTo>
                  <a:pt x="68072" y="101825"/>
                  <a:pt x="69543" y="99018"/>
                  <a:pt x="72072" y="97489"/>
                </a:cubicBezTo>
                <a:cubicBezTo>
                  <a:pt x="74601" y="95959"/>
                  <a:pt x="77770" y="95959"/>
                  <a:pt x="80298" y="97489"/>
                </a:cubicBezTo>
                <a:cubicBezTo>
                  <a:pt x="82827" y="99018"/>
                  <a:pt x="84298" y="101825"/>
                  <a:pt x="84118" y="104775"/>
                </a:cubicBezTo>
                <a:cubicBezTo>
                  <a:pt x="84298" y="107725"/>
                  <a:pt x="82827" y="110532"/>
                  <a:pt x="80298" y="112061"/>
                </a:cubicBezTo>
                <a:cubicBezTo>
                  <a:pt x="77770" y="113591"/>
                  <a:pt x="74601" y="113591"/>
                  <a:pt x="72072" y="112061"/>
                </a:cubicBezTo>
                <a:cubicBezTo>
                  <a:pt x="69543" y="110532"/>
                  <a:pt x="68072" y="107725"/>
                  <a:pt x="68253" y="104775"/>
                </a:cubicBezTo>
                <a:close/>
              </a:path>
            </a:pathLst>
          </a:custGeom>
          <a:solidFill>
            <a:srgbClr val="6B7B83"/>
          </a:solidFill>
          <a:ln/>
        </p:spPr>
        <p:txBody>
          <a:bodyPr/>
          <a:lstStyle/>
          <a:p>
            <a:endParaRPr lang="en-US"/>
          </a:p>
        </p:txBody>
      </p:sp>
      <p:sp>
        <p:nvSpPr>
          <p:cNvPr id="14" name="Text 12"/>
          <p:cNvSpPr/>
          <p:nvPr/>
        </p:nvSpPr>
        <p:spPr>
          <a:xfrm>
            <a:off x="838200" y="3376613"/>
            <a:ext cx="304800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Human error: mistakes can change outcomes</a:t>
            </a:r>
            <a:endParaRPr lang="en-US" sz="1600" dirty="0"/>
          </a:p>
        </p:txBody>
      </p:sp>
      <p:sp>
        <p:nvSpPr>
          <p:cNvPr id="15" name="Shape 13"/>
          <p:cNvSpPr/>
          <p:nvPr/>
        </p:nvSpPr>
        <p:spPr>
          <a:xfrm>
            <a:off x="590550" y="3719512"/>
            <a:ext cx="152400" cy="152400"/>
          </a:xfrm>
          <a:custGeom>
            <a:avLst/>
            <a:gdLst/>
            <a:ahLst/>
            <a:cxnLst/>
            <a:rect l="l" t="t" r="r" b="b"/>
            <a:pathLst>
              <a:path w="152400" h="152400">
                <a:moveTo>
                  <a:pt x="123825" y="61912"/>
                </a:moveTo>
                <a:cubicBezTo>
                  <a:pt x="123825" y="75575"/>
                  <a:pt x="119390" y="88196"/>
                  <a:pt x="111919" y="98435"/>
                </a:cubicBezTo>
                <a:lnTo>
                  <a:pt x="149602" y="136148"/>
                </a:lnTo>
                <a:cubicBezTo>
                  <a:pt x="153323" y="139869"/>
                  <a:pt x="153323" y="145911"/>
                  <a:pt x="149602" y="149632"/>
                </a:cubicBezTo>
                <a:cubicBezTo>
                  <a:pt x="145881" y="153353"/>
                  <a:pt x="139839" y="153353"/>
                  <a:pt x="136118" y="149632"/>
                </a:cubicBezTo>
                <a:lnTo>
                  <a:pt x="98435" y="111919"/>
                </a:lnTo>
                <a:cubicBezTo>
                  <a:pt x="88196" y="119390"/>
                  <a:pt x="75575" y="123825"/>
                  <a:pt x="61912" y="123825"/>
                </a:cubicBezTo>
                <a:cubicBezTo>
                  <a:pt x="27712" y="123825"/>
                  <a:pt x="0" y="96113"/>
                  <a:pt x="0" y="61912"/>
                </a:cubicBezTo>
                <a:cubicBezTo>
                  <a:pt x="0" y="27712"/>
                  <a:pt x="27712" y="0"/>
                  <a:pt x="61912" y="0"/>
                </a:cubicBezTo>
                <a:cubicBezTo>
                  <a:pt x="96113" y="0"/>
                  <a:pt x="123825" y="27712"/>
                  <a:pt x="123825" y="61912"/>
                </a:cubicBezTo>
                <a:close/>
                <a:moveTo>
                  <a:pt x="61912" y="104775"/>
                </a:moveTo>
                <a:cubicBezTo>
                  <a:pt x="85569" y="104775"/>
                  <a:pt x="104775" y="85569"/>
                  <a:pt x="104775" y="61912"/>
                </a:cubicBezTo>
                <a:cubicBezTo>
                  <a:pt x="104775" y="38256"/>
                  <a:pt x="85569" y="19050"/>
                  <a:pt x="61912" y="19050"/>
                </a:cubicBezTo>
                <a:cubicBezTo>
                  <a:pt x="38256" y="19050"/>
                  <a:pt x="19050" y="38256"/>
                  <a:pt x="19050" y="61912"/>
                </a:cubicBezTo>
                <a:cubicBezTo>
                  <a:pt x="19050" y="85569"/>
                  <a:pt x="38256" y="104775"/>
                  <a:pt x="61912" y="104775"/>
                </a:cubicBezTo>
                <a:close/>
              </a:path>
            </a:pathLst>
          </a:custGeom>
          <a:solidFill>
            <a:srgbClr val="6B7B83"/>
          </a:solidFill>
          <a:ln/>
        </p:spPr>
        <p:txBody>
          <a:bodyPr/>
          <a:lstStyle/>
          <a:p>
            <a:endParaRPr lang="en-US"/>
          </a:p>
        </p:txBody>
      </p:sp>
      <p:sp>
        <p:nvSpPr>
          <p:cNvPr id="16" name="Text 14"/>
          <p:cNvSpPr/>
          <p:nvPr/>
        </p:nvSpPr>
        <p:spPr>
          <a:xfrm>
            <a:off x="838200" y="3681413"/>
            <a:ext cx="32575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Labor-intensive: requires significant analyst time</a:t>
            </a:r>
            <a:endParaRPr lang="en-US" sz="1600" dirty="0"/>
          </a:p>
        </p:txBody>
      </p:sp>
      <p:sp>
        <p:nvSpPr>
          <p:cNvPr id="17" name="Shape 15"/>
          <p:cNvSpPr/>
          <p:nvPr/>
        </p:nvSpPr>
        <p:spPr>
          <a:xfrm>
            <a:off x="400050" y="4214813"/>
            <a:ext cx="5581650" cy="1714500"/>
          </a:xfrm>
          <a:custGeom>
            <a:avLst/>
            <a:gdLst/>
            <a:ahLst/>
            <a:cxnLst/>
            <a:rect l="l" t="t" r="r" b="b"/>
            <a:pathLst>
              <a:path w="5581650" h="1714500">
                <a:moveTo>
                  <a:pt x="38096" y="0"/>
                </a:moveTo>
                <a:lnTo>
                  <a:pt x="5543554" y="0"/>
                </a:lnTo>
                <a:cubicBezTo>
                  <a:pt x="5564594" y="0"/>
                  <a:pt x="5581650" y="17056"/>
                  <a:pt x="5581650" y="38096"/>
                </a:cubicBezTo>
                <a:lnTo>
                  <a:pt x="5581650" y="1676404"/>
                </a:lnTo>
                <a:cubicBezTo>
                  <a:pt x="5581650" y="1697444"/>
                  <a:pt x="5564594" y="1714500"/>
                  <a:pt x="5543554" y="1714500"/>
                </a:cubicBezTo>
                <a:lnTo>
                  <a:pt x="38096" y="1714500"/>
                </a:lnTo>
                <a:cubicBezTo>
                  <a:pt x="17056" y="1714500"/>
                  <a:pt x="0" y="1697444"/>
                  <a:pt x="0" y="1676404"/>
                </a:cubicBezTo>
                <a:lnTo>
                  <a:pt x="0" y="38096"/>
                </a:lnTo>
                <a:cubicBezTo>
                  <a:pt x="0" y="17070"/>
                  <a:pt x="17070" y="0"/>
                  <a:pt x="38096" y="0"/>
                </a:cubicBezTo>
                <a:close/>
              </a:path>
            </a:pathLst>
          </a:custGeom>
          <a:solidFill>
            <a:srgbClr val="3D4F5F"/>
          </a:solidFill>
          <a:ln/>
        </p:spPr>
        <p:txBody>
          <a:bodyPr/>
          <a:lstStyle/>
          <a:p>
            <a:endParaRPr lang="en-US"/>
          </a:p>
        </p:txBody>
      </p:sp>
      <p:sp>
        <p:nvSpPr>
          <p:cNvPr id="18" name="Shape 16"/>
          <p:cNvSpPr/>
          <p:nvPr/>
        </p:nvSpPr>
        <p:spPr>
          <a:xfrm>
            <a:off x="400050" y="4214813"/>
            <a:ext cx="38100" cy="1714500"/>
          </a:xfrm>
          <a:custGeom>
            <a:avLst/>
            <a:gdLst/>
            <a:ahLst/>
            <a:cxnLst/>
            <a:rect l="l" t="t" r="r" b="b"/>
            <a:pathLst>
              <a:path w="38100" h="1714500">
                <a:moveTo>
                  <a:pt x="38100" y="0"/>
                </a:moveTo>
                <a:lnTo>
                  <a:pt x="38100" y="0"/>
                </a:lnTo>
                <a:lnTo>
                  <a:pt x="38100" y="1714500"/>
                </a:lnTo>
                <a:lnTo>
                  <a:pt x="38100" y="1714500"/>
                </a:lnTo>
                <a:cubicBezTo>
                  <a:pt x="17072" y="1714500"/>
                  <a:pt x="0" y="1697428"/>
                  <a:pt x="0" y="1676400"/>
                </a:cubicBezTo>
                <a:lnTo>
                  <a:pt x="0" y="38100"/>
                </a:lnTo>
                <a:cubicBezTo>
                  <a:pt x="0" y="17072"/>
                  <a:pt x="17072" y="0"/>
                  <a:pt x="38100" y="0"/>
                </a:cubicBezTo>
                <a:close/>
              </a:path>
            </a:pathLst>
          </a:custGeom>
          <a:solidFill>
            <a:srgbClr val="4A9D9C"/>
          </a:solidFill>
          <a:ln/>
        </p:spPr>
        <p:txBody>
          <a:bodyPr/>
          <a:lstStyle/>
          <a:p>
            <a:endParaRPr lang="en-US"/>
          </a:p>
        </p:txBody>
      </p:sp>
      <p:sp>
        <p:nvSpPr>
          <p:cNvPr id="19" name="Shape 17"/>
          <p:cNvSpPr/>
          <p:nvPr/>
        </p:nvSpPr>
        <p:spPr>
          <a:xfrm>
            <a:off x="571500" y="436721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20" name="Shape 18"/>
          <p:cNvSpPr/>
          <p:nvPr/>
        </p:nvSpPr>
        <p:spPr>
          <a:xfrm>
            <a:off x="681038" y="4500563"/>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1A1D21"/>
          </a:solidFill>
          <a:ln/>
        </p:spPr>
        <p:txBody>
          <a:bodyPr/>
          <a:lstStyle/>
          <a:p>
            <a:endParaRPr lang="en-US"/>
          </a:p>
        </p:txBody>
      </p:sp>
      <p:sp>
        <p:nvSpPr>
          <p:cNvPr id="21" name="Text 19"/>
          <p:cNvSpPr/>
          <p:nvPr/>
        </p:nvSpPr>
        <p:spPr>
          <a:xfrm>
            <a:off x="1143000" y="4443413"/>
            <a:ext cx="2095500"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Automated Process</a:t>
            </a:r>
            <a:endParaRPr lang="en-US" sz="1600" dirty="0"/>
          </a:p>
        </p:txBody>
      </p:sp>
      <p:sp>
        <p:nvSpPr>
          <p:cNvPr id="22" name="Shape 20"/>
          <p:cNvSpPr/>
          <p:nvPr/>
        </p:nvSpPr>
        <p:spPr>
          <a:xfrm>
            <a:off x="600075" y="4976813"/>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4A9D9C"/>
          </a:solidFill>
          <a:ln/>
        </p:spPr>
        <p:txBody>
          <a:bodyPr/>
          <a:lstStyle/>
          <a:p>
            <a:endParaRPr lang="en-US"/>
          </a:p>
        </p:txBody>
      </p:sp>
      <p:sp>
        <p:nvSpPr>
          <p:cNvPr id="23" name="Text 21"/>
          <p:cNvSpPr/>
          <p:nvPr/>
        </p:nvSpPr>
        <p:spPr>
          <a:xfrm>
            <a:off x="838200" y="4938713"/>
            <a:ext cx="3686175"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Fast and efficient: powered by better algorithms and AI</a:t>
            </a:r>
            <a:endParaRPr lang="en-US" sz="1600" dirty="0"/>
          </a:p>
        </p:txBody>
      </p:sp>
      <p:sp>
        <p:nvSpPr>
          <p:cNvPr id="24" name="Shape 22"/>
          <p:cNvSpPr/>
          <p:nvPr/>
        </p:nvSpPr>
        <p:spPr>
          <a:xfrm>
            <a:off x="590550" y="528161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4A9D9C"/>
          </a:solidFill>
          <a:ln/>
        </p:spPr>
        <p:txBody>
          <a:bodyPr/>
          <a:lstStyle/>
          <a:p>
            <a:endParaRPr lang="en-US"/>
          </a:p>
        </p:txBody>
      </p:sp>
      <p:sp>
        <p:nvSpPr>
          <p:cNvPr id="25" name="Text 23"/>
          <p:cNvSpPr/>
          <p:nvPr/>
        </p:nvSpPr>
        <p:spPr>
          <a:xfrm>
            <a:off x="838200" y="5243513"/>
            <a:ext cx="2924175"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Reduced errors: minimizes human mistakes</a:t>
            </a:r>
            <a:endParaRPr lang="en-US" sz="1600" dirty="0"/>
          </a:p>
        </p:txBody>
      </p:sp>
      <p:sp>
        <p:nvSpPr>
          <p:cNvPr id="26" name="Shape 24"/>
          <p:cNvSpPr/>
          <p:nvPr/>
        </p:nvSpPr>
        <p:spPr>
          <a:xfrm>
            <a:off x="590550" y="5586413"/>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4A9D9C"/>
          </a:solidFill>
          <a:ln/>
        </p:spPr>
        <p:txBody>
          <a:bodyPr/>
          <a:lstStyle/>
          <a:p>
            <a:endParaRPr lang="en-US"/>
          </a:p>
        </p:txBody>
      </p:sp>
      <p:sp>
        <p:nvSpPr>
          <p:cNvPr id="27" name="Text 25"/>
          <p:cNvSpPr/>
          <p:nvPr/>
        </p:nvSpPr>
        <p:spPr>
          <a:xfrm>
            <a:off x="838200" y="5548313"/>
            <a:ext cx="37909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Strategic focus: analysts spend more time on predictions</a:t>
            </a:r>
            <a:endParaRPr lang="en-US" sz="1600" dirty="0"/>
          </a:p>
        </p:txBody>
      </p:sp>
      <p:sp>
        <p:nvSpPr>
          <p:cNvPr id="28" name="Shape 26"/>
          <p:cNvSpPr/>
          <p:nvPr/>
        </p:nvSpPr>
        <p:spPr>
          <a:xfrm>
            <a:off x="6210300" y="2347913"/>
            <a:ext cx="5600700" cy="2228850"/>
          </a:xfrm>
          <a:custGeom>
            <a:avLst/>
            <a:gdLst/>
            <a:ahLst/>
            <a:cxnLst/>
            <a:rect l="l" t="t" r="r" b="b"/>
            <a:pathLst>
              <a:path w="5600700" h="2228850">
                <a:moveTo>
                  <a:pt x="38091" y="0"/>
                </a:moveTo>
                <a:lnTo>
                  <a:pt x="5562609" y="0"/>
                </a:lnTo>
                <a:cubicBezTo>
                  <a:pt x="5583646" y="0"/>
                  <a:pt x="5600700" y="17054"/>
                  <a:pt x="5600700" y="38091"/>
                </a:cubicBezTo>
                <a:lnTo>
                  <a:pt x="5600700" y="2190759"/>
                </a:lnTo>
                <a:cubicBezTo>
                  <a:pt x="5600700" y="2211796"/>
                  <a:pt x="5583646" y="2228850"/>
                  <a:pt x="5562609" y="2228850"/>
                </a:cubicBezTo>
                <a:lnTo>
                  <a:pt x="38091" y="2228850"/>
                </a:lnTo>
                <a:cubicBezTo>
                  <a:pt x="17054" y="2228850"/>
                  <a:pt x="0" y="2211796"/>
                  <a:pt x="0" y="2190759"/>
                </a:cubicBezTo>
                <a:lnTo>
                  <a:pt x="0" y="38091"/>
                </a:lnTo>
                <a:cubicBezTo>
                  <a:pt x="0" y="17068"/>
                  <a:pt x="17068" y="0"/>
                  <a:pt x="38091" y="0"/>
                </a:cubicBezTo>
                <a:close/>
              </a:path>
            </a:pathLst>
          </a:custGeom>
          <a:solidFill>
            <a:srgbClr val="3D4F5F"/>
          </a:solidFill>
          <a:ln/>
        </p:spPr>
        <p:txBody>
          <a:bodyPr/>
          <a:lstStyle/>
          <a:p>
            <a:endParaRPr lang="en-US"/>
          </a:p>
        </p:txBody>
      </p:sp>
      <p:sp>
        <p:nvSpPr>
          <p:cNvPr id="29" name="Text 27"/>
          <p:cNvSpPr/>
          <p:nvPr/>
        </p:nvSpPr>
        <p:spPr>
          <a:xfrm>
            <a:off x="6362700" y="2500313"/>
            <a:ext cx="53911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The Shift to Automation</a:t>
            </a:r>
            <a:endParaRPr lang="en-US" sz="1600" dirty="0"/>
          </a:p>
        </p:txBody>
      </p:sp>
      <p:sp>
        <p:nvSpPr>
          <p:cNvPr id="30" name="Text 28"/>
          <p:cNvSpPr/>
          <p:nvPr/>
        </p:nvSpPr>
        <p:spPr>
          <a:xfrm>
            <a:off x="6362700" y="2881313"/>
            <a:ext cx="5372100" cy="7429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With the rise of </a:t>
            </a:r>
            <a:r>
              <a:rPr lang="en-US" sz="1200" b="1" dirty="0">
                <a:solidFill>
                  <a:srgbClr val="4A9D9C"/>
                </a:solidFill>
                <a:latin typeface="Quattrocento Sans" pitchFamily="34" charset="0"/>
                <a:ea typeface="Quattrocento Sans" pitchFamily="34" charset="-122"/>
                <a:cs typeface="Quattrocento Sans" pitchFamily="34" charset="-120"/>
              </a:rPr>
              <a:t>new technology, faster algorithms, and AI</a:t>
            </a:r>
            <a:r>
              <a:rPr lang="en-US" sz="1200" dirty="0">
                <a:solidFill>
                  <a:srgbClr val="E0E2E5"/>
                </a:solidFill>
                <a:latin typeface="Quattrocento Sans" pitchFamily="34" charset="0"/>
                <a:ea typeface="Quattrocento Sans" pitchFamily="34" charset="-122"/>
                <a:cs typeface="Quattrocento Sans" pitchFamily="34" charset="-120"/>
              </a:rPr>
              <a:t>, data analysis can be an automated process that reduces human error and saves valuable analyst time.</a:t>
            </a:r>
            <a:endParaRPr lang="en-US" sz="1600" dirty="0"/>
          </a:p>
        </p:txBody>
      </p:sp>
      <p:sp>
        <p:nvSpPr>
          <p:cNvPr id="31" name="Shape 29"/>
          <p:cNvSpPr/>
          <p:nvPr/>
        </p:nvSpPr>
        <p:spPr>
          <a:xfrm>
            <a:off x="6362700" y="3738563"/>
            <a:ext cx="5295900" cy="685800"/>
          </a:xfrm>
          <a:custGeom>
            <a:avLst/>
            <a:gdLst/>
            <a:ahLst/>
            <a:cxnLst/>
            <a:rect l="l" t="t" r="r" b="b"/>
            <a:pathLst>
              <a:path w="5295900" h="685800">
                <a:moveTo>
                  <a:pt x="38103" y="0"/>
                </a:moveTo>
                <a:lnTo>
                  <a:pt x="5257797" y="0"/>
                </a:lnTo>
                <a:cubicBezTo>
                  <a:pt x="5278841" y="0"/>
                  <a:pt x="5295900" y="17059"/>
                  <a:pt x="5295900" y="38103"/>
                </a:cubicBezTo>
                <a:lnTo>
                  <a:pt x="5295900" y="647697"/>
                </a:lnTo>
                <a:cubicBezTo>
                  <a:pt x="5295900" y="668741"/>
                  <a:pt x="5278841" y="685800"/>
                  <a:pt x="5257797" y="685800"/>
                </a:cubicBezTo>
                <a:lnTo>
                  <a:pt x="38103" y="685800"/>
                </a:lnTo>
                <a:cubicBezTo>
                  <a:pt x="17059" y="685800"/>
                  <a:pt x="0" y="668741"/>
                  <a:pt x="0" y="647697"/>
                </a:cubicBezTo>
                <a:lnTo>
                  <a:pt x="0" y="38103"/>
                </a:lnTo>
                <a:cubicBezTo>
                  <a:pt x="0" y="17073"/>
                  <a:pt x="17073" y="0"/>
                  <a:pt x="38103" y="0"/>
                </a:cubicBezTo>
                <a:close/>
              </a:path>
            </a:pathLst>
          </a:custGeom>
          <a:solidFill>
            <a:srgbClr val="4A9D9C">
              <a:alpha val="20000"/>
            </a:srgbClr>
          </a:solidFill>
          <a:ln/>
        </p:spPr>
        <p:txBody>
          <a:bodyPr/>
          <a:lstStyle/>
          <a:p>
            <a:endParaRPr lang="en-US"/>
          </a:p>
        </p:txBody>
      </p:sp>
      <p:sp>
        <p:nvSpPr>
          <p:cNvPr id="32" name="Shape 30"/>
          <p:cNvSpPr/>
          <p:nvPr/>
        </p:nvSpPr>
        <p:spPr>
          <a:xfrm>
            <a:off x="6486525" y="3986213"/>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4A9D9C"/>
          </a:solidFill>
          <a:ln/>
        </p:spPr>
        <p:txBody>
          <a:bodyPr/>
          <a:lstStyle/>
          <a:p>
            <a:endParaRPr lang="en-US"/>
          </a:p>
        </p:txBody>
      </p:sp>
      <p:sp>
        <p:nvSpPr>
          <p:cNvPr id="33" name="Text 31"/>
          <p:cNvSpPr/>
          <p:nvPr/>
        </p:nvSpPr>
        <p:spPr>
          <a:xfrm>
            <a:off x="6750606" y="3852863"/>
            <a:ext cx="4867275" cy="4572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Result:</a:t>
            </a:r>
            <a:r>
              <a:rPr lang="en-US" sz="1200" dirty="0">
                <a:solidFill>
                  <a:srgbClr val="E0E2E5"/>
                </a:solidFill>
                <a:latin typeface="Quattrocento Sans" pitchFamily="34" charset="0"/>
                <a:ea typeface="Quattrocento Sans" pitchFamily="34" charset="-122"/>
                <a:cs typeface="Quattrocento Sans" pitchFamily="34" charset="-120"/>
              </a:rPr>
              <a:t> Analysts focus on what they do best - making predictions and strategic assumptions for the company.</a:t>
            </a:r>
            <a:endParaRPr lang="en-US" sz="1600" dirty="0"/>
          </a:p>
        </p:txBody>
      </p:sp>
      <p:pic>
        <p:nvPicPr>
          <p:cNvPr id="34" name="Image 0" descr="https://kimi-web-img.moonshot.cn/img/images.stockcake.com/d25c24d5c4d26c492f9fc182b64b208ba071198a.jpg"/>
          <p:cNvPicPr>
            <a:picLocks noChangeAspect="1"/>
          </p:cNvPicPr>
          <p:nvPr/>
        </p:nvPicPr>
        <p:blipFill>
          <a:blip r:embed="rId3"/>
          <a:srcRect t="41231" b="41231"/>
          <a:stretch/>
        </p:blipFill>
        <p:spPr>
          <a:xfrm>
            <a:off x="6210300" y="4729163"/>
            <a:ext cx="5600700" cy="1752600"/>
          </a:xfrm>
          <a:prstGeom prst="roundRect">
            <a:avLst>
              <a:gd name="adj" fmla="val 2174"/>
            </a:avLst>
          </a:prstGeom>
        </p:spPr>
      </p:pic>
      <p:sp>
        <p:nvSpPr>
          <p:cNvPr id="35" name="Shape 32"/>
          <p:cNvSpPr/>
          <p:nvPr/>
        </p:nvSpPr>
        <p:spPr>
          <a:xfrm>
            <a:off x="6210300" y="4729163"/>
            <a:ext cx="5600700" cy="1752600"/>
          </a:xfrm>
          <a:custGeom>
            <a:avLst/>
            <a:gdLst/>
            <a:ahLst/>
            <a:cxnLst/>
            <a:rect l="l" t="t" r="r" b="b"/>
            <a:pathLst>
              <a:path w="5600700" h="1752600">
                <a:moveTo>
                  <a:pt x="38102" y="0"/>
                </a:moveTo>
                <a:lnTo>
                  <a:pt x="5562598" y="0"/>
                </a:lnTo>
                <a:cubicBezTo>
                  <a:pt x="5583641" y="0"/>
                  <a:pt x="5600700" y="17059"/>
                  <a:pt x="5600700" y="38102"/>
                </a:cubicBezTo>
                <a:lnTo>
                  <a:pt x="5600700" y="1714498"/>
                </a:lnTo>
                <a:cubicBezTo>
                  <a:pt x="5600700" y="1735541"/>
                  <a:pt x="5583641" y="1752600"/>
                  <a:pt x="5562598" y="1752600"/>
                </a:cubicBezTo>
                <a:lnTo>
                  <a:pt x="38102" y="1752600"/>
                </a:lnTo>
                <a:cubicBezTo>
                  <a:pt x="17059" y="1752600"/>
                  <a:pt x="0" y="1735541"/>
                  <a:pt x="0" y="1714498"/>
                </a:cubicBezTo>
                <a:lnTo>
                  <a:pt x="0" y="38102"/>
                </a:lnTo>
                <a:cubicBezTo>
                  <a:pt x="0" y="17073"/>
                  <a:pt x="17073" y="0"/>
                  <a:pt x="38102" y="0"/>
                </a:cubicBezTo>
                <a:close/>
              </a:path>
            </a:pathLst>
          </a:custGeom>
          <a:gradFill flip="none" rotWithShape="1">
            <a:gsLst>
              <a:gs pos="0">
                <a:srgbClr val="1A1D21">
                  <a:alpha val="95000"/>
                </a:srgbClr>
              </a:gs>
              <a:gs pos="100000">
                <a:srgbClr val="000000">
                  <a:alpha val="0"/>
                </a:srgbClr>
              </a:gs>
            </a:gsLst>
            <a:lin ang="16200000" scaled="1"/>
          </a:gradFill>
          <a:ln/>
        </p:spPr>
        <p:txBody>
          <a:bodyPr/>
          <a:lstStyle/>
          <a:p>
            <a:endParaRPr lang="en-US"/>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2238375"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Artificial Intelligence</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AI in Data Analytics</a:t>
            </a:r>
            <a:endParaRPr lang="en-US" sz="1600" dirty="0"/>
          </a:p>
        </p:txBody>
      </p:sp>
      <p:sp>
        <p:nvSpPr>
          <p:cNvPr id="5" name="Shape 3"/>
          <p:cNvSpPr/>
          <p:nvPr/>
        </p:nvSpPr>
        <p:spPr>
          <a:xfrm>
            <a:off x="381000" y="1638300"/>
            <a:ext cx="6762750" cy="1619250"/>
          </a:xfrm>
          <a:custGeom>
            <a:avLst/>
            <a:gdLst/>
            <a:ahLst/>
            <a:cxnLst/>
            <a:rect l="l" t="t" r="r" b="b"/>
            <a:pathLst>
              <a:path w="6762750" h="1619250">
                <a:moveTo>
                  <a:pt x="38101" y="0"/>
                </a:moveTo>
                <a:lnTo>
                  <a:pt x="6724649" y="0"/>
                </a:lnTo>
                <a:cubicBezTo>
                  <a:pt x="6745692" y="0"/>
                  <a:pt x="6762750" y="17058"/>
                  <a:pt x="6762750" y="38101"/>
                </a:cubicBezTo>
                <a:lnTo>
                  <a:pt x="6762750" y="1581149"/>
                </a:lnTo>
                <a:cubicBezTo>
                  <a:pt x="6762750" y="1602192"/>
                  <a:pt x="6745692" y="1619250"/>
                  <a:pt x="6724649" y="1619250"/>
                </a:cubicBezTo>
                <a:lnTo>
                  <a:pt x="38101" y="1619250"/>
                </a:lnTo>
                <a:cubicBezTo>
                  <a:pt x="17058" y="1619250"/>
                  <a:pt x="0" y="1602192"/>
                  <a:pt x="0" y="1581149"/>
                </a:cubicBezTo>
                <a:lnTo>
                  <a:pt x="0" y="38101"/>
                </a:lnTo>
                <a:cubicBezTo>
                  <a:pt x="0" y="17058"/>
                  <a:pt x="17058" y="0"/>
                  <a:pt x="38101" y="0"/>
                </a:cubicBezTo>
                <a:close/>
              </a:path>
            </a:pathLst>
          </a:custGeom>
          <a:solidFill>
            <a:srgbClr val="3D4F5F"/>
          </a:solidFill>
          <a:ln/>
        </p:spPr>
        <p:txBody>
          <a:bodyPr/>
          <a:lstStyle/>
          <a:p>
            <a:endParaRPr lang="en-US"/>
          </a:p>
        </p:txBody>
      </p:sp>
      <p:sp>
        <p:nvSpPr>
          <p:cNvPr id="6" name="Shape 4"/>
          <p:cNvSpPr/>
          <p:nvPr/>
        </p:nvSpPr>
        <p:spPr>
          <a:xfrm>
            <a:off x="533400" y="17907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7" name="Shape 5"/>
          <p:cNvSpPr/>
          <p:nvPr/>
        </p:nvSpPr>
        <p:spPr>
          <a:xfrm>
            <a:off x="666750" y="1924050"/>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1A1D21"/>
          </a:solidFill>
          <a:ln/>
        </p:spPr>
        <p:txBody>
          <a:bodyPr/>
          <a:lstStyle/>
          <a:p>
            <a:endParaRPr lang="en-US"/>
          </a:p>
        </p:txBody>
      </p:sp>
      <p:sp>
        <p:nvSpPr>
          <p:cNvPr id="8" name="Text 6"/>
          <p:cNvSpPr/>
          <p:nvPr/>
        </p:nvSpPr>
        <p:spPr>
          <a:xfrm>
            <a:off x="1104900" y="1866900"/>
            <a:ext cx="1247775"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What is AI?</a:t>
            </a:r>
            <a:endParaRPr lang="en-US" sz="1600" dirty="0"/>
          </a:p>
        </p:txBody>
      </p:sp>
      <p:sp>
        <p:nvSpPr>
          <p:cNvPr id="9" name="Text 7"/>
          <p:cNvSpPr/>
          <p:nvPr/>
        </p:nvSpPr>
        <p:spPr>
          <a:xfrm>
            <a:off x="533400" y="2362200"/>
            <a:ext cx="6534150" cy="7429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AI is a </a:t>
            </a:r>
            <a:r>
              <a:rPr lang="en-US" sz="1200" b="1" dirty="0">
                <a:solidFill>
                  <a:srgbClr val="4A9D9C"/>
                </a:solidFill>
                <a:latin typeface="Quattrocento Sans" pitchFamily="34" charset="0"/>
                <a:ea typeface="Quattrocento Sans" pitchFamily="34" charset="-122"/>
                <a:cs typeface="Quattrocento Sans" pitchFamily="34" charset="-120"/>
              </a:rPr>
              <a:t>rapidly evolving technology</a:t>
            </a:r>
            <a:r>
              <a:rPr lang="en-US" sz="1200" dirty="0">
                <a:solidFill>
                  <a:srgbClr val="E0E2E5"/>
                </a:solidFill>
                <a:latin typeface="Quattrocento Sans" pitchFamily="34" charset="0"/>
                <a:ea typeface="Quattrocento Sans" pitchFamily="34" charset="-122"/>
                <a:cs typeface="Quattrocento Sans" pitchFamily="34" charset="-120"/>
              </a:rPr>
              <a:t> that mimics human intelligence, allowing computers to detect patterns, make predictions, and solve problems. When introduced to data analytics, AI helps analysts quickly and efficiently run analyses on any given dataset.</a:t>
            </a:r>
            <a:endParaRPr lang="en-US" sz="1600" dirty="0"/>
          </a:p>
        </p:txBody>
      </p:sp>
      <p:sp>
        <p:nvSpPr>
          <p:cNvPr id="10" name="Shape 8"/>
          <p:cNvSpPr/>
          <p:nvPr/>
        </p:nvSpPr>
        <p:spPr>
          <a:xfrm>
            <a:off x="381000" y="3409950"/>
            <a:ext cx="6762750" cy="1600200"/>
          </a:xfrm>
          <a:custGeom>
            <a:avLst/>
            <a:gdLst/>
            <a:ahLst/>
            <a:cxnLst/>
            <a:rect l="l" t="t" r="r" b="b"/>
            <a:pathLst>
              <a:path w="6762750" h="1600200">
                <a:moveTo>
                  <a:pt x="38101" y="0"/>
                </a:moveTo>
                <a:lnTo>
                  <a:pt x="6724649" y="0"/>
                </a:lnTo>
                <a:cubicBezTo>
                  <a:pt x="6745692" y="0"/>
                  <a:pt x="6762750" y="17058"/>
                  <a:pt x="6762750" y="38101"/>
                </a:cubicBezTo>
                <a:lnTo>
                  <a:pt x="6762750" y="1562099"/>
                </a:lnTo>
                <a:cubicBezTo>
                  <a:pt x="6762750" y="1583142"/>
                  <a:pt x="6745692" y="1600200"/>
                  <a:pt x="6724649" y="1600200"/>
                </a:cubicBezTo>
                <a:lnTo>
                  <a:pt x="38101" y="1600200"/>
                </a:lnTo>
                <a:cubicBezTo>
                  <a:pt x="17058" y="1600200"/>
                  <a:pt x="0" y="1583142"/>
                  <a:pt x="0" y="1562099"/>
                </a:cubicBezTo>
                <a:lnTo>
                  <a:pt x="0" y="38101"/>
                </a:lnTo>
                <a:cubicBezTo>
                  <a:pt x="0" y="17072"/>
                  <a:pt x="17072" y="0"/>
                  <a:pt x="38101" y="0"/>
                </a:cubicBezTo>
                <a:close/>
              </a:path>
            </a:pathLst>
          </a:custGeom>
          <a:solidFill>
            <a:srgbClr val="3D4F5F"/>
          </a:solidFill>
          <a:ln/>
        </p:spPr>
        <p:txBody>
          <a:bodyPr/>
          <a:lstStyle/>
          <a:p>
            <a:endParaRPr lang="en-US"/>
          </a:p>
        </p:txBody>
      </p:sp>
      <p:sp>
        <p:nvSpPr>
          <p:cNvPr id="11" name="Text 9"/>
          <p:cNvSpPr/>
          <p:nvPr/>
        </p:nvSpPr>
        <p:spPr>
          <a:xfrm>
            <a:off x="533400" y="3562350"/>
            <a:ext cx="655320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AI Applications in Data Analysis</a:t>
            </a:r>
            <a:endParaRPr lang="en-US" sz="1600" dirty="0"/>
          </a:p>
        </p:txBody>
      </p:sp>
      <p:sp>
        <p:nvSpPr>
          <p:cNvPr id="12" name="Shape 10"/>
          <p:cNvSpPr/>
          <p:nvPr/>
        </p:nvSpPr>
        <p:spPr>
          <a:xfrm>
            <a:off x="552450" y="3981450"/>
            <a:ext cx="152400" cy="152400"/>
          </a:xfrm>
          <a:custGeom>
            <a:avLst/>
            <a:gdLst/>
            <a:ahLst/>
            <a:cxnLst/>
            <a:rect l="l" t="t" r="r" b="b"/>
            <a:pathLst>
              <a:path w="152400" h="152400">
                <a:moveTo>
                  <a:pt x="123825" y="61912"/>
                </a:moveTo>
                <a:cubicBezTo>
                  <a:pt x="123825" y="75575"/>
                  <a:pt x="119390" y="88196"/>
                  <a:pt x="111919" y="98435"/>
                </a:cubicBezTo>
                <a:lnTo>
                  <a:pt x="149602" y="136148"/>
                </a:lnTo>
                <a:cubicBezTo>
                  <a:pt x="153323" y="139869"/>
                  <a:pt x="153323" y="145911"/>
                  <a:pt x="149602" y="149632"/>
                </a:cubicBezTo>
                <a:cubicBezTo>
                  <a:pt x="145881" y="153353"/>
                  <a:pt x="139839" y="153353"/>
                  <a:pt x="136118" y="149632"/>
                </a:cubicBezTo>
                <a:lnTo>
                  <a:pt x="98435" y="111919"/>
                </a:lnTo>
                <a:cubicBezTo>
                  <a:pt x="88196" y="119390"/>
                  <a:pt x="75575" y="123825"/>
                  <a:pt x="61912" y="123825"/>
                </a:cubicBezTo>
                <a:cubicBezTo>
                  <a:pt x="27712" y="123825"/>
                  <a:pt x="0" y="96113"/>
                  <a:pt x="0" y="61912"/>
                </a:cubicBezTo>
                <a:cubicBezTo>
                  <a:pt x="0" y="27712"/>
                  <a:pt x="27712" y="0"/>
                  <a:pt x="61912" y="0"/>
                </a:cubicBezTo>
                <a:cubicBezTo>
                  <a:pt x="96113" y="0"/>
                  <a:pt x="123825" y="27712"/>
                  <a:pt x="123825" y="61912"/>
                </a:cubicBezTo>
                <a:close/>
                <a:moveTo>
                  <a:pt x="61912" y="104775"/>
                </a:moveTo>
                <a:cubicBezTo>
                  <a:pt x="85569" y="104775"/>
                  <a:pt x="104775" y="85569"/>
                  <a:pt x="104775" y="61912"/>
                </a:cubicBezTo>
                <a:cubicBezTo>
                  <a:pt x="104775" y="38256"/>
                  <a:pt x="85569" y="19050"/>
                  <a:pt x="61912" y="19050"/>
                </a:cubicBezTo>
                <a:cubicBezTo>
                  <a:pt x="38256" y="19050"/>
                  <a:pt x="19050" y="38256"/>
                  <a:pt x="19050" y="61912"/>
                </a:cubicBezTo>
                <a:cubicBezTo>
                  <a:pt x="19050" y="85569"/>
                  <a:pt x="38256" y="104775"/>
                  <a:pt x="61912" y="104775"/>
                </a:cubicBezTo>
                <a:close/>
              </a:path>
            </a:pathLst>
          </a:custGeom>
          <a:solidFill>
            <a:srgbClr val="4A9D9C"/>
          </a:solidFill>
          <a:ln/>
        </p:spPr>
        <p:txBody>
          <a:bodyPr/>
          <a:lstStyle/>
          <a:p>
            <a:endParaRPr lang="en-US"/>
          </a:p>
        </p:txBody>
      </p:sp>
      <p:sp>
        <p:nvSpPr>
          <p:cNvPr id="13" name="Text 11"/>
          <p:cNvSpPr/>
          <p:nvPr/>
        </p:nvSpPr>
        <p:spPr>
          <a:xfrm>
            <a:off x="800100" y="3943350"/>
            <a:ext cx="1933575"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Provide and explore insights</a:t>
            </a:r>
            <a:endParaRPr lang="en-US" sz="1600" dirty="0"/>
          </a:p>
        </p:txBody>
      </p:sp>
      <p:sp>
        <p:nvSpPr>
          <p:cNvPr id="14" name="Shape 12"/>
          <p:cNvSpPr/>
          <p:nvPr/>
        </p:nvSpPr>
        <p:spPr>
          <a:xfrm>
            <a:off x="3850005" y="3981450"/>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4A9D9C"/>
          </a:solidFill>
          <a:ln/>
        </p:spPr>
        <p:txBody>
          <a:bodyPr/>
          <a:lstStyle/>
          <a:p>
            <a:endParaRPr lang="en-US"/>
          </a:p>
        </p:txBody>
      </p:sp>
      <p:sp>
        <p:nvSpPr>
          <p:cNvPr id="15" name="Text 13"/>
          <p:cNvSpPr/>
          <p:nvPr/>
        </p:nvSpPr>
        <p:spPr>
          <a:xfrm>
            <a:off x="4088130" y="3943350"/>
            <a:ext cx="16192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Create training datasets</a:t>
            </a:r>
            <a:endParaRPr lang="en-US" sz="1600" dirty="0"/>
          </a:p>
        </p:txBody>
      </p:sp>
      <p:sp>
        <p:nvSpPr>
          <p:cNvPr id="16" name="Shape 14"/>
          <p:cNvSpPr/>
          <p:nvPr/>
        </p:nvSpPr>
        <p:spPr>
          <a:xfrm>
            <a:off x="552450" y="4324350"/>
            <a:ext cx="152400" cy="152400"/>
          </a:xfrm>
          <a:custGeom>
            <a:avLst/>
            <a:gdLst/>
            <a:ahLst/>
            <a:cxnLst/>
            <a:rect l="l" t="t" r="r" b="b"/>
            <a:pathLst>
              <a:path w="152400" h="152400">
                <a:moveTo>
                  <a:pt x="9525" y="9525"/>
                </a:moveTo>
                <a:cubicBezTo>
                  <a:pt x="14794" y="9525"/>
                  <a:pt x="19050" y="13781"/>
                  <a:pt x="19050" y="19050"/>
                </a:cubicBezTo>
                <a:lnTo>
                  <a:pt x="19050" y="119062"/>
                </a:lnTo>
                <a:cubicBezTo>
                  <a:pt x="19050" y="121682"/>
                  <a:pt x="21193" y="123825"/>
                  <a:pt x="23813" y="123825"/>
                </a:cubicBezTo>
                <a:lnTo>
                  <a:pt x="142875" y="123825"/>
                </a:lnTo>
                <a:cubicBezTo>
                  <a:pt x="148144" y="123825"/>
                  <a:pt x="152400" y="128081"/>
                  <a:pt x="152400" y="133350"/>
                </a:cubicBezTo>
                <a:cubicBezTo>
                  <a:pt x="152400" y="138619"/>
                  <a:pt x="148144" y="142875"/>
                  <a:pt x="142875" y="142875"/>
                </a:cubicBezTo>
                <a:lnTo>
                  <a:pt x="23813" y="142875"/>
                </a:lnTo>
                <a:cubicBezTo>
                  <a:pt x="10656" y="142875"/>
                  <a:pt x="0" y="132219"/>
                  <a:pt x="0" y="119062"/>
                </a:cubicBezTo>
                <a:lnTo>
                  <a:pt x="0" y="19050"/>
                </a:lnTo>
                <a:cubicBezTo>
                  <a:pt x="0" y="13781"/>
                  <a:pt x="4256" y="9525"/>
                  <a:pt x="9525" y="9525"/>
                </a:cubicBezTo>
                <a:close/>
                <a:moveTo>
                  <a:pt x="38100" y="28575"/>
                </a:moveTo>
                <a:cubicBezTo>
                  <a:pt x="38100" y="23306"/>
                  <a:pt x="42356" y="19050"/>
                  <a:pt x="47625" y="19050"/>
                </a:cubicBezTo>
                <a:lnTo>
                  <a:pt x="104775" y="19050"/>
                </a:lnTo>
                <a:cubicBezTo>
                  <a:pt x="110044" y="19050"/>
                  <a:pt x="114300" y="23306"/>
                  <a:pt x="114300" y="28575"/>
                </a:cubicBezTo>
                <a:cubicBezTo>
                  <a:pt x="114300" y="33844"/>
                  <a:pt x="110044" y="38100"/>
                  <a:pt x="104775" y="38100"/>
                </a:cubicBezTo>
                <a:lnTo>
                  <a:pt x="47625" y="38100"/>
                </a:lnTo>
                <a:cubicBezTo>
                  <a:pt x="42356" y="38100"/>
                  <a:pt x="38100" y="33844"/>
                  <a:pt x="38100" y="28575"/>
                </a:cubicBezTo>
                <a:close/>
                <a:moveTo>
                  <a:pt x="47625" y="52388"/>
                </a:moveTo>
                <a:lnTo>
                  <a:pt x="85725" y="52388"/>
                </a:lnTo>
                <a:cubicBezTo>
                  <a:pt x="90994" y="52388"/>
                  <a:pt x="95250" y="56644"/>
                  <a:pt x="95250" y="61912"/>
                </a:cubicBezTo>
                <a:cubicBezTo>
                  <a:pt x="95250" y="67181"/>
                  <a:pt x="90994" y="71438"/>
                  <a:pt x="85725" y="71438"/>
                </a:cubicBezTo>
                <a:lnTo>
                  <a:pt x="47625" y="71438"/>
                </a:lnTo>
                <a:cubicBezTo>
                  <a:pt x="42356" y="71438"/>
                  <a:pt x="38100" y="67181"/>
                  <a:pt x="38100" y="61912"/>
                </a:cubicBezTo>
                <a:cubicBezTo>
                  <a:pt x="38100" y="56644"/>
                  <a:pt x="42356" y="52388"/>
                  <a:pt x="47625" y="52388"/>
                </a:cubicBezTo>
                <a:close/>
                <a:moveTo>
                  <a:pt x="47625" y="85725"/>
                </a:moveTo>
                <a:lnTo>
                  <a:pt x="123825" y="85725"/>
                </a:lnTo>
                <a:cubicBezTo>
                  <a:pt x="129094" y="85725"/>
                  <a:pt x="133350" y="89981"/>
                  <a:pt x="133350" y="95250"/>
                </a:cubicBezTo>
                <a:cubicBezTo>
                  <a:pt x="133350" y="100519"/>
                  <a:pt x="129094" y="104775"/>
                  <a:pt x="123825" y="104775"/>
                </a:cubicBezTo>
                <a:lnTo>
                  <a:pt x="47625" y="104775"/>
                </a:lnTo>
                <a:cubicBezTo>
                  <a:pt x="42356" y="104775"/>
                  <a:pt x="38100" y="100519"/>
                  <a:pt x="38100" y="95250"/>
                </a:cubicBezTo>
                <a:cubicBezTo>
                  <a:pt x="38100" y="89981"/>
                  <a:pt x="42356" y="85725"/>
                  <a:pt x="47625" y="85725"/>
                </a:cubicBezTo>
                <a:close/>
              </a:path>
            </a:pathLst>
          </a:custGeom>
          <a:solidFill>
            <a:srgbClr val="4A9D9C"/>
          </a:solidFill>
          <a:ln/>
        </p:spPr>
        <p:txBody>
          <a:bodyPr/>
          <a:lstStyle/>
          <a:p>
            <a:endParaRPr lang="en-US"/>
          </a:p>
        </p:txBody>
      </p:sp>
      <p:sp>
        <p:nvSpPr>
          <p:cNvPr id="17" name="Text 15"/>
          <p:cNvSpPr/>
          <p:nvPr/>
        </p:nvSpPr>
        <p:spPr>
          <a:xfrm>
            <a:off x="800100" y="4286250"/>
            <a:ext cx="21145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Create dashboards and reports</a:t>
            </a:r>
            <a:endParaRPr lang="en-US" sz="1600" dirty="0"/>
          </a:p>
        </p:txBody>
      </p:sp>
      <p:sp>
        <p:nvSpPr>
          <p:cNvPr id="18" name="Shape 16"/>
          <p:cNvSpPr/>
          <p:nvPr/>
        </p:nvSpPr>
        <p:spPr>
          <a:xfrm>
            <a:off x="3840480" y="4324350"/>
            <a:ext cx="152400" cy="152400"/>
          </a:xfrm>
          <a:custGeom>
            <a:avLst/>
            <a:gdLst/>
            <a:ahLst/>
            <a:cxnLst/>
            <a:rect l="l" t="t" r="r" b="b"/>
            <a:pathLst>
              <a:path w="152400" h="152400">
                <a:moveTo>
                  <a:pt x="19616" y="68014"/>
                </a:moveTo>
                <a:cubicBezTo>
                  <a:pt x="23574" y="40332"/>
                  <a:pt x="47417" y="19050"/>
                  <a:pt x="76200" y="19050"/>
                </a:cubicBezTo>
                <a:cubicBezTo>
                  <a:pt x="91976" y="19050"/>
                  <a:pt x="106263" y="25450"/>
                  <a:pt x="116622" y="35778"/>
                </a:cubicBezTo>
                <a:cubicBezTo>
                  <a:pt x="116681" y="35838"/>
                  <a:pt x="116741" y="35897"/>
                  <a:pt x="116800" y="35957"/>
                </a:cubicBezTo>
                <a:lnTo>
                  <a:pt x="119063" y="38100"/>
                </a:lnTo>
                <a:lnTo>
                  <a:pt x="104805" y="38100"/>
                </a:lnTo>
                <a:cubicBezTo>
                  <a:pt x="99536" y="38100"/>
                  <a:pt x="95280" y="42356"/>
                  <a:pt x="95280" y="47625"/>
                </a:cubicBezTo>
                <a:cubicBezTo>
                  <a:pt x="95280" y="52894"/>
                  <a:pt x="99536" y="57150"/>
                  <a:pt x="104805" y="57150"/>
                </a:cubicBezTo>
                <a:lnTo>
                  <a:pt x="142905" y="57150"/>
                </a:lnTo>
                <a:cubicBezTo>
                  <a:pt x="148173" y="57150"/>
                  <a:pt x="152430" y="52894"/>
                  <a:pt x="152430" y="47625"/>
                </a:cubicBezTo>
                <a:lnTo>
                  <a:pt x="152430" y="9525"/>
                </a:lnTo>
                <a:cubicBezTo>
                  <a:pt x="152430" y="4256"/>
                  <a:pt x="148173" y="0"/>
                  <a:pt x="142905" y="0"/>
                </a:cubicBezTo>
                <a:cubicBezTo>
                  <a:pt x="137636" y="0"/>
                  <a:pt x="133380" y="4256"/>
                  <a:pt x="133380" y="9525"/>
                </a:cubicBezTo>
                <a:lnTo>
                  <a:pt x="133380" y="25420"/>
                </a:lnTo>
                <a:lnTo>
                  <a:pt x="130016" y="22235"/>
                </a:lnTo>
                <a:cubicBezTo>
                  <a:pt x="116235" y="8513"/>
                  <a:pt x="97185" y="0"/>
                  <a:pt x="76200" y="0"/>
                </a:cubicBezTo>
                <a:cubicBezTo>
                  <a:pt x="37802" y="0"/>
                  <a:pt x="6042" y="28396"/>
                  <a:pt x="774" y="65336"/>
                </a:cubicBezTo>
                <a:cubicBezTo>
                  <a:pt x="30" y="70545"/>
                  <a:pt x="3631" y="75367"/>
                  <a:pt x="8840" y="76111"/>
                </a:cubicBezTo>
                <a:cubicBezTo>
                  <a:pt x="14049" y="76855"/>
                  <a:pt x="18871" y="73223"/>
                  <a:pt x="19616" y="68044"/>
                </a:cubicBezTo>
                <a:close/>
                <a:moveTo>
                  <a:pt x="151626" y="87064"/>
                </a:moveTo>
                <a:cubicBezTo>
                  <a:pt x="152370" y="81855"/>
                  <a:pt x="148739" y="77033"/>
                  <a:pt x="143560" y="76289"/>
                </a:cubicBezTo>
                <a:cubicBezTo>
                  <a:pt x="138380" y="75545"/>
                  <a:pt x="133529" y="79177"/>
                  <a:pt x="132784" y="84356"/>
                </a:cubicBezTo>
                <a:cubicBezTo>
                  <a:pt x="128826" y="112038"/>
                  <a:pt x="104983" y="133320"/>
                  <a:pt x="76200" y="133320"/>
                </a:cubicBezTo>
                <a:cubicBezTo>
                  <a:pt x="60424" y="133320"/>
                  <a:pt x="46137" y="126921"/>
                  <a:pt x="35778" y="116592"/>
                </a:cubicBezTo>
                <a:cubicBezTo>
                  <a:pt x="35719" y="116532"/>
                  <a:pt x="35659" y="116473"/>
                  <a:pt x="35600" y="116413"/>
                </a:cubicBezTo>
                <a:lnTo>
                  <a:pt x="33337" y="114270"/>
                </a:lnTo>
                <a:lnTo>
                  <a:pt x="47595" y="114270"/>
                </a:lnTo>
                <a:cubicBezTo>
                  <a:pt x="52864" y="114270"/>
                  <a:pt x="57120" y="110014"/>
                  <a:pt x="57120" y="104745"/>
                </a:cubicBezTo>
                <a:cubicBezTo>
                  <a:pt x="57120" y="99477"/>
                  <a:pt x="52864" y="95220"/>
                  <a:pt x="47595" y="95220"/>
                </a:cubicBezTo>
                <a:lnTo>
                  <a:pt x="9525" y="95250"/>
                </a:lnTo>
                <a:cubicBezTo>
                  <a:pt x="6995" y="95250"/>
                  <a:pt x="4554" y="96262"/>
                  <a:pt x="2768" y="98078"/>
                </a:cubicBezTo>
                <a:cubicBezTo>
                  <a:pt x="982" y="99893"/>
                  <a:pt x="-30" y="102304"/>
                  <a:pt x="0" y="104864"/>
                </a:cubicBezTo>
                <a:lnTo>
                  <a:pt x="298" y="142667"/>
                </a:lnTo>
                <a:cubicBezTo>
                  <a:pt x="327" y="147935"/>
                  <a:pt x="4643" y="152162"/>
                  <a:pt x="9912" y="152102"/>
                </a:cubicBezTo>
                <a:cubicBezTo>
                  <a:pt x="15180" y="152043"/>
                  <a:pt x="19407" y="147757"/>
                  <a:pt x="19348" y="142488"/>
                </a:cubicBezTo>
                <a:lnTo>
                  <a:pt x="19229" y="127159"/>
                </a:lnTo>
                <a:lnTo>
                  <a:pt x="22414" y="130165"/>
                </a:lnTo>
                <a:cubicBezTo>
                  <a:pt x="36195" y="143887"/>
                  <a:pt x="55215" y="152400"/>
                  <a:pt x="76200" y="152400"/>
                </a:cubicBezTo>
                <a:cubicBezTo>
                  <a:pt x="114598" y="152400"/>
                  <a:pt x="146358" y="124004"/>
                  <a:pt x="151626" y="87064"/>
                </a:cubicBezTo>
                <a:close/>
              </a:path>
            </a:pathLst>
          </a:custGeom>
          <a:solidFill>
            <a:srgbClr val="4A9D9C"/>
          </a:solidFill>
          <a:ln/>
        </p:spPr>
        <p:txBody>
          <a:bodyPr/>
          <a:lstStyle/>
          <a:p>
            <a:endParaRPr lang="en-US"/>
          </a:p>
        </p:txBody>
      </p:sp>
      <p:sp>
        <p:nvSpPr>
          <p:cNvPr id="19" name="Text 17"/>
          <p:cNvSpPr/>
          <p:nvPr/>
        </p:nvSpPr>
        <p:spPr>
          <a:xfrm>
            <a:off x="4088130" y="4286250"/>
            <a:ext cx="1724025"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Predict market outcomes</a:t>
            </a:r>
            <a:endParaRPr lang="en-US" sz="1600" dirty="0"/>
          </a:p>
        </p:txBody>
      </p:sp>
      <p:sp>
        <p:nvSpPr>
          <p:cNvPr id="20" name="Shape 18"/>
          <p:cNvSpPr/>
          <p:nvPr/>
        </p:nvSpPr>
        <p:spPr>
          <a:xfrm>
            <a:off x="533400" y="4667250"/>
            <a:ext cx="190500" cy="152400"/>
          </a:xfrm>
          <a:custGeom>
            <a:avLst/>
            <a:gdLst/>
            <a:ahLst/>
            <a:cxnLst/>
            <a:rect l="l" t="t" r="r" b="b"/>
            <a:pathLst>
              <a:path w="190500" h="1524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4A9D9C"/>
          </a:solidFill>
          <a:ln/>
        </p:spPr>
        <p:txBody>
          <a:bodyPr/>
          <a:lstStyle/>
          <a:p>
            <a:endParaRPr lang="en-US"/>
          </a:p>
        </p:txBody>
      </p:sp>
      <p:sp>
        <p:nvSpPr>
          <p:cNvPr id="21" name="Text 19"/>
          <p:cNvSpPr/>
          <p:nvPr/>
        </p:nvSpPr>
        <p:spPr>
          <a:xfrm>
            <a:off x="800100" y="4629150"/>
            <a:ext cx="21907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Understand customer behaviors</a:t>
            </a:r>
            <a:endParaRPr lang="en-US" sz="1600" dirty="0"/>
          </a:p>
        </p:txBody>
      </p:sp>
      <p:sp>
        <p:nvSpPr>
          <p:cNvPr id="22" name="Shape 20"/>
          <p:cNvSpPr/>
          <p:nvPr/>
        </p:nvSpPr>
        <p:spPr>
          <a:xfrm>
            <a:off x="381000" y="5162550"/>
            <a:ext cx="6762750" cy="1390650"/>
          </a:xfrm>
          <a:custGeom>
            <a:avLst/>
            <a:gdLst/>
            <a:ahLst/>
            <a:cxnLst/>
            <a:rect l="l" t="t" r="r" b="b"/>
            <a:pathLst>
              <a:path w="6762750" h="1390650">
                <a:moveTo>
                  <a:pt x="38104" y="0"/>
                </a:moveTo>
                <a:lnTo>
                  <a:pt x="6724646" y="0"/>
                </a:lnTo>
                <a:cubicBezTo>
                  <a:pt x="6745690" y="0"/>
                  <a:pt x="6762750" y="17060"/>
                  <a:pt x="6762750" y="38104"/>
                </a:cubicBezTo>
                <a:lnTo>
                  <a:pt x="6762750" y="1352546"/>
                </a:lnTo>
                <a:cubicBezTo>
                  <a:pt x="6762750" y="1373590"/>
                  <a:pt x="6745690" y="1390650"/>
                  <a:pt x="6724646" y="1390650"/>
                </a:cubicBezTo>
                <a:lnTo>
                  <a:pt x="38104" y="1390650"/>
                </a:lnTo>
                <a:cubicBezTo>
                  <a:pt x="17060" y="1390650"/>
                  <a:pt x="0" y="1373590"/>
                  <a:pt x="0" y="1352546"/>
                </a:cubicBezTo>
                <a:lnTo>
                  <a:pt x="0" y="38104"/>
                </a:lnTo>
                <a:cubicBezTo>
                  <a:pt x="0" y="17060"/>
                  <a:pt x="17060" y="0"/>
                  <a:pt x="38104" y="0"/>
                </a:cubicBezTo>
                <a:close/>
              </a:path>
            </a:pathLst>
          </a:custGeom>
          <a:solidFill>
            <a:srgbClr val="4A9D9C"/>
          </a:solidFill>
          <a:ln/>
        </p:spPr>
        <p:txBody>
          <a:bodyPr/>
          <a:lstStyle/>
          <a:p>
            <a:endParaRPr lang="en-US"/>
          </a:p>
        </p:txBody>
      </p:sp>
      <p:sp>
        <p:nvSpPr>
          <p:cNvPr id="23" name="Shape 21"/>
          <p:cNvSpPr/>
          <p:nvPr/>
        </p:nvSpPr>
        <p:spPr>
          <a:xfrm>
            <a:off x="547688" y="5334000"/>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1A1D21"/>
          </a:solidFill>
          <a:ln/>
        </p:spPr>
        <p:txBody>
          <a:bodyPr/>
          <a:lstStyle/>
          <a:p>
            <a:endParaRPr lang="en-US"/>
          </a:p>
        </p:txBody>
      </p:sp>
      <p:sp>
        <p:nvSpPr>
          <p:cNvPr id="24" name="Text 22"/>
          <p:cNvSpPr/>
          <p:nvPr/>
        </p:nvSpPr>
        <p:spPr>
          <a:xfrm>
            <a:off x="933450" y="5314950"/>
            <a:ext cx="1971675" cy="266700"/>
          </a:xfrm>
          <a:prstGeom prst="rect">
            <a:avLst/>
          </a:prstGeom>
          <a:noFill/>
          <a:ln/>
        </p:spPr>
        <p:txBody>
          <a:bodyPr wrap="square" lIns="0" tIns="0" rIns="0" bIns="0" rtlCol="0" anchor="ctr"/>
          <a:lstStyle/>
          <a:p>
            <a:pPr>
              <a:lnSpc>
                <a:spcPct val="120000"/>
              </a:lnSpc>
            </a:pPr>
            <a:r>
              <a:rPr lang="en-US" sz="1500" b="1" dirty="0">
                <a:solidFill>
                  <a:srgbClr val="1A1D21"/>
                </a:solidFill>
                <a:latin typeface="Liter" pitchFamily="34" charset="0"/>
                <a:ea typeface="Liter" pitchFamily="34" charset="-122"/>
                <a:cs typeface="Liter" pitchFamily="34" charset="-120"/>
              </a:rPr>
              <a:t>AI as a Secret Weapon</a:t>
            </a:r>
            <a:endParaRPr lang="en-US" sz="1600" dirty="0"/>
          </a:p>
        </p:txBody>
      </p:sp>
      <p:sp>
        <p:nvSpPr>
          <p:cNvPr id="25" name="Text 23"/>
          <p:cNvSpPr/>
          <p:nvPr/>
        </p:nvSpPr>
        <p:spPr>
          <a:xfrm>
            <a:off x="533400" y="5657850"/>
            <a:ext cx="6534150" cy="742950"/>
          </a:xfrm>
          <a:prstGeom prst="rect">
            <a:avLst/>
          </a:prstGeom>
          <a:noFill/>
          <a:ln/>
        </p:spPr>
        <p:txBody>
          <a:bodyPr wrap="square" lIns="0" tIns="0" rIns="0" bIns="0" rtlCol="0" anchor="ctr"/>
          <a:lstStyle/>
          <a:p>
            <a:pPr>
              <a:lnSpc>
                <a:spcPct val="140000"/>
              </a:lnSpc>
            </a:pPr>
            <a:r>
              <a:rPr lang="en-US" sz="1200" dirty="0">
                <a:solidFill>
                  <a:srgbClr val="1A1D21"/>
                </a:solidFill>
                <a:latin typeface="Quattrocento Sans" pitchFamily="34" charset="0"/>
                <a:ea typeface="Quattrocento Sans" pitchFamily="34" charset="-122"/>
                <a:cs typeface="Quattrocento Sans" pitchFamily="34" charset="-120"/>
              </a:rPr>
              <a:t>AI should </a:t>
            </a:r>
            <a:r>
              <a:rPr lang="en-US" sz="1200" b="1" dirty="0">
                <a:solidFill>
                  <a:srgbClr val="1A1D21"/>
                </a:solidFill>
                <a:latin typeface="Quattrocento Sans" pitchFamily="34" charset="0"/>
                <a:ea typeface="Quattrocento Sans" pitchFamily="34" charset="-122"/>
                <a:cs typeface="Quattrocento Sans" pitchFamily="34" charset="-120"/>
              </a:rPr>
              <a:t>not replace data analysts</a:t>
            </a:r>
            <a:r>
              <a:rPr lang="en-US" sz="1200" dirty="0">
                <a:solidFill>
                  <a:srgbClr val="1A1D21"/>
                </a:solidFill>
                <a:latin typeface="Quattrocento Sans" pitchFamily="34" charset="0"/>
                <a:ea typeface="Quattrocento Sans" pitchFamily="34" charset="-122"/>
                <a:cs typeface="Quattrocento Sans" pitchFamily="34" charset="-120"/>
              </a:rPr>
              <a:t> but serve as a valuable tool to help compile comprehensive overviews of company processes and metrics, helping your business stand out among the competition.</a:t>
            </a:r>
            <a:endParaRPr lang="en-US" sz="1600" dirty="0"/>
          </a:p>
        </p:txBody>
      </p:sp>
      <p:sp>
        <p:nvSpPr>
          <p:cNvPr id="26" name="Shape 24"/>
          <p:cNvSpPr/>
          <p:nvPr/>
        </p:nvSpPr>
        <p:spPr>
          <a:xfrm>
            <a:off x="7376160" y="1638300"/>
            <a:ext cx="4438650" cy="3200400"/>
          </a:xfrm>
          <a:custGeom>
            <a:avLst/>
            <a:gdLst/>
            <a:ahLst/>
            <a:cxnLst/>
            <a:rect l="l" t="t" r="r" b="b"/>
            <a:pathLst>
              <a:path w="4438650" h="3200400">
                <a:moveTo>
                  <a:pt x="38085" y="0"/>
                </a:moveTo>
                <a:lnTo>
                  <a:pt x="4400565" y="0"/>
                </a:lnTo>
                <a:cubicBezTo>
                  <a:pt x="4421599" y="0"/>
                  <a:pt x="4438650" y="17051"/>
                  <a:pt x="4438650" y="38085"/>
                </a:cubicBezTo>
                <a:lnTo>
                  <a:pt x="4438650" y="3162315"/>
                </a:lnTo>
                <a:cubicBezTo>
                  <a:pt x="4438650" y="3183349"/>
                  <a:pt x="4421599" y="3200400"/>
                  <a:pt x="4400565" y="3200400"/>
                </a:cubicBezTo>
                <a:lnTo>
                  <a:pt x="38085" y="3200400"/>
                </a:lnTo>
                <a:cubicBezTo>
                  <a:pt x="17051" y="3200400"/>
                  <a:pt x="0" y="3183349"/>
                  <a:pt x="0" y="3162315"/>
                </a:cubicBezTo>
                <a:lnTo>
                  <a:pt x="0" y="38085"/>
                </a:lnTo>
                <a:cubicBezTo>
                  <a:pt x="0" y="17051"/>
                  <a:pt x="17051" y="0"/>
                  <a:pt x="38085" y="0"/>
                </a:cubicBezTo>
                <a:close/>
              </a:path>
            </a:pathLst>
          </a:custGeom>
          <a:solidFill>
            <a:srgbClr val="3D4F5F"/>
          </a:solidFill>
          <a:ln/>
        </p:spPr>
        <p:txBody>
          <a:bodyPr/>
          <a:lstStyle/>
          <a:p>
            <a:endParaRPr lang="en-US"/>
          </a:p>
        </p:txBody>
      </p:sp>
      <p:sp>
        <p:nvSpPr>
          <p:cNvPr id="27" name="Text 25"/>
          <p:cNvSpPr/>
          <p:nvPr/>
        </p:nvSpPr>
        <p:spPr>
          <a:xfrm>
            <a:off x="7528560" y="1790700"/>
            <a:ext cx="422910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Key Benefits of AI</a:t>
            </a:r>
            <a:endParaRPr lang="en-US" sz="1600" dirty="0"/>
          </a:p>
        </p:txBody>
      </p:sp>
      <p:sp>
        <p:nvSpPr>
          <p:cNvPr id="28" name="Shape 26"/>
          <p:cNvSpPr/>
          <p:nvPr/>
        </p:nvSpPr>
        <p:spPr>
          <a:xfrm>
            <a:off x="7528560" y="2171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4A9D9C"/>
          </a:solidFill>
          <a:ln/>
        </p:spPr>
        <p:txBody>
          <a:bodyPr/>
          <a:lstStyle/>
          <a:p>
            <a:endParaRPr lang="en-US"/>
          </a:p>
        </p:txBody>
      </p:sp>
      <p:sp>
        <p:nvSpPr>
          <p:cNvPr id="29" name="Shape 27"/>
          <p:cNvSpPr/>
          <p:nvPr/>
        </p:nvSpPr>
        <p:spPr>
          <a:xfrm>
            <a:off x="7604760" y="2247900"/>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76200" y="123825"/>
                </a:moveTo>
                <a:cubicBezTo>
                  <a:pt x="86707" y="123825"/>
                  <a:pt x="95250" y="115282"/>
                  <a:pt x="95250" y="104775"/>
                </a:cubicBezTo>
                <a:cubicBezTo>
                  <a:pt x="95250" y="99953"/>
                  <a:pt x="93464" y="95518"/>
                  <a:pt x="90488" y="92184"/>
                </a:cubicBezTo>
                <a:lnTo>
                  <a:pt x="111175" y="50840"/>
                </a:lnTo>
                <a:cubicBezTo>
                  <a:pt x="112931" y="47298"/>
                  <a:pt x="111502" y="43011"/>
                  <a:pt x="107990" y="41255"/>
                </a:cubicBezTo>
                <a:cubicBezTo>
                  <a:pt x="104477" y="39499"/>
                  <a:pt x="100161" y="40928"/>
                  <a:pt x="98405" y="44440"/>
                </a:cubicBezTo>
                <a:lnTo>
                  <a:pt x="77718" y="85785"/>
                </a:lnTo>
                <a:cubicBezTo>
                  <a:pt x="77212" y="85755"/>
                  <a:pt x="76706" y="85725"/>
                  <a:pt x="76200" y="85725"/>
                </a:cubicBezTo>
                <a:cubicBezTo>
                  <a:pt x="65693" y="85725"/>
                  <a:pt x="57150" y="94268"/>
                  <a:pt x="57150" y="104775"/>
                </a:cubicBezTo>
                <a:cubicBezTo>
                  <a:pt x="57150" y="115282"/>
                  <a:pt x="65693" y="123825"/>
                  <a:pt x="76200" y="123825"/>
                </a:cubicBezTo>
                <a:close/>
                <a:moveTo>
                  <a:pt x="52388" y="42863"/>
                </a:moveTo>
                <a:cubicBezTo>
                  <a:pt x="52388" y="37606"/>
                  <a:pt x="48119" y="33338"/>
                  <a:pt x="42863" y="33338"/>
                </a:cubicBezTo>
                <a:cubicBezTo>
                  <a:pt x="37606" y="33338"/>
                  <a:pt x="33338" y="37606"/>
                  <a:pt x="33338" y="42863"/>
                </a:cubicBezTo>
                <a:cubicBezTo>
                  <a:pt x="33338" y="48119"/>
                  <a:pt x="37606" y="52388"/>
                  <a:pt x="42863" y="52388"/>
                </a:cubicBezTo>
                <a:cubicBezTo>
                  <a:pt x="48119" y="52388"/>
                  <a:pt x="52388" y="48119"/>
                  <a:pt x="52388" y="42863"/>
                </a:cubicBezTo>
                <a:close/>
                <a:moveTo>
                  <a:pt x="28575" y="85725"/>
                </a:moveTo>
                <a:cubicBezTo>
                  <a:pt x="33832" y="85725"/>
                  <a:pt x="38100" y="81457"/>
                  <a:pt x="38100" y="76200"/>
                </a:cubicBezTo>
                <a:cubicBezTo>
                  <a:pt x="38100" y="70943"/>
                  <a:pt x="33832" y="66675"/>
                  <a:pt x="28575" y="66675"/>
                </a:cubicBezTo>
                <a:cubicBezTo>
                  <a:pt x="23318" y="66675"/>
                  <a:pt x="19050" y="70943"/>
                  <a:pt x="19050" y="76200"/>
                </a:cubicBezTo>
                <a:cubicBezTo>
                  <a:pt x="19050" y="81457"/>
                  <a:pt x="23318" y="85725"/>
                  <a:pt x="28575" y="85725"/>
                </a:cubicBezTo>
                <a:close/>
                <a:moveTo>
                  <a:pt x="133350" y="76200"/>
                </a:moveTo>
                <a:cubicBezTo>
                  <a:pt x="133350" y="70943"/>
                  <a:pt x="129082" y="66675"/>
                  <a:pt x="123825" y="66675"/>
                </a:cubicBezTo>
                <a:cubicBezTo>
                  <a:pt x="118568" y="66675"/>
                  <a:pt x="114300" y="70943"/>
                  <a:pt x="114300" y="76200"/>
                </a:cubicBezTo>
                <a:cubicBezTo>
                  <a:pt x="114300" y="81457"/>
                  <a:pt x="118568" y="85725"/>
                  <a:pt x="123825" y="85725"/>
                </a:cubicBezTo>
                <a:cubicBezTo>
                  <a:pt x="129082" y="85725"/>
                  <a:pt x="133350" y="81457"/>
                  <a:pt x="133350" y="76200"/>
                </a:cubicBezTo>
                <a:close/>
              </a:path>
            </a:pathLst>
          </a:custGeom>
          <a:solidFill>
            <a:srgbClr val="1A1D21"/>
          </a:solidFill>
          <a:ln/>
        </p:spPr>
        <p:txBody>
          <a:bodyPr/>
          <a:lstStyle/>
          <a:p>
            <a:endParaRPr lang="en-US"/>
          </a:p>
        </p:txBody>
      </p:sp>
      <p:sp>
        <p:nvSpPr>
          <p:cNvPr id="30" name="Text 28"/>
          <p:cNvSpPr/>
          <p:nvPr/>
        </p:nvSpPr>
        <p:spPr>
          <a:xfrm>
            <a:off x="7947660" y="2171700"/>
            <a:ext cx="38004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Speed &amp; Efficiency</a:t>
            </a:r>
            <a:endParaRPr lang="en-US" sz="1600" dirty="0"/>
          </a:p>
        </p:txBody>
      </p:sp>
      <p:sp>
        <p:nvSpPr>
          <p:cNvPr id="31" name="Text 29"/>
          <p:cNvSpPr/>
          <p:nvPr/>
        </p:nvSpPr>
        <p:spPr>
          <a:xfrm>
            <a:off x="7947660" y="2476500"/>
            <a:ext cx="3790950" cy="4572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Quickly parses immense volumes of data, dramatically improving accuracy and efficiency</a:t>
            </a:r>
            <a:endParaRPr lang="en-US" sz="1600" dirty="0"/>
          </a:p>
        </p:txBody>
      </p:sp>
      <p:sp>
        <p:nvSpPr>
          <p:cNvPr id="32" name="Shape 30"/>
          <p:cNvSpPr/>
          <p:nvPr/>
        </p:nvSpPr>
        <p:spPr>
          <a:xfrm>
            <a:off x="7528560" y="3048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4A9D9C"/>
          </a:solidFill>
          <a:ln/>
        </p:spPr>
        <p:txBody>
          <a:bodyPr/>
          <a:lstStyle/>
          <a:p>
            <a:endParaRPr lang="en-US"/>
          </a:p>
        </p:txBody>
      </p:sp>
      <p:sp>
        <p:nvSpPr>
          <p:cNvPr id="33" name="Shape 31"/>
          <p:cNvSpPr/>
          <p:nvPr/>
        </p:nvSpPr>
        <p:spPr>
          <a:xfrm>
            <a:off x="7604760" y="3124200"/>
            <a:ext cx="152400" cy="152400"/>
          </a:xfrm>
          <a:custGeom>
            <a:avLst/>
            <a:gdLst/>
            <a:ahLst/>
            <a:cxnLst/>
            <a:rect l="l" t="t" r="r" b="b"/>
            <a:pathLst>
              <a:path w="152400" h="152400">
                <a:moveTo>
                  <a:pt x="19616" y="68014"/>
                </a:moveTo>
                <a:cubicBezTo>
                  <a:pt x="23574" y="40332"/>
                  <a:pt x="47417" y="19050"/>
                  <a:pt x="76200" y="19050"/>
                </a:cubicBezTo>
                <a:cubicBezTo>
                  <a:pt x="91976" y="19050"/>
                  <a:pt x="106263" y="25450"/>
                  <a:pt x="116622" y="35778"/>
                </a:cubicBezTo>
                <a:cubicBezTo>
                  <a:pt x="116681" y="35838"/>
                  <a:pt x="116741" y="35897"/>
                  <a:pt x="116800" y="35957"/>
                </a:cubicBezTo>
                <a:lnTo>
                  <a:pt x="119063" y="38100"/>
                </a:lnTo>
                <a:lnTo>
                  <a:pt x="104805" y="38100"/>
                </a:lnTo>
                <a:cubicBezTo>
                  <a:pt x="99536" y="38100"/>
                  <a:pt x="95280" y="42356"/>
                  <a:pt x="95280" y="47625"/>
                </a:cubicBezTo>
                <a:cubicBezTo>
                  <a:pt x="95280" y="52894"/>
                  <a:pt x="99536" y="57150"/>
                  <a:pt x="104805" y="57150"/>
                </a:cubicBezTo>
                <a:lnTo>
                  <a:pt x="142905" y="57150"/>
                </a:lnTo>
                <a:cubicBezTo>
                  <a:pt x="148173" y="57150"/>
                  <a:pt x="152430" y="52894"/>
                  <a:pt x="152430" y="47625"/>
                </a:cubicBezTo>
                <a:lnTo>
                  <a:pt x="152430" y="9525"/>
                </a:lnTo>
                <a:cubicBezTo>
                  <a:pt x="152430" y="4256"/>
                  <a:pt x="148173" y="0"/>
                  <a:pt x="142905" y="0"/>
                </a:cubicBezTo>
                <a:cubicBezTo>
                  <a:pt x="137636" y="0"/>
                  <a:pt x="133380" y="4256"/>
                  <a:pt x="133380" y="9525"/>
                </a:cubicBezTo>
                <a:lnTo>
                  <a:pt x="133380" y="25420"/>
                </a:lnTo>
                <a:lnTo>
                  <a:pt x="130016" y="22235"/>
                </a:lnTo>
                <a:cubicBezTo>
                  <a:pt x="116235" y="8513"/>
                  <a:pt x="97185" y="0"/>
                  <a:pt x="76200" y="0"/>
                </a:cubicBezTo>
                <a:cubicBezTo>
                  <a:pt x="37802" y="0"/>
                  <a:pt x="6042" y="28396"/>
                  <a:pt x="774" y="65336"/>
                </a:cubicBezTo>
                <a:cubicBezTo>
                  <a:pt x="30" y="70545"/>
                  <a:pt x="3631" y="75367"/>
                  <a:pt x="8840" y="76111"/>
                </a:cubicBezTo>
                <a:cubicBezTo>
                  <a:pt x="14049" y="76855"/>
                  <a:pt x="18871" y="73223"/>
                  <a:pt x="19616" y="68044"/>
                </a:cubicBezTo>
                <a:close/>
                <a:moveTo>
                  <a:pt x="151626" y="87064"/>
                </a:moveTo>
                <a:cubicBezTo>
                  <a:pt x="152370" y="81855"/>
                  <a:pt x="148739" y="77033"/>
                  <a:pt x="143560" y="76289"/>
                </a:cubicBezTo>
                <a:cubicBezTo>
                  <a:pt x="138380" y="75545"/>
                  <a:pt x="133529" y="79177"/>
                  <a:pt x="132784" y="84356"/>
                </a:cubicBezTo>
                <a:cubicBezTo>
                  <a:pt x="128826" y="112038"/>
                  <a:pt x="104983" y="133320"/>
                  <a:pt x="76200" y="133320"/>
                </a:cubicBezTo>
                <a:cubicBezTo>
                  <a:pt x="60424" y="133320"/>
                  <a:pt x="46137" y="126921"/>
                  <a:pt x="35778" y="116592"/>
                </a:cubicBezTo>
                <a:cubicBezTo>
                  <a:pt x="35719" y="116532"/>
                  <a:pt x="35659" y="116473"/>
                  <a:pt x="35600" y="116413"/>
                </a:cubicBezTo>
                <a:lnTo>
                  <a:pt x="33337" y="114270"/>
                </a:lnTo>
                <a:lnTo>
                  <a:pt x="47595" y="114270"/>
                </a:lnTo>
                <a:cubicBezTo>
                  <a:pt x="52864" y="114270"/>
                  <a:pt x="57120" y="110014"/>
                  <a:pt x="57120" y="104745"/>
                </a:cubicBezTo>
                <a:cubicBezTo>
                  <a:pt x="57120" y="99477"/>
                  <a:pt x="52864" y="95220"/>
                  <a:pt x="47595" y="95220"/>
                </a:cubicBezTo>
                <a:lnTo>
                  <a:pt x="9525" y="95250"/>
                </a:lnTo>
                <a:cubicBezTo>
                  <a:pt x="6995" y="95250"/>
                  <a:pt x="4554" y="96262"/>
                  <a:pt x="2768" y="98078"/>
                </a:cubicBezTo>
                <a:cubicBezTo>
                  <a:pt x="982" y="99893"/>
                  <a:pt x="-30" y="102304"/>
                  <a:pt x="0" y="104864"/>
                </a:cubicBezTo>
                <a:lnTo>
                  <a:pt x="298" y="142667"/>
                </a:lnTo>
                <a:cubicBezTo>
                  <a:pt x="327" y="147935"/>
                  <a:pt x="4643" y="152162"/>
                  <a:pt x="9912" y="152102"/>
                </a:cubicBezTo>
                <a:cubicBezTo>
                  <a:pt x="15180" y="152043"/>
                  <a:pt x="19407" y="147757"/>
                  <a:pt x="19348" y="142488"/>
                </a:cubicBezTo>
                <a:lnTo>
                  <a:pt x="19229" y="127159"/>
                </a:lnTo>
                <a:lnTo>
                  <a:pt x="22414" y="130165"/>
                </a:lnTo>
                <a:cubicBezTo>
                  <a:pt x="36195" y="143887"/>
                  <a:pt x="55215" y="152400"/>
                  <a:pt x="76200" y="152400"/>
                </a:cubicBezTo>
                <a:cubicBezTo>
                  <a:pt x="114598" y="152400"/>
                  <a:pt x="146358" y="124004"/>
                  <a:pt x="151626" y="87064"/>
                </a:cubicBezTo>
                <a:close/>
              </a:path>
            </a:pathLst>
          </a:custGeom>
          <a:solidFill>
            <a:srgbClr val="1A1D21"/>
          </a:solidFill>
          <a:ln/>
        </p:spPr>
        <p:txBody>
          <a:bodyPr/>
          <a:lstStyle/>
          <a:p>
            <a:endParaRPr lang="en-US"/>
          </a:p>
        </p:txBody>
      </p:sp>
      <p:sp>
        <p:nvSpPr>
          <p:cNvPr id="34" name="Text 32"/>
          <p:cNvSpPr/>
          <p:nvPr/>
        </p:nvSpPr>
        <p:spPr>
          <a:xfrm>
            <a:off x="7947660" y="3048000"/>
            <a:ext cx="38004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Decision Support</a:t>
            </a:r>
            <a:endParaRPr lang="en-US" sz="1600" dirty="0"/>
          </a:p>
        </p:txBody>
      </p:sp>
      <p:sp>
        <p:nvSpPr>
          <p:cNvPr id="35" name="Text 33"/>
          <p:cNvSpPr/>
          <p:nvPr/>
        </p:nvSpPr>
        <p:spPr>
          <a:xfrm>
            <a:off x="7947660" y="3352800"/>
            <a:ext cx="3790950" cy="4572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Supports decision-making by predicting outcomes based on analysis and models</a:t>
            </a:r>
            <a:endParaRPr lang="en-US" sz="1600" dirty="0"/>
          </a:p>
        </p:txBody>
      </p:sp>
      <p:sp>
        <p:nvSpPr>
          <p:cNvPr id="36" name="Shape 34"/>
          <p:cNvSpPr/>
          <p:nvPr/>
        </p:nvSpPr>
        <p:spPr>
          <a:xfrm>
            <a:off x="7528560" y="39243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4A9D9C"/>
          </a:solidFill>
          <a:ln/>
        </p:spPr>
        <p:txBody>
          <a:bodyPr/>
          <a:lstStyle/>
          <a:p>
            <a:endParaRPr lang="en-US"/>
          </a:p>
        </p:txBody>
      </p:sp>
      <p:sp>
        <p:nvSpPr>
          <p:cNvPr id="37" name="Shape 35"/>
          <p:cNvSpPr/>
          <p:nvPr/>
        </p:nvSpPr>
        <p:spPr>
          <a:xfrm>
            <a:off x="7623810" y="40005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1A1D21"/>
          </a:solidFill>
          <a:ln/>
        </p:spPr>
        <p:txBody>
          <a:bodyPr/>
          <a:lstStyle/>
          <a:p>
            <a:endParaRPr lang="en-US"/>
          </a:p>
        </p:txBody>
      </p:sp>
      <p:sp>
        <p:nvSpPr>
          <p:cNvPr id="38" name="Text 36"/>
          <p:cNvSpPr/>
          <p:nvPr/>
        </p:nvSpPr>
        <p:spPr>
          <a:xfrm>
            <a:off x="7947660" y="3924300"/>
            <a:ext cx="380047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Strategic Focus</a:t>
            </a:r>
            <a:endParaRPr lang="en-US" sz="1600" dirty="0"/>
          </a:p>
        </p:txBody>
      </p:sp>
      <p:sp>
        <p:nvSpPr>
          <p:cNvPr id="39" name="Text 37"/>
          <p:cNvSpPr/>
          <p:nvPr/>
        </p:nvSpPr>
        <p:spPr>
          <a:xfrm>
            <a:off x="7947660" y="4229100"/>
            <a:ext cx="3790950" cy="4572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Leaves analysts with more time to interpret results and consider what the data is saying</a:t>
            </a:r>
            <a:endParaRPr lang="en-US" sz="1600" dirty="0"/>
          </a:p>
        </p:txBody>
      </p:sp>
      <p:pic>
        <p:nvPicPr>
          <p:cNvPr id="40" name="Image 0" descr="https://kimi-web-img.moonshot.cn/img/img.freepik.com/b60b2370eb94aff7b76fc769958be91bef43150c.jpg"/>
          <p:cNvPicPr>
            <a:picLocks noChangeAspect="1"/>
          </p:cNvPicPr>
          <p:nvPr/>
        </p:nvPicPr>
        <p:blipFill>
          <a:blip r:embed="rId3"/>
          <a:srcRect t="23584" b="23584"/>
          <a:stretch/>
        </p:blipFill>
        <p:spPr>
          <a:xfrm>
            <a:off x="7376160" y="4991100"/>
            <a:ext cx="4438650" cy="1562100"/>
          </a:xfrm>
          <a:prstGeom prst="roundRect">
            <a:avLst>
              <a:gd name="adj" fmla="val 2439"/>
            </a:avLst>
          </a:prstGeom>
        </p:spPr>
      </p:pic>
      <p:sp>
        <p:nvSpPr>
          <p:cNvPr id="41" name="Shape 38"/>
          <p:cNvSpPr/>
          <p:nvPr/>
        </p:nvSpPr>
        <p:spPr>
          <a:xfrm>
            <a:off x="7376160" y="4991100"/>
            <a:ext cx="4438650" cy="1562100"/>
          </a:xfrm>
          <a:custGeom>
            <a:avLst/>
            <a:gdLst/>
            <a:ahLst/>
            <a:cxnLst/>
            <a:rect l="l" t="t" r="r" b="b"/>
            <a:pathLst>
              <a:path w="4438650" h="1562100">
                <a:moveTo>
                  <a:pt x="38100" y="0"/>
                </a:moveTo>
                <a:lnTo>
                  <a:pt x="4400550" y="0"/>
                </a:lnTo>
                <a:cubicBezTo>
                  <a:pt x="4421592" y="0"/>
                  <a:pt x="4438650" y="17058"/>
                  <a:pt x="4438650" y="38100"/>
                </a:cubicBezTo>
                <a:lnTo>
                  <a:pt x="4438650" y="1524000"/>
                </a:lnTo>
                <a:cubicBezTo>
                  <a:pt x="4438650" y="1545042"/>
                  <a:pt x="4421592" y="1562100"/>
                  <a:pt x="4400550" y="1562100"/>
                </a:cubicBezTo>
                <a:lnTo>
                  <a:pt x="38100" y="1562100"/>
                </a:lnTo>
                <a:cubicBezTo>
                  <a:pt x="17058" y="1562100"/>
                  <a:pt x="0" y="1545042"/>
                  <a:pt x="0" y="1524000"/>
                </a:cubicBezTo>
                <a:lnTo>
                  <a:pt x="0" y="38100"/>
                </a:lnTo>
                <a:cubicBezTo>
                  <a:pt x="0" y="17072"/>
                  <a:pt x="17072" y="0"/>
                  <a:pt x="38100" y="0"/>
                </a:cubicBezTo>
                <a:close/>
              </a:path>
            </a:pathLst>
          </a:custGeom>
          <a:gradFill flip="none" rotWithShape="1">
            <a:gsLst>
              <a:gs pos="0">
                <a:srgbClr val="1A1D21">
                  <a:alpha val="95000"/>
                </a:srgbClr>
              </a:gs>
              <a:gs pos="100000">
                <a:srgbClr val="000000">
                  <a:alpha val="0"/>
                </a:srgbClr>
              </a:gs>
            </a:gsLst>
            <a:lin ang="16200000" scaled="1"/>
          </a:gradFill>
          <a:ln/>
        </p:spPr>
        <p:txBody>
          <a:bodyPr/>
          <a:lstStyle/>
          <a:p>
            <a:endParaRPr lang="en-US"/>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2314575"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Analytical Framework</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Four Types of Data Analysis</a:t>
            </a:r>
            <a:endParaRPr lang="en-US" sz="1600" dirty="0"/>
          </a:p>
        </p:txBody>
      </p:sp>
      <p:sp>
        <p:nvSpPr>
          <p:cNvPr id="5" name="Text 3"/>
          <p:cNvSpPr/>
          <p:nvPr/>
        </p:nvSpPr>
        <p:spPr>
          <a:xfrm>
            <a:off x="381000" y="1638300"/>
            <a:ext cx="11515725" cy="561975"/>
          </a:xfrm>
          <a:prstGeom prst="rect">
            <a:avLst/>
          </a:prstGeom>
          <a:noFill/>
          <a:ln/>
        </p:spPr>
        <p:txBody>
          <a:bodyPr wrap="square" lIns="26670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The answers to </a:t>
            </a:r>
            <a:r>
              <a:rPr lang="en-US" sz="1350" b="1" dirty="0">
                <a:solidFill>
                  <a:srgbClr val="4A9D9C"/>
                </a:solidFill>
                <a:latin typeface="Quattrocento Sans" pitchFamily="34" charset="0"/>
                <a:ea typeface="Quattrocento Sans" pitchFamily="34" charset="-122"/>
                <a:cs typeface="Quattrocento Sans" pitchFamily="34" charset="-120"/>
              </a:rPr>
              <a:t>"What happened?", "Why did it happen?", "What will happen?", and "What should we do?"</a:t>
            </a:r>
            <a:r>
              <a:rPr lang="en-US" sz="1350" dirty="0">
                <a:solidFill>
                  <a:srgbClr val="E0E2E5"/>
                </a:solidFill>
                <a:latin typeface="Quattrocento Sans" pitchFamily="34" charset="0"/>
                <a:ea typeface="Quattrocento Sans" pitchFamily="34" charset="-122"/>
                <a:cs typeface="Quattrocento Sans" pitchFamily="34" charset="-120"/>
              </a:rPr>
              <a:t> are not all answered by the same type of analysis.</a:t>
            </a:r>
            <a:endParaRPr lang="en-US" sz="1600" dirty="0"/>
          </a:p>
        </p:txBody>
      </p:sp>
      <p:sp>
        <p:nvSpPr>
          <p:cNvPr id="6" name="Shape 4"/>
          <p:cNvSpPr/>
          <p:nvPr/>
        </p:nvSpPr>
        <p:spPr>
          <a:xfrm>
            <a:off x="400050" y="2347913"/>
            <a:ext cx="5619750" cy="1990725"/>
          </a:xfrm>
          <a:custGeom>
            <a:avLst/>
            <a:gdLst/>
            <a:ahLst/>
            <a:cxnLst/>
            <a:rect l="l" t="t" r="r" b="b"/>
            <a:pathLst>
              <a:path w="5619750" h="1990725">
                <a:moveTo>
                  <a:pt x="38100" y="0"/>
                </a:moveTo>
                <a:lnTo>
                  <a:pt x="5581648" y="0"/>
                </a:lnTo>
                <a:cubicBezTo>
                  <a:pt x="5602691" y="0"/>
                  <a:pt x="5619750" y="17059"/>
                  <a:pt x="5619750" y="38102"/>
                </a:cubicBezTo>
                <a:lnTo>
                  <a:pt x="5619750" y="1952623"/>
                </a:lnTo>
                <a:cubicBezTo>
                  <a:pt x="5619750" y="1973666"/>
                  <a:pt x="5602691" y="1990725"/>
                  <a:pt x="5581648" y="1990725"/>
                </a:cubicBezTo>
                <a:lnTo>
                  <a:pt x="38100" y="1990725"/>
                </a:lnTo>
                <a:cubicBezTo>
                  <a:pt x="17072" y="1990725"/>
                  <a:pt x="0" y="1973653"/>
                  <a:pt x="0" y="1952625"/>
                </a:cubicBezTo>
                <a:lnTo>
                  <a:pt x="0" y="38100"/>
                </a:lnTo>
                <a:cubicBezTo>
                  <a:pt x="0" y="17072"/>
                  <a:pt x="17072" y="0"/>
                  <a:pt x="38100" y="0"/>
                </a:cubicBezTo>
                <a:close/>
              </a:path>
            </a:pathLst>
          </a:custGeom>
          <a:solidFill>
            <a:srgbClr val="3D4F5F"/>
          </a:solidFill>
          <a:ln/>
        </p:spPr>
        <p:txBody>
          <a:bodyPr/>
          <a:lstStyle/>
          <a:p>
            <a:endParaRPr lang="en-US"/>
          </a:p>
        </p:txBody>
      </p:sp>
      <p:sp>
        <p:nvSpPr>
          <p:cNvPr id="7" name="Shape 5"/>
          <p:cNvSpPr/>
          <p:nvPr/>
        </p:nvSpPr>
        <p:spPr>
          <a:xfrm>
            <a:off x="400050" y="2347913"/>
            <a:ext cx="38100" cy="1990725"/>
          </a:xfrm>
          <a:custGeom>
            <a:avLst/>
            <a:gdLst/>
            <a:ahLst/>
            <a:cxnLst/>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a:srgbClr val="4A9D9C"/>
          </a:solidFill>
          <a:ln/>
        </p:spPr>
        <p:txBody>
          <a:bodyPr/>
          <a:lstStyle/>
          <a:p>
            <a:endParaRPr lang="en-US"/>
          </a:p>
        </p:txBody>
      </p:sp>
      <p:sp>
        <p:nvSpPr>
          <p:cNvPr id="8" name="Shape 6"/>
          <p:cNvSpPr/>
          <p:nvPr/>
        </p:nvSpPr>
        <p:spPr>
          <a:xfrm>
            <a:off x="571500" y="2538296"/>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9" name="Text 7"/>
          <p:cNvSpPr/>
          <p:nvPr/>
        </p:nvSpPr>
        <p:spPr>
          <a:xfrm>
            <a:off x="704374" y="2633546"/>
            <a:ext cx="285750" cy="266700"/>
          </a:xfrm>
          <a:prstGeom prst="rect">
            <a:avLst/>
          </a:prstGeom>
          <a:noFill/>
          <a:ln/>
        </p:spPr>
        <p:txBody>
          <a:bodyPr wrap="square" lIns="0" tIns="0" rIns="0" bIns="0" rtlCol="0" anchor="ctr"/>
          <a:lstStyle/>
          <a:p>
            <a:pPr>
              <a:lnSpc>
                <a:spcPct val="120000"/>
              </a:lnSpc>
            </a:pPr>
            <a:r>
              <a:rPr lang="en-US" sz="1500" b="1" dirty="0">
                <a:solidFill>
                  <a:srgbClr val="1A1D21"/>
                </a:solidFill>
                <a:latin typeface="Hedvig Letters Sans" pitchFamily="34" charset="0"/>
                <a:ea typeface="Hedvig Letters Sans" pitchFamily="34" charset="-122"/>
                <a:cs typeface="Hedvig Letters Sans" pitchFamily="34" charset="-120"/>
              </a:rPr>
              <a:t>01</a:t>
            </a:r>
            <a:endParaRPr lang="en-US" sz="1600" dirty="0"/>
          </a:p>
        </p:txBody>
      </p:sp>
      <p:sp>
        <p:nvSpPr>
          <p:cNvPr id="10" name="Text 8"/>
          <p:cNvSpPr/>
          <p:nvPr/>
        </p:nvSpPr>
        <p:spPr>
          <a:xfrm>
            <a:off x="1143000" y="2500313"/>
            <a:ext cx="1276350"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Exploratory</a:t>
            </a:r>
            <a:endParaRPr lang="en-US" sz="1600" dirty="0"/>
          </a:p>
        </p:txBody>
      </p:sp>
      <p:sp>
        <p:nvSpPr>
          <p:cNvPr id="11" name="Text 9"/>
          <p:cNvSpPr/>
          <p:nvPr/>
        </p:nvSpPr>
        <p:spPr>
          <a:xfrm>
            <a:off x="1143000" y="2804996"/>
            <a:ext cx="1238250"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EDA</a:t>
            </a:r>
            <a:endParaRPr lang="en-US" sz="1600" dirty="0"/>
          </a:p>
        </p:txBody>
      </p:sp>
      <p:sp>
        <p:nvSpPr>
          <p:cNvPr id="12" name="Text 10"/>
          <p:cNvSpPr/>
          <p:nvPr/>
        </p:nvSpPr>
        <p:spPr>
          <a:xfrm>
            <a:off x="571500" y="3109796"/>
            <a:ext cx="5372100" cy="619125"/>
          </a:xfrm>
          <a:prstGeom prst="rect">
            <a:avLst/>
          </a:prstGeom>
          <a:noFill/>
          <a:ln/>
        </p:spPr>
        <p:txBody>
          <a:bodyPr wrap="square" lIns="0" tIns="0" rIns="0" bIns="0" rtlCol="0" anchor="ctr"/>
          <a:lstStyle/>
          <a:p>
            <a:pPr>
              <a:lnSpc>
                <a:spcPct val="140000"/>
              </a:lnSpc>
            </a:pPr>
            <a:r>
              <a:rPr lang="en-US" sz="1200" b="1" dirty="0">
                <a:solidFill>
                  <a:srgbClr val="4A9D9C"/>
                </a:solidFill>
                <a:latin typeface="Quattrocento Sans" pitchFamily="34" charset="0"/>
                <a:ea typeface="Quattrocento Sans" pitchFamily="34" charset="-122"/>
                <a:cs typeface="Quattrocento Sans" pitchFamily="34" charset="-120"/>
              </a:rPr>
              <a:t>Examining data to search for patterns and trends.</a:t>
            </a:r>
            <a:r>
              <a:rPr lang="en-US" sz="1200" dirty="0">
                <a:solidFill>
                  <a:srgbClr val="E0E2E5"/>
                </a:solidFill>
                <a:latin typeface="Quattrocento Sans" pitchFamily="34" charset="0"/>
                <a:ea typeface="Quattrocento Sans" pitchFamily="34" charset="-122"/>
                <a:cs typeface="Quattrocento Sans" pitchFamily="34" charset="-120"/>
              </a:rPr>
              <a:t> Developed by John Tukey in 1977, EDA is always the first step in data analytics.</a:t>
            </a:r>
            <a:endParaRPr lang="en-US" sz="1600" dirty="0"/>
          </a:p>
        </p:txBody>
      </p:sp>
      <p:sp>
        <p:nvSpPr>
          <p:cNvPr id="13" name="Shape 11"/>
          <p:cNvSpPr/>
          <p:nvPr/>
        </p:nvSpPr>
        <p:spPr>
          <a:xfrm>
            <a:off x="571500" y="3802856"/>
            <a:ext cx="5295900" cy="381000"/>
          </a:xfrm>
          <a:custGeom>
            <a:avLst/>
            <a:gdLst/>
            <a:ahLst/>
            <a:cxnLst/>
            <a:rect l="l" t="t" r="r" b="b"/>
            <a:pathLst>
              <a:path w="5295900" h="381000">
                <a:moveTo>
                  <a:pt x="38100" y="0"/>
                </a:moveTo>
                <a:lnTo>
                  <a:pt x="5257800" y="0"/>
                </a:lnTo>
                <a:cubicBezTo>
                  <a:pt x="5278828" y="0"/>
                  <a:pt x="5295900" y="17072"/>
                  <a:pt x="5295900" y="38100"/>
                </a:cubicBezTo>
                <a:lnTo>
                  <a:pt x="5295900" y="342900"/>
                </a:lnTo>
                <a:cubicBezTo>
                  <a:pt x="5295900" y="363928"/>
                  <a:pt x="5278828" y="381000"/>
                  <a:pt x="5257800" y="381000"/>
                </a:cubicBezTo>
                <a:lnTo>
                  <a:pt x="38100" y="381000"/>
                </a:lnTo>
                <a:cubicBezTo>
                  <a:pt x="17072" y="381000"/>
                  <a:pt x="0" y="363928"/>
                  <a:pt x="0" y="342900"/>
                </a:cubicBezTo>
                <a:lnTo>
                  <a:pt x="0" y="38100"/>
                </a:lnTo>
                <a:cubicBezTo>
                  <a:pt x="0" y="17072"/>
                  <a:pt x="17072" y="0"/>
                  <a:pt x="38100" y="0"/>
                </a:cubicBezTo>
                <a:close/>
              </a:path>
            </a:pathLst>
          </a:custGeom>
          <a:solidFill>
            <a:srgbClr val="4A9D9C">
              <a:alpha val="20000"/>
            </a:srgbClr>
          </a:solidFill>
          <a:ln/>
        </p:spPr>
        <p:txBody>
          <a:bodyPr/>
          <a:lstStyle/>
          <a:p>
            <a:endParaRPr lang="en-US"/>
          </a:p>
        </p:txBody>
      </p:sp>
      <p:sp>
        <p:nvSpPr>
          <p:cNvPr id="14" name="Text 12"/>
          <p:cNvSpPr/>
          <p:nvPr/>
        </p:nvSpPr>
        <p:spPr>
          <a:xfrm>
            <a:off x="685800" y="3879056"/>
            <a:ext cx="5143500" cy="228600"/>
          </a:xfrm>
          <a:prstGeom prst="rect">
            <a:avLst/>
          </a:prstGeom>
          <a:noFill/>
          <a:ln/>
        </p:spPr>
        <p:txBody>
          <a:bodyPr wrap="square" lIns="0" tIns="0" rIns="0" bIns="0" rtlCol="0" anchor="ctr"/>
          <a:lstStyle/>
          <a:p>
            <a:pPr>
              <a:lnSpc>
                <a:spcPct val="130000"/>
              </a:lnSpc>
            </a:pPr>
            <a:r>
              <a:rPr lang="en-US" sz="1200" b="1" dirty="0">
                <a:solidFill>
                  <a:srgbClr val="4A9D9C"/>
                </a:solidFill>
                <a:latin typeface="Quattrocento Sans" pitchFamily="34" charset="0"/>
                <a:ea typeface="Quattrocento Sans" pitchFamily="34" charset="-122"/>
                <a:cs typeface="Quattrocento Sans" pitchFamily="34" charset="-120"/>
              </a:rPr>
              <a:t>Question:</a:t>
            </a:r>
            <a:r>
              <a:rPr lang="en-US" sz="1200" dirty="0">
                <a:solidFill>
                  <a:srgbClr val="E0E2E5"/>
                </a:solidFill>
                <a:latin typeface="Quattrocento Sans" pitchFamily="34" charset="0"/>
                <a:ea typeface="Quattrocento Sans" pitchFamily="34" charset="-122"/>
                <a:cs typeface="Quattrocento Sans" pitchFamily="34" charset="-120"/>
              </a:rPr>
              <a:t> "What patterns exist in the data?"</a:t>
            </a:r>
            <a:endParaRPr lang="en-US" sz="1600" dirty="0"/>
          </a:p>
        </p:txBody>
      </p:sp>
      <p:sp>
        <p:nvSpPr>
          <p:cNvPr id="15" name="Shape 13"/>
          <p:cNvSpPr/>
          <p:nvPr/>
        </p:nvSpPr>
        <p:spPr>
          <a:xfrm>
            <a:off x="6191250" y="2347913"/>
            <a:ext cx="5619750" cy="1990725"/>
          </a:xfrm>
          <a:custGeom>
            <a:avLst/>
            <a:gdLst/>
            <a:ahLst/>
            <a:cxnLst/>
            <a:rect l="l" t="t" r="r" b="b"/>
            <a:pathLst>
              <a:path w="5619750" h="1990725">
                <a:moveTo>
                  <a:pt x="38100" y="0"/>
                </a:moveTo>
                <a:lnTo>
                  <a:pt x="5581648" y="0"/>
                </a:lnTo>
                <a:cubicBezTo>
                  <a:pt x="5602691" y="0"/>
                  <a:pt x="5619750" y="17059"/>
                  <a:pt x="5619750" y="38102"/>
                </a:cubicBezTo>
                <a:lnTo>
                  <a:pt x="5619750" y="1952623"/>
                </a:lnTo>
                <a:cubicBezTo>
                  <a:pt x="5619750" y="1973666"/>
                  <a:pt x="5602691" y="1990725"/>
                  <a:pt x="5581648" y="1990725"/>
                </a:cubicBezTo>
                <a:lnTo>
                  <a:pt x="38100" y="1990725"/>
                </a:lnTo>
                <a:cubicBezTo>
                  <a:pt x="17072" y="1990725"/>
                  <a:pt x="0" y="1973653"/>
                  <a:pt x="0" y="1952625"/>
                </a:cubicBezTo>
                <a:lnTo>
                  <a:pt x="0" y="38100"/>
                </a:lnTo>
                <a:cubicBezTo>
                  <a:pt x="0" y="17072"/>
                  <a:pt x="17072" y="0"/>
                  <a:pt x="38100" y="0"/>
                </a:cubicBezTo>
                <a:close/>
              </a:path>
            </a:pathLst>
          </a:custGeom>
          <a:solidFill>
            <a:srgbClr val="3D4F5F"/>
          </a:solidFill>
          <a:ln/>
        </p:spPr>
        <p:txBody>
          <a:bodyPr/>
          <a:lstStyle/>
          <a:p>
            <a:endParaRPr lang="en-US"/>
          </a:p>
        </p:txBody>
      </p:sp>
      <p:sp>
        <p:nvSpPr>
          <p:cNvPr id="16" name="Shape 14"/>
          <p:cNvSpPr/>
          <p:nvPr/>
        </p:nvSpPr>
        <p:spPr>
          <a:xfrm>
            <a:off x="6191250" y="2347913"/>
            <a:ext cx="38100" cy="1990725"/>
          </a:xfrm>
          <a:custGeom>
            <a:avLst/>
            <a:gdLst/>
            <a:ahLst/>
            <a:cxnLst/>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a:srgbClr val="4A9D9C"/>
          </a:solidFill>
          <a:ln/>
        </p:spPr>
        <p:txBody>
          <a:bodyPr/>
          <a:lstStyle/>
          <a:p>
            <a:endParaRPr lang="en-US"/>
          </a:p>
        </p:txBody>
      </p:sp>
      <p:sp>
        <p:nvSpPr>
          <p:cNvPr id="17" name="Shape 15"/>
          <p:cNvSpPr/>
          <p:nvPr/>
        </p:nvSpPr>
        <p:spPr>
          <a:xfrm>
            <a:off x="6362700" y="2538296"/>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18" name="Text 16"/>
          <p:cNvSpPr/>
          <p:nvPr/>
        </p:nvSpPr>
        <p:spPr>
          <a:xfrm>
            <a:off x="6481882" y="2633546"/>
            <a:ext cx="314325" cy="266700"/>
          </a:xfrm>
          <a:prstGeom prst="rect">
            <a:avLst/>
          </a:prstGeom>
          <a:noFill/>
          <a:ln/>
        </p:spPr>
        <p:txBody>
          <a:bodyPr wrap="square" lIns="0" tIns="0" rIns="0" bIns="0" rtlCol="0" anchor="ctr"/>
          <a:lstStyle/>
          <a:p>
            <a:pPr>
              <a:lnSpc>
                <a:spcPct val="120000"/>
              </a:lnSpc>
            </a:pPr>
            <a:r>
              <a:rPr lang="en-US" sz="1500" b="1" dirty="0">
                <a:solidFill>
                  <a:srgbClr val="1A1D21"/>
                </a:solidFill>
                <a:latin typeface="Hedvig Letters Sans" pitchFamily="34" charset="0"/>
                <a:ea typeface="Hedvig Letters Sans" pitchFamily="34" charset="-122"/>
                <a:cs typeface="Hedvig Letters Sans" pitchFamily="34" charset="-120"/>
              </a:rPr>
              <a:t>02</a:t>
            </a:r>
            <a:endParaRPr lang="en-US" sz="1600" dirty="0"/>
          </a:p>
        </p:txBody>
      </p:sp>
      <p:sp>
        <p:nvSpPr>
          <p:cNvPr id="19" name="Text 17"/>
          <p:cNvSpPr/>
          <p:nvPr/>
        </p:nvSpPr>
        <p:spPr>
          <a:xfrm>
            <a:off x="6934200" y="2500313"/>
            <a:ext cx="1266825"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Descriptive</a:t>
            </a:r>
            <a:endParaRPr lang="en-US" sz="1600" dirty="0"/>
          </a:p>
        </p:txBody>
      </p:sp>
      <p:sp>
        <p:nvSpPr>
          <p:cNvPr id="20" name="Text 18"/>
          <p:cNvSpPr/>
          <p:nvPr/>
        </p:nvSpPr>
        <p:spPr>
          <a:xfrm>
            <a:off x="6934200" y="2804996"/>
            <a:ext cx="1228725"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Past Performance</a:t>
            </a:r>
            <a:endParaRPr lang="en-US" sz="1600" dirty="0"/>
          </a:p>
        </p:txBody>
      </p:sp>
      <p:sp>
        <p:nvSpPr>
          <p:cNvPr id="21" name="Text 19"/>
          <p:cNvSpPr/>
          <p:nvPr/>
        </p:nvSpPr>
        <p:spPr>
          <a:xfrm>
            <a:off x="6362700" y="3109796"/>
            <a:ext cx="5372100" cy="619125"/>
          </a:xfrm>
          <a:prstGeom prst="rect">
            <a:avLst/>
          </a:prstGeom>
          <a:noFill/>
          <a:ln/>
        </p:spPr>
        <p:txBody>
          <a:bodyPr wrap="square" lIns="0" tIns="0" rIns="0" bIns="0" rtlCol="0" anchor="ctr"/>
          <a:lstStyle/>
          <a:p>
            <a:pPr>
              <a:lnSpc>
                <a:spcPct val="140000"/>
              </a:lnSpc>
            </a:pPr>
            <a:r>
              <a:rPr lang="en-US" sz="1200" b="1" dirty="0">
                <a:solidFill>
                  <a:srgbClr val="4A9D9C"/>
                </a:solidFill>
                <a:latin typeface="Quattrocento Sans" pitchFamily="34" charset="0"/>
                <a:ea typeface="Quattrocento Sans" pitchFamily="34" charset="-122"/>
                <a:cs typeface="Quattrocento Sans" pitchFamily="34" charset="-120"/>
              </a:rPr>
              <a:t>Answers "What happened?"</a:t>
            </a:r>
            <a:r>
              <a:rPr lang="en-US" sz="1200" dirty="0">
                <a:solidFill>
                  <a:srgbClr val="E0E2E5"/>
                </a:solidFill>
                <a:latin typeface="Quattrocento Sans" pitchFamily="34" charset="0"/>
                <a:ea typeface="Quattrocento Sans" pitchFamily="34" charset="-122"/>
                <a:cs typeface="Quattrocento Sans" pitchFamily="34" charset="-120"/>
              </a:rPr>
              <a:t> by uncovering patterns in historical data. Examples include year-over-year increases and month-to-month revenue changes.</a:t>
            </a:r>
            <a:endParaRPr lang="en-US" sz="1600" dirty="0"/>
          </a:p>
        </p:txBody>
      </p:sp>
      <p:sp>
        <p:nvSpPr>
          <p:cNvPr id="22" name="Shape 20"/>
          <p:cNvSpPr/>
          <p:nvPr/>
        </p:nvSpPr>
        <p:spPr>
          <a:xfrm>
            <a:off x="6362700" y="3802856"/>
            <a:ext cx="5295900" cy="381000"/>
          </a:xfrm>
          <a:custGeom>
            <a:avLst/>
            <a:gdLst/>
            <a:ahLst/>
            <a:cxnLst/>
            <a:rect l="l" t="t" r="r" b="b"/>
            <a:pathLst>
              <a:path w="5295900" h="381000">
                <a:moveTo>
                  <a:pt x="38100" y="0"/>
                </a:moveTo>
                <a:lnTo>
                  <a:pt x="5257800" y="0"/>
                </a:lnTo>
                <a:cubicBezTo>
                  <a:pt x="5278828" y="0"/>
                  <a:pt x="5295900" y="17072"/>
                  <a:pt x="5295900" y="38100"/>
                </a:cubicBezTo>
                <a:lnTo>
                  <a:pt x="5295900" y="342900"/>
                </a:lnTo>
                <a:cubicBezTo>
                  <a:pt x="5295900" y="363928"/>
                  <a:pt x="5278828" y="381000"/>
                  <a:pt x="5257800" y="381000"/>
                </a:cubicBezTo>
                <a:lnTo>
                  <a:pt x="38100" y="381000"/>
                </a:lnTo>
                <a:cubicBezTo>
                  <a:pt x="17072" y="381000"/>
                  <a:pt x="0" y="363928"/>
                  <a:pt x="0" y="342900"/>
                </a:cubicBezTo>
                <a:lnTo>
                  <a:pt x="0" y="38100"/>
                </a:lnTo>
                <a:cubicBezTo>
                  <a:pt x="0" y="17072"/>
                  <a:pt x="17072" y="0"/>
                  <a:pt x="38100" y="0"/>
                </a:cubicBezTo>
                <a:close/>
              </a:path>
            </a:pathLst>
          </a:custGeom>
          <a:solidFill>
            <a:srgbClr val="4A9D9C">
              <a:alpha val="20000"/>
            </a:srgbClr>
          </a:solidFill>
          <a:ln/>
        </p:spPr>
        <p:txBody>
          <a:bodyPr/>
          <a:lstStyle/>
          <a:p>
            <a:endParaRPr lang="en-US"/>
          </a:p>
        </p:txBody>
      </p:sp>
      <p:sp>
        <p:nvSpPr>
          <p:cNvPr id="23" name="Text 21"/>
          <p:cNvSpPr/>
          <p:nvPr/>
        </p:nvSpPr>
        <p:spPr>
          <a:xfrm>
            <a:off x="6477000" y="3879056"/>
            <a:ext cx="5143500" cy="228600"/>
          </a:xfrm>
          <a:prstGeom prst="rect">
            <a:avLst/>
          </a:prstGeom>
          <a:noFill/>
          <a:ln/>
        </p:spPr>
        <p:txBody>
          <a:bodyPr wrap="square" lIns="0" tIns="0" rIns="0" bIns="0" rtlCol="0" anchor="ctr"/>
          <a:lstStyle/>
          <a:p>
            <a:pPr>
              <a:lnSpc>
                <a:spcPct val="130000"/>
              </a:lnSpc>
            </a:pPr>
            <a:r>
              <a:rPr lang="en-US" sz="1200" b="1" dirty="0">
                <a:solidFill>
                  <a:srgbClr val="4A9D9C"/>
                </a:solidFill>
                <a:latin typeface="Quattrocento Sans" pitchFamily="34" charset="0"/>
                <a:ea typeface="Quattrocento Sans" pitchFamily="34" charset="-122"/>
                <a:cs typeface="Quattrocento Sans" pitchFamily="34" charset="-120"/>
              </a:rPr>
              <a:t>Question:</a:t>
            </a:r>
            <a:r>
              <a:rPr lang="en-US" sz="1200" dirty="0">
                <a:solidFill>
                  <a:srgbClr val="E0E2E5"/>
                </a:solidFill>
                <a:latin typeface="Quattrocento Sans" pitchFamily="34" charset="0"/>
                <a:ea typeface="Quattrocento Sans" pitchFamily="34" charset="-122"/>
                <a:cs typeface="Quattrocento Sans" pitchFamily="34" charset="-120"/>
              </a:rPr>
              <a:t> "What happened in the past?"</a:t>
            </a:r>
            <a:endParaRPr lang="en-US" sz="1600" dirty="0"/>
          </a:p>
        </p:txBody>
      </p:sp>
      <p:sp>
        <p:nvSpPr>
          <p:cNvPr id="24" name="Shape 22"/>
          <p:cNvSpPr/>
          <p:nvPr/>
        </p:nvSpPr>
        <p:spPr>
          <a:xfrm>
            <a:off x="400050" y="4488656"/>
            <a:ext cx="5619750" cy="1990725"/>
          </a:xfrm>
          <a:custGeom>
            <a:avLst/>
            <a:gdLst/>
            <a:ahLst/>
            <a:cxnLst/>
            <a:rect l="l" t="t" r="r" b="b"/>
            <a:pathLst>
              <a:path w="5619750" h="1990725">
                <a:moveTo>
                  <a:pt x="38100" y="0"/>
                </a:moveTo>
                <a:lnTo>
                  <a:pt x="5581648" y="0"/>
                </a:lnTo>
                <a:cubicBezTo>
                  <a:pt x="5602691" y="0"/>
                  <a:pt x="5619750" y="17059"/>
                  <a:pt x="5619750" y="38102"/>
                </a:cubicBezTo>
                <a:lnTo>
                  <a:pt x="5619750" y="1952623"/>
                </a:lnTo>
                <a:cubicBezTo>
                  <a:pt x="5619750" y="1973666"/>
                  <a:pt x="5602691" y="1990725"/>
                  <a:pt x="5581648" y="1990725"/>
                </a:cubicBezTo>
                <a:lnTo>
                  <a:pt x="38100" y="1990725"/>
                </a:lnTo>
                <a:cubicBezTo>
                  <a:pt x="17072" y="1990725"/>
                  <a:pt x="0" y="1973653"/>
                  <a:pt x="0" y="1952625"/>
                </a:cubicBezTo>
                <a:lnTo>
                  <a:pt x="0" y="38100"/>
                </a:lnTo>
                <a:cubicBezTo>
                  <a:pt x="0" y="17072"/>
                  <a:pt x="17072" y="0"/>
                  <a:pt x="38100" y="0"/>
                </a:cubicBezTo>
                <a:close/>
              </a:path>
            </a:pathLst>
          </a:custGeom>
          <a:solidFill>
            <a:srgbClr val="3D4F5F"/>
          </a:solidFill>
          <a:ln/>
        </p:spPr>
        <p:txBody>
          <a:bodyPr/>
          <a:lstStyle/>
          <a:p>
            <a:endParaRPr lang="en-US"/>
          </a:p>
        </p:txBody>
      </p:sp>
      <p:sp>
        <p:nvSpPr>
          <p:cNvPr id="25" name="Shape 23"/>
          <p:cNvSpPr/>
          <p:nvPr/>
        </p:nvSpPr>
        <p:spPr>
          <a:xfrm>
            <a:off x="400050" y="4488656"/>
            <a:ext cx="38100" cy="1990725"/>
          </a:xfrm>
          <a:custGeom>
            <a:avLst/>
            <a:gdLst/>
            <a:ahLst/>
            <a:cxnLst/>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a:srgbClr val="4A9D9C"/>
          </a:solidFill>
          <a:ln/>
        </p:spPr>
        <p:txBody>
          <a:bodyPr/>
          <a:lstStyle/>
          <a:p>
            <a:endParaRPr lang="en-US"/>
          </a:p>
        </p:txBody>
      </p:sp>
      <p:sp>
        <p:nvSpPr>
          <p:cNvPr id="26" name="Shape 24"/>
          <p:cNvSpPr/>
          <p:nvPr/>
        </p:nvSpPr>
        <p:spPr>
          <a:xfrm>
            <a:off x="571500" y="467904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27" name="Text 25"/>
          <p:cNvSpPr/>
          <p:nvPr/>
        </p:nvSpPr>
        <p:spPr>
          <a:xfrm>
            <a:off x="687824" y="4774290"/>
            <a:ext cx="323850" cy="266700"/>
          </a:xfrm>
          <a:prstGeom prst="rect">
            <a:avLst/>
          </a:prstGeom>
          <a:noFill/>
          <a:ln/>
        </p:spPr>
        <p:txBody>
          <a:bodyPr wrap="square" lIns="0" tIns="0" rIns="0" bIns="0" rtlCol="0" anchor="ctr"/>
          <a:lstStyle/>
          <a:p>
            <a:pPr>
              <a:lnSpc>
                <a:spcPct val="120000"/>
              </a:lnSpc>
            </a:pPr>
            <a:r>
              <a:rPr lang="en-US" sz="1500" b="1" dirty="0">
                <a:solidFill>
                  <a:srgbClr val="1A1D21"/>
                </a:solidFill>
                <a:latin typeface="Hedvig Letters Sans" pitchFamily="34" charset="0"/>
                <a:ea typeface="Hedvig Letters Sans" pitchFamily="34" charset="-122"/>
                <a:cs typeface="Hedvig Letters Sans" pitchFamily="34" charset="-120"/>
              </a:rPr>
              <a:t>03</a:t>
            </a:r>
            <a:endParaRPr lang="en-US" sz="1600" dirty="0"/>
          </a:p>
        </p:txBody>
      </p:sp>
      <p:sp>
        <p:nvSpPr>
          <p:cNvPr id="28" name="Text 26"/>
          <p:cNvSpPr/>
          <p:nvPr/>
        </p:nvSpPr>
        <p:spPr>
          <a:xfrm>
            <a:off x="1143000" y="4641056"/>
            <a:ext cx="1257300"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Predictive</a:t>
            </a:r>
            <a:endParaRPr lang="en-US" sz="1600" dirty="0"/>
          </a:p>
        </p:txBody>
      </p:sp>
      <p:sp>
        <p:nvSpPr>
          <p:cNvPr id="29" name="Text 27"/>
          <p:cNvSpPr/>
          <p:nvPr/>
        </p:nvSpPr>
        <p:spPr>
          <a:xfrm>
            <a:off x="1143000" y="4945740"/>
            <a:ext cx="1219200"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Future Outcomes</a:t>
            </a:r>
            <a:endParaRPr lang="en-US" sz="1600" dirty="0"/>
          </a:p>
        </p:txBody>
      </p:sp>
      <p:sp>
        <p:nvSpPr>
          <p:cNvPr id="30" name="Text 28"/>
          <p:cNvSpPr/>
          <p:nvPr/>
        </p:nvSpPr>
        <p:spPr>
          <a:xfrm>
            <a:off x="571500" y="5250540"/>
            <a:ext cx="5372100" cy="619125"/>
          </a:xfrm>
          <a:prstGeom prst="rect">
            <a:avLst/>
          </a:prstGeom>
          <a:noFill/>
          <a:ln/>
        </p:spPr>
        <p:txBody>
          <a:bodyPr wrap="square" lIns="0" tIns="0" rIns="0" bIns="0" rtlCol="0" anchor="ctr"/>
          <a:lstStyle/>
          <a:p>
            <a:pPr>
              <a:lnSpc>
                <a:spcPct val="140000"/>
              </a:lnSpc>
            </a:pPr>
            <a:r>
              <a:rPr lang="en-US" sz="1200" b="1" dirty="0">
                <a:solidFill>
                  <a:srgbClr val="4A9D9C"/>
                </a:solidFill>
                <a:latin typeface="Quattrocento Sans" pitchFamily="34" charset="0"/>
                <a:ea typeface="Quattrocento Sans" pitchFamily="34" charset="-122"/>
                <a:cs typeface="Quattrocento Sans" pitchFamily="34" charset="-120"/>
              </a:rPr>
              <a:t>Uses algorithms and machine learning</a:t>
            </a:r>
            <a:r>
              <a:rPr lang="en-US" sz="1200" dirty="0">
                <a:solidFill>
                  <a:srgbClr val="E0E2E5"/>
                </a:solidFill>
                <a:latin typeface="Quattrocento Sans" pitchFamily="34" charset="0"/>
                <a:ea typeface="Quattrocento Sans" pitchFamily="34" charset="-122"/>
                <a:cs typeface="Quattrocento Sans" pitchFamily="34" charset="-120"/>
              </a:rPr>
              <a:t> to predict future events based on historical data. Think of it as a crystal ball for business.</a:t>
            </a:r>
            <a:endParaRPr lang="en-US" sz="1600" dirty="0"/>
          </a:p>
        </p:txBody>
      </p:sp>
      <p:sp>
        <p:nvSpPr>
          <p:cNvPr id="31" name="Shape 29"/>
          <p:cNvSpPr/>
          <p:nvPr/>
        </p:nvSpPr>
        <p:spPr>
          <a:xfrm>
            <a:off x="571500" y="5943600"/>
            <a:ext cx="5295900" cy="381000"/>
          </a:xfrm>
          <a:custGeom>
            <a:avLst/>
            <a:gdLst/>
            <a:ahLst/>
            <a:cxnLst/>
            <a:rect l="l" t="t" r="r" b="b"/>
            <a:pathLst>
              <a:path w="5295900" h="381000">
                <a:moveTo>
                  <a:pt x="38100" y="0"/>
                </a:moveTo>
                <a:lnTo>
                  <a:pt x="5257800" y="0"/>
                </a:lnTo>
                <a:cubicBezTo>
                  <a:pt x="5278828" y="0"/>
                  <a:pt x="5295900" y="17072"/>
                  <a:pt x="5295900" y="38100"/>
                </a:cubicBezTo>
                <a:lnTo>
                  <a:pt x="5295900" y="342900"/>
                </a:lnTo>
                <a:cubicBezTo>
                  <a:pt x="5295900" y="363928"/>
                  <a:pt x="5278828" y="381000"/>
                  <a:pt x="5257800" y="381000"/>
                </a:cubicBezTo>
                <a:lnTo>
                  <a:pt x="38100" y="381000"/>
                </a:lnTo>
                <a:cubicBezTo>
                  <a:pt x="17072" y="381000"/>
                  <a:pt x="0" y="363928"/>
                  <a:pt x="0" y="342900"/>
                </a:cubicBezTo>
                <a:lnTo>
                  <a:pt x="0" y="38100"/>
                </a:lnTo>
                <a:cubicBezTo>
                  <a:pt x="0" y="17072"/>
                  <a:pt x="17072" y="0"/>
                  <a:pt x="38100" y="0"/>
                </a:cubicBezTo>
                <a:close/>
              </a:path>
            </a:pathLst>
          </a:custGeom>
          <a:solidFill>
            <a:srgbClr val="4A9D9C">
              <a:alpha val="20000"/>
            </a:srgbClr>
          </a:solidFill>
          <a:ln/>
        </p:spPr>
        <p:txBody>
          <a:bodyPr/>
          <a:lstStyle/>
          <a:p>
            <a:endParaRPr lang="en-US"/>
          </a:p>
        </p:txBody>
      </p:sp>
      <p:sp>
        <p:nvSpPr>
          <p:cNvPr id="32" name="Text 30"/>
          <p:cNvSpPr/>
          <p:nvPr/>
        </p:nvSpPr>
        <p:spPr>
          <a:xfrm>
            <a:off x="685800" y="6019800"/>
            <a:ext cx="5143500" cy="228600"/>
          </a:xfrm>
          <a:prstGeom prst="rect">
            <a:avLst/>
          </a:prstGeom>
          <a:noFill/>
          <a:ln/>
        </p:spPr>
        <p:txBody>
          <a:bodyPr wrap="square" lIns="0" tIns="0" rIns="0" bIns="0" rtlCol="0" anchor="ctr"/>
          <a:lstStyle/>
          <a:p>
            <a:pPr>
              <a:lnSpc>
                <a:spcPct val="130000"/>
              </a:lnSpc>
            </a:pPr>
            <a:r>
              <a:rPr lang="en-US" sz="1200" b="1" dirty="0">
                <a:solidFill>
                  <a:srgbClr val="4A9D9C"/>
                </a:solidFill>
                <a:latin typeface="Quattrocento Sans" pitchFamily="34" charset="0"/>
                <a:ea typeface="Quattrocento Sans" pitchFamily="34" charset="-122"/>
                <a:cs typeface="Quattrocento Sans" pitchFamily="34" charset="-120"/>
              </a:rPr>
              <a:t>Question:</a:t>
            </a:r>
            <a:r>
              <a:rPr lang="en-US" sz="1200" dirty="0">
                <a:solidFill>
                  <a:srgbClr val="E0E2E5"/>
                </a:solidFill>
                <a:latin typeface="Quattrocento Sans" pitchFamily="34" charset="0"/>
                <a:ea typeface="Quattrocento Sans" pitchFamily="34" charset="-122"/>
                <a:cs typeface="Quattrocento Sans" pitchFamily="34" charset="-120"/>
              </a:rPr>
              <a:t> "What could happen in the future?"</a:t>
            </a:r>
            <a:endParaRPr lang="en-US" sz="1600" dirty="0"/>
          </a:p>
        </p:txBody>
      </p:sp>
      <p:sp>
        <p:nvSpPr>
          <p:cNvPr id="33" name="Shape 31"/>
          <p:cNvSpPr/>
          <p:nvPr/>
        </p:nvSpPr>
        <p:spPr>
          <a:xfrm>
            <a:off x="6191250" y="4488656"/>
            <a:ext cx="5619750" cy="1990725"/>
          </a:xfrm>
          <a:custGeom>
            <a:avLst/>
            <a:gdLst/>
            <a:ahLst/>
            <a:cxnLst/>
            <a:rect l="l" t="t" r="r" b="b"/>
            <a:pathLst>
              <a:path w="5619750" h="1990725">
                <a:moveTo>
                  <a:pt x="38100" y="0"/>
                </a:moveTo>
                <a:lnTo>
                  <a:pt x="5581648" y="0"/>
                </a:lnTo>
                <a:cubicBezTo>
                  <a:pt x="5602691" y="0"/>
                  <a:pt x="5619750" y="17059"/>
                  <a:pt x="5619750" y="38102"/>
                </a:cubicBezTo>
                <a:lnTo>
                  <a:pt x="5619750" y="1952623"/>
                </a:lnTo>
                <a:cubicBezTo>
                  <a:pt x="5619750" y="1973666"/>
                  <a:pt x="5602691" y="1990725"/>
                  <a:pt x="5581648" y="1990725"/>
                </a:cubicBezTo>
                <a:lnTo>
                  <a:pt x="38100" y="1990725"/>
                </a:lnTo>
                <a:cubicBezTo>
                  <a:pt x="17072" y="1990725"/>
                  <a:pt x="0" y="1973653"/>
                  <a:pt x="0" y="1952625"/>
                </a:cubicBezTo>
                <a:lnTo>
                  <a:pt x="0" y="38100"/>
                </a:lnTo>
                <a:cubicBezTo>
                  <a:pt x="0" y="17072"/>
                  <a:pt x="17072" y="0"/>
                  <a:pt x="38100" y="0"/>
                </a:cubicBezTo>
                <a:close/>
              </a:path>
            </a:pathLst>
          </a:custGeom>
          <a:solidFill>
            <a:srgbClr val="3D4F5F"/>
          </a:solidFill>
          <a:ln/>
        </p:spPr>
        <p:txBody>
          <a:bodyPr/>
          <a:lstStyle/>
          <a:p>
            <a:endParaRPr lang="en-US"/>
          </a:p>
        </p:txBody>
      </p:sp>
      <p:sp>
        <p:nvSpPr>
          <p:cNvPr id="34" name="Shape 32"/>
          <p:cNvSpPr/>
          <p:nvPr/>
        </p:nvSpPr>
        <p:spPr>
          <a:xfrm>
            <a:off x="6191250" y="4488656"/>
            <a:ext cx="38100" cy="1990725"/>
          </a:xfrm>
          <a:custGeom>
            <a:avLst/>
            <a:gdLst/>
            <a:ahLst/>
            <a:cxnLst/>
            <a:rect l="l" t="t" r="r" b="b"/>
            <a:pathLst>
              <a:path w="38100" h="1990725">
                <a:moveTo>
                  <a:pt x="38100" y="0"/>
                </a:moveTo>
                <a:lnTo>
                  <a:pt x="38100" y="0"/>
                </a:lnTo>
                <a:lnTo>
                  <a:pt x="38100" y="1990725"/>
                </a:lnTo>
                <a:lnTo>
                  <a:pt x="38100" y="1990725"/>
                </a:lnTo>
                <a:cubicBezTo>
                  <a:pt x="17072" y="1990725"/>
                  <a:pt x="0" y="1973653"/>
                  <a:pt x="0" y="1952625"/>
                </a:cubicBezTo>
                <a:lnTo>
                  <a:pt x="0" y="38100"/>
                </a:lnTo>
                <a:cubicBezTo>
                  <a:pt x="0" y="17072"/>
                  <a:pt x="17072" y="0"/>
                  <a:pt x="38100" y="0"/>
                </a:cubicBezTo>
                <a:close/>
              </a:path>
            </a:pathLst>
          </a:custGeom>
          <a:solidFill>
            <a:srgbClr val="4A9D9C"/>
          </a:solidFill>
          <a:ln/>
        </p:spPr>
        <p:txBody>
          <a:bodyPr/>
          <a:lstStyle/>
          <a:p>
            <a:endParaRPr lang="en-US"/>
          </a:p>
        </p:txBody>
      </p:sp>
      <p:sp>
        <p:nvSpPr>
          <p:cNvPr id="35" name="Shape 33"/>
          <p:cNvSpPr/>
          <p:nvPr/>
        </p:nvSpPr>
        <p:spPr>
          <a:xfrm>
            <a:off x="6362700" y="467904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36" name="Text 34"/>
          <p:cNvSpPr/>
          <p:nvPr/>
        </p:nvSpPr>
        <p:spPr>
          <a:xfrm>
            <a:off x="6476524" y="4774290"/>
            <a:ext cx="323850" cy="266700"/>
          </a:xfrm>
          <a:prstGeom prst="rect">
            <a:avLst/>
          </a:prstGeom>
          <a:noFill/>
          <a:ln/>
        </p:spPr>
        <p:txBody>
          <a:bodyPr wrap="square" lIns="0" tIns="0" rIns="0" bIns="0" rtlCol="0" anchor="ctr"/>
          <a:lstStyle/>
          <a:p>
            <a:pPr>
              <a:lnSpc>
                <a:spcPct val="120000"/>
              </a:lnSpc>
            </a:pPr>
            <a:r>
              <a:rPr lang="en-US" sz="1500" b="1" dirty="0">
                <a:solidFill>
                  <a:srgbClr val="1A1D21"/>
                </a:solidFill>
                <a:latin typeface="Hedvig Letters Sans" pitchFamily="34" charset="0"/>
                <a:ea typeface="Hedvig Letters Sans" pitchFamily="34" charset="-122"/>
                <a:cs typeface="Hedvig Letters Sans" pitchFamily="34" charset="-120"/>
              </a:rPr>
              <a:t>04</a:t>
            </a:r>
            <a:endParaRPr lang="en-US" sz="1600" dirty="0"/>
          </a:p>
        </p:txBody>
      </p:sp>
      <p:sp>
        <p:nvSpPr>
          <p:cNvPr id="37" name="Text 35"/>
          <p:cNvSpPr/>
          <p:nvPr/>
        </p:nvSpPr>
        <p:spPr>
          <a:xfrm>
            <a:off x="6934200" y="4641056"/>
            <a:ext cx="1323975"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Prescriptive</a:t>
            </a:r>
            <a:endParaRPr lang="en-US" sz="1600" dirty="0"/>
          </a:p>
        </p:txBody>
      </p:sp>
      <p:sp>
        <p:nvSpPr>
          <p:cNvPr id="38" name="Text 36"/>
          <p:cNvSpPr/>
          <p:nvPr/>
        </p:nvSpPr>
        <p:spPr>
          <a:xfrm>
            <a:off x="6934200" y="4945740"/>
            <a:ext cx="1285875" cy="228600"/>
          </a:xfrm>
          <a:prstGeom prst="rect">
            <a:avLst/>
          </a:prstGeom>
          <a:noFill/>
          <a:ln/>
        </p:spPr>
        <p:txBody>
          <a:bodyPr wrap="square" lIns="0" tIns="0" rIns="0" bIns="0" rtlCol="0" anchor="ctr"/>
          <a:lstStyle/>
          <a:p>
            <a:pP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Decision Support</a:t>
            </a:r>
            <a:endParaRPr lang="en-US" sz="1600" dirty="0"/>
          </a:p>
        </p:txBody>
      </p:sp>
      <p:sp>
        <p:nvSpPr>
          <p:cNvPr id="39" name="Text 37"/>
          <p:cNvSpPr/>
          <p:nvPr/>
        </p:nvSpPr>
        <p:spPr>
          <a:xfrm>
            <a:off x="6362700" y="5250540"/>
            <a:ext cx="5372100" cy="619125"/>
          </a:xfrm>
          <a:prstGeom prst="rect">
            <a:avLst/>
          </a:prstGeom>
          <a:noFill/>
          <a:ln/>
        </p:spPr>
        <p:txBody>
          <a:bodyPr wrap="square" lIns="0" tIns="0" rIns="0" bIns="0" rtlCol="0" anchor="ctr"/>
          <a:lstStyle/>
          <a:p>
            <a:pPr>
              <a:lnSpc>
                <a:spcPct val="140000"/>
              </a:lnSpc>
            </a:pPr>
            <a:r>
              <a:rPr lang="en-US" sz="1200" b="1" dirty="0">
                <a:solidFill>
                  <a:srgbClr val="4A9D9C"/>
                </a:solidFill>
                <a:latin typeface="Quattrocento Sans" pitchFamily="34" charset="0"/>
                <a:ea typeface="Quattrocento Sans" pitchFamily="34" charset="-122"/>
                <a:cs typeface="Quattrocento Sans" pitchFamily="34" charset="-120"/>
              </a:rPr>
              <a:t>The most advanced stage</a:t>
            </a:r>
            <a:r>
              <a:rPr lang="en-US" sz="1200" dirty="0">
                <a:solidFill>
                  <a:srgbClr val="E0E2E5"/>
                </a:solidFill>
                <a:latin typeface="Quattrocento Sans" pitchFamily="34" charset="0"/>
                <a:ea typeface="Quattrocento Sans" pitchFamily="34" charset="-122"/>
                <a:cs typeface="Quattrocento Sans" pitchFamily="34" charset="-120"/>
              </a:rPr>
              <a:t> - helps you understand what you should do and the outcomes if you follow its recommendations.</a:t>
            </a:r>
            <a:endParaRPr lang="en-US" sz="1600" dirty="0"/>
          </a:p>
        </p:txBody>
      </p:sp>
      <p:sp>
        <p:nvSpPr>
          <p:cNvPr id="40" name="Shape 38"/>
          <p:cNvSpPr/>
          <p:nvPr/>
        </p:nvSpPr>
        <p:spPr>
          <a:xfrm>
            <a:off x="6362700" y="5943600"/>
            <a:ext cx="5295900" cy="381000"/>
          </a:xfrm>
          <a:custGeom>
            <a:avLst/>
            <a:gdLst/>
            <a:ahLst/>
            <a:cxnLst/>
            <a:rect l="l" t="t" r="r" b="b"/>
            <a:pathLst>
              <a:path w="5295900" h="381000">
                <a:moveTo>
                  <a:pt x="38100" y="0"/>
                </a:moveTo>
                <a:lnTo>
                  <a:pt x="5257800" y="0"/>
                </a:lnTo>
                <a:cubicBezTo>
                  <a:pt x="5278828" y="0"/>
                  <a:pt x="5295900" y="17072"/>
                  <a:pt x="5295900" y="38100"/>
                </a:cubicBezTo>
                <a:lnTo>
                  <a:pt x="5295900" y="342900"/>
                </a:lnTo>
                <a:cubicBezTo>
                  <a:pt x="5295900" y="363928"/>
                  <a:pt x="5278828" y="381000"/>
                  <a:pt x="5257800" y="381000"/>
                </a:cubicBezTo>
                <a:lnTo>
                  <a:pt x="38100" y="381000"/>
                </a:lnTo>
                <a:cubicBezTo>
                  <a:pt x="17072" y="381000"/>
                  <a:pt x="0" y="363928"/>
                  <a:pt x="0" y="342900"/>
                </a:cubicBezTo>
                <a:lnTo>
                  <a:pt x="0" y="38100"/>
                </a:lnTo>
                <a:cubicBezTo>
                  <a:pt x="0" y="17072"/>
                  <a:pt x="17072" y="0"/>
                  <a:pt x="38100" y="0"/>
                </a:cubicBezTo>
                <a:close/>
              </a:path>
            </a:pathLst>
          </a:custGeom>
          <a:solidFill>
            <a:srgbClr val="4A9D9C">
              <a:alpha val="20000"/>
            </a:srgbClr>
          </a:solidFill>
          <a:ln/>
        </p:spPr>
        <p:txBody>
          <a:bodyPr/>
          <a:lstStyle/>
          <a:p>
            <a:endParaRPr lang="en-US"/>
          </a:p>
        </p:txBody>
      </p:sp>
      <p:sp>
        <p:nvSpPr>
          <p:cNvPr id="41" name="Text 39"/>
          <p:cNvSpPr/>
          <p:nvPr/>
        </p:nvSpPr>
        <p:spPr>
          <a:xfrm>
            <a:off x="6477000" y="6019800"/>
            <a:ext cx="5143500" cy="228600"/>
          </a:xfrm>
          <a:prstGeom prst="rect">
            <a:avLst/>
          </a:prstGeom>
          <a:noFill/>
          <a:ln/>
        </p:spPr>
        <p:txBody>
          <a:bodyPr wrap="square" lIns="0" tIns="0" rIns="0" bIns="0" rtlCol="0" anchor="ctr"/>
          <a:lstStyle/>
          <a:p>
            <a:pPr>
              <a:lnSpc>
                <a:spcPct val="130000"/>
              </a:lnSpc>
            </a:pPr>
            <a:r>
              <a:rPr lang="en-US" sz="1200" b="1" dirty="0">
                <a:solidFill>
                  <a:srgbClr val="4A9D9C"/>
                </a:solidFill>
                <a:latin typeface="Quattrocento Sans" pitchFamily="34" charset="0"/>
                <a:ea typeface="Quattrocento Sans" pitchFamily="34" charset="-122"/>
                <a:cs typeface="Quattrocento Sans" pitchFamily="34" charset="-120"/>
              </a:rPr>
              <a:t>Question:</a:t>
            </a:r>
            <a:r>
              <a:rPr lang="en-US" sz="1200" dirty="0">
                <a:solidFill>
                  <a:srgbClr val="E0E2E5"/>
                </a:solidFill>
                <a:latin typeface="Quattrocento Sans" pitchFamily="34" charset="0"/>
                <a:ea typeface="Quattrocento Sans" pitchFamily="34" charset="-122"/>
                <a:cs typeface="Quattrocento Sans" pitchFamily="34" charset="-120"/>
              </a:rPr>
              <a:t> "What should we do?"</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1266825"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Governance</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Best Practices: Decision-Making</a:t>
            </a:r>
            <a:endParaRPr lang="en-US" sz="1600" dirty="0"/>
          </a:p>
        </p:txBody>
      </p:sp>
      <p:sp>
        <p:nvSpPr>
          <p:cNvPr id="5" name="Text 3"/>
          <p:cNvSpPr/>
          <p:nvPr/>
        </p:nvSpPr>
        <p:spPr>
          <a:xfrm>
            <a:off x="381000" y="1638300"/>
            <a:ext cx="11515725" cy="276225"/>
          </a:xfrm>
          <a:prstGeom prst="rect">
            <a:avLst/>
          </a:prstGeom>
          <a:noFill/>
          <a:ln/>
        </p:spPr>
        <p:txBody>
          <a:bodyPr wrap="square" lIns="26670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Data analytics is a huge undertaking and an even bigger responsibility. Implementing </a:t>
            </a:r>
            <a:r>
              <a:rPr lang="en-US" sz="1350" b="1" dirty="0">
                <a:solidFill>
                  <a:srgbClr val="4A9D9C"/>
                </a:solidFill>
                <a:latin typeface="Quattrocento Sans" pitchFamily="34" charset="0"/>
                <a:ea typeface="Quattrocento Sans" pitchFamily="34" charset="-122"/>
                <a:cs typeface="Quattrocento Sans" pitchFamily="34" charset="-120"/>
              </a:rPr>
              <a:t>best practices for data analytics</a:t>
            </a:r>
            <a:r>
              <a:rPr lang="en-US" sz="1350" dirty="0">
                <a:solidFill>
                  <a:srgbClr val="E0E2E5"/>
                </a:solidFill>
                <a:latin typeface="Quattrocento Sans" pitchFamily="34" charset="0"/>
                <a:ea typeface="Quattrocento Sans" pitchFamily="34" charset="-122"/>
                <a:cs typeface="Quattrocento Sans" pitchFamily="34" charset="-120"/>
              </a:rPr>
              <a:t> is a smart choice.</a:t>
            </a:r>
            <a:endParaRPr lang="en-US" sz="1600" dirty="0"/>
          </a:p>
        </p:txBody>
      </p:sp>
      <p:sp>
        <p:nvSpPr>
          <p:cNvPr id="6" name="Shape 4"/>
          <p:cNvSpPr/>
          <p:nvPr/>
        </p:nvSpPr>
        <p:spPr>
          <a:xfrm>
            <a:off x="381000" y="2069306"/>
            <a:ext cx="3705225" cy="2124075"/>
          </a:xfrm>
          <a:custGeom>
            <a:avLst/>
            <a:gdLst/>
            <a:ahLst/>
            <a:cxnLst/>
            <a:rect l="l" t="t" r="r" b="b"/>
            <a:pathLst>
              <a:path w="3705225" h="2124075">
                <a:moveTo>
                  <a:pt x="38106" y="0"/>
                </a:moveTo>
                <a:lnTo>
                  <a:pt x="3667119" y="0"/>
                </a:lnTo>
                <a:cubicBezTo>
                  <a:pt x="3688164" y="0"/>
                  <a:pt x="3705225" y="17061"/>
                  <a:pt x="3705225" y="38106"/>
                </a:cubicBezTo>
                <a:lnTo>
                  <a:pt x="3705225" y="2085969"/>
                </a:lnTo>
                <a:cubicBezTo>
                  <a:pt x="3705225" y="2107014"/>
                  <a:pt x="3688164" y="2124075"/>
                  <a:pt x="3667119" y="2124075"/>
                </a:cubicBezTo>
                <a:lnTo>
                  <a:pt x="38106" y="2124075"/>
                </a:lnTo>
                <a:cubicBezTo>
                  <a:pt x="17061" y="2124075"/>
                  <a:pt x="0" y="2107014"/>
                  <a:pt x="0" y="2085969"/>
                </a:cubicBezTo>
                <a:lnTo>
                  <a:pt x="0" y="38106"/>
                </a:lnTo>
                <a:cubicBezTo>
                  <a:pt x="0" y="17075"/>
                  <a:pt x="17075" y="0"/>
                  <a:pt x="38106" y="0"/>
                </a:cubicBezTo>
                <a:close/>
              </a:path>
            </a:pathLst>
          </a:custGeom>
          <a:solidFill>
            <a:srgbClr val="3D4F5F"/>
          </a:solidFill>
          <a:ln/>
        </p:spPr>
        <p:txBody>
          <a:bodyPr/>
          <a:lstStyle/>
          <a:p>
            <a:endParaRPr lang="en-US"/>
          </a:p>
        </p:txBody>
      </p:sp>
      <p:sp>
        <p:nvSpPr>
          <p:cNvPr id="7" name="Shape 5"/>
          <p:cNvSpPr/>
          <p:nvPr/>
        </p:nvSpPr>
        <p:spPr>
          <a:xfrm>
            <a:off x="533400" y="2221706"/>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8" name="Shape 6"/>
          <p:cNvSpPr/>
          <p:nvPr/>
        </p:nvSpPr>
        <p:spPr>
          <a:xfrm>
            <a:off x="666750" y="2355056"/>
            <a:ext cx="190500" cy="190500"/>
          </a:xfrm>
          <a:custGeom>
            <a:avLst/>
            <a:gdLst/>
            <a:ahLst/>
            <a:cxnLst/>
            <a:rect l="l" t="t" r="r" b="b"/>
            <a:pathLst>
              <a:path w="190500" h="190500">
                <a:moveTo>
                  <a:pt x="71438" y="23812"/>
                </a:moveTo>
                <a:cubicBezTo>
                  <a:pt x="71438" y="17227"/>
                  <a:pt x="76758" y="11906"/>
                  <a:pt x="83344" y="11906"/>
                </a:cubicBezTo>
                <a:lnTo>
                  <a:pt x="107156" y="11906"/>
                </a:lnTo>
                <a:cubicBezTo>
                  <a:pt x="113742" y="11906"/>
                  <a:pt x="119063" y="17227"/>
                  <a:pt x="119063" y="23812"/>
                </a:cubicBezTo>
                <a:lnTo>
                  <a:pt x="119063" y="47625"/>
                </a:lnTo>
                <a:cubicBezTo>
                  <a:pt x="119063" y="54211"/>
                  <a:pt x="113742" y="59531"/>
                  <a:pt x="107156" y="59531"/>
                </a:cubicBezTo>
                <a:lnTo>
                  <a:pt x="104180" y="59531"/>
                </a:lnTo>
                <a:lnTo>
                  <a:pt x="104180" y="83344"/>
                </a:lnTo>
                <a:lnTo>
                  <a:pt x="148828" y="83344"/>
                </a:lnTo>
                <a:cubicBezTo>
                  <a:pt x="163637" y="83344"/>
                  <a:pt x="175617" y="95324"/>
                  <a:pt x="175617" y="110133"/>
                </a:cubicBezTo>
                <a:lnTo>
                  <a:pt x="175617" y="130969"/>
                </a:lnTo>
                <a:lnTo>
                  <a:pt x="178594" y="130969"/>
                </a:lnTo>
                <a:cubicBezTo>
                  <a:pt x="185179" y="130969"/>
                  <a:pt x="190500" y="136289"/>
                  <a:pt x="190500" y="142875"/>
                </a:cubicBezTo>
                <a:lnTo>
                  <a:pt x="190500" y="166688"/>
                </a:lnTo>
                <a:cubicBezTo>
                  <a:pt x="190500" y="173273"/>
                  <a:pt x="185179" y="178594"/>
                  <a:pt x="178594" y="178594"/>
                </a:cubicBezTo>
                <a:lnTo>
                  <a:pt x="154781" y="178594"/>
                </a:lnTo>
                <a:cubicBezTo>
                  <a:pt x="148196" y="178594"/>
                  <a:pt x="142875" y="173273"/>
                  <a:pt x="142875" y="166688"/>
                </a:cubicBezTo>
                <a:lnTo>
                  <a:pt x="142875" y="142875"/>
                </a:lnTo>
                <a:cubicBezTo>
                  <a:pt x="142875" y="136289"/>
                  <a:pt x="148196" y="130969"/>
                  <a:pt x="154781" y="130969"/>
                </a:cubicBezTo>
                <a:lnTo>
                  <a:pt x="157758" y="130969"/>
                </a:lnTo>
                <a:lnTo>
                  <a:pt x="157758" y="110133"/>
                </a:lnTo>
                <a:cubicBezTo>
                  <a:pt x="157758" y="105184"/>
                  <a:pt x="153777" y="101203"/>
                  <a:pt x="148828" y="101203"/>
                </a:cubicBezTo>
                <a:lnTo>
                  <a:pt x="104180" y="101203"/>
                </a:lnTo>
                <a:lnTo>
                  <a:pt x="104180" y="130969"/>
                </a:lnTo>
                <a:lnTo>
                  <a:pt x="107156" y="130969"/>
                </a:lnTo>
                <a:cubicBezTo>
                  <a:pt x="113742" y="130969"/>
                  <a:pt x="119063" y="136289"/>
                  <a:pt x="119063" y="142875"/>
                </a:cubicBezTo>
                <a:lnTo>
                  <a:pt x="119063" y="166688"/>
                </a:lnTo>
                <a:cubicBezTo>
                  <a:pt x="119063" y="173273"/>
                  <a:pt x="113742" y="178594"/>
                  <a:pt x="107156" y="178594"/>
                </a:cubicBezTo>
                <a:lnTo>
                  <a:pt x="83344" y="178594"/>
                </a:lnTo>
                <a:cubicBezTo>
                  <a:pt x="76758" y="178594"/>
                  <a:pt x="71438" y="173273"/>
                  <a:pt x="71438" y="166688"/>
                </a:cubicBezTo>
                <a:lnTo>
                  <a:pt x="71438" y="142875"/>
                </a:lnTo>
                <a:cubicBezTo>
                  <a:pt x="71438" y="136289"/>
                  <a:pt x="76758" y="130969"/>
                  <a:pt x="83344" y="130969"/>
                </a:cubicBezTo>
                <a:lnTo>
                  <a:pt x="86320" y="130969"/>
                </a:lnTo>
                <a:lnTo>
                  <a:pt x="86320" y="101203"/>
                </a:lnTo>
                <a:lnTo>
                  <a:pt x="41672" y="101203"/>
                </a:lnTo>
                <a:cubicBezTo>
                  <a:pt x="36723" y="101203"/>
                  <a:pt x="32742" y="105184"/>
                  <a:pt x="32742" y="110133"/>
                </a:cubicBezTo>
                <a:lnTo>
                  <a:pt x="32742" y="130969"/>
                </a:lnTo>
                <a:lnTo>
                  <a:pt x="35719" y="130969"/>
                </a:lnTo>
                <a:cubicBezTo>
                  <a:pt x="42304" y="130969"/>
                  <a:pt x="47625" y="136289"/>
                  <a:pt x="47625" y="142875"/>
                </a:cubicBezTo>
                <a:lnTo>
                  <a:pt x="47625" y="166688"/>
                </a:lnTo>
                <a:cubicBezTo>
                  <a:pt x="47625" y="173273"/>
                  <a:pt x="42304" y="178594"/>
                  <a:pt x="35719" y="178594"/>
                </a:cubicBezTo>
                <a:lnTo>
                  <a:pt x="11906" y="178594"/>
                </a:lnTo>
                <a:cubicBezTo>
                  <a:pt x="5321" y="178594"/>
                  <a:pt x="0" y="173273"/>
                  <a:pt x="0" y="166688"/>
                </a:cubicBezTo>
                <a:lnTo>
                  <a:pt x="0" y="142875"/>
                </a:lnTo>
                <a:cubicBezTo>
                  <a:pt x="0" y="136289"/>
                  <a:pt x="5321" y="130969"/>
                  <a:pt x="11906" y="130969"/>
                </a:cubicBezTo>
                <a:lnTo>
                  <a:pt x="14883" y="130969"/>
                </a:lnTo>
                <a:lnTo>
                  <a:pt x="14883" y="110133"/>
                </a:lnTo>
                <a:cubicBezTo>
                  <a:pt x="14883" y="95324"/>
                  <a:pt x="26863" y="83344"/>
                  <a:pt x="41672" y="83344"/>
                </a:cubicBezTo>
                <a:lnTo>
                  <a:pt x="86320" y="83344"/>
                </a:lnTo>
                <a:lnTo>
                  <a:pt x="86320" y="59531"/>
                </a:lnTo>
                <a:lnTo>
                  <a:pt x="83344" y="59531"/>
                </a:lnTo>
                <a:cubicBezTo>
                  <a:pt x="76758" y="59531"/>
                  <a:pt x="71438" y="54211"/>
                  <a:pt x="71438" y="47625"/>
                </a:cubicBezTo>
                <a:lnTo>
                  <a:pt x="71438" y="23812"/>
                </a:lnTo>
                <a:close/>
              </a:path>
            </a:pathLst>
          </a:custGeom>
          <a:solidFill>
            <a:srgbClr val="1A1D21"/>
          </a:solidFill>
          <a:ln/>
        </p:spPr>
        <p:txBody>
          <a:bodyPr/>
          <a:lstStyle/>
          <a:p>
            <a:endParaRPr lang="en-US"/>
          </a:p>
        </p:txBody>
      </p:sp>
      <p:sp>
        <p:nvSpPr>
          <p:cNvPr id="9" name="Text 7"/>
          <p:cNvSpPr/>
          <p:nvPr/>
        </p:nvSpPr>
        <p:spPr>
          <a:xfrm>
            <a:off x="1104900" y="2316956"/>
            <a:ext cx="17716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Establish Processes</a:t>
            </a:r>
            <a:endParaRPr lang="en-US" sz="1600" dirty="0"/>
          </a:p>
        </p:txBody>
      </p:sp>
      <p:sp>
        <p:nvSpPr>
          <p:cNvPr id="10" name="Text 8"/>
          <p:cNvSpPr/>
          <p:nvPr/>
        </p:nvSpPr>
        <p:spPr>
          <a:xfrm>
            <a:off x="533400" y="2793206"/>
            <a:ext cx="3476625" cy="12477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Establish and define best practices for the </a:t>
            </a:r>
            <a:r>
              <a:rPr lang="en-US" sz="1200" b="1" dirty="0">
                <a:solidFill>
                  <a:srgbClr val="4A9D9C"/>
                </a:solidFill>
                <a:latin typeface="Quattrocento Sans" pitchFamily="34" charset="0"/>
                <a:ea typeface="Quattrocento Sans" pitchFamily="34" charset="-122"/>
                <a:cs typeface="Quattrocento Sans" pitchFamily="34" charset="-120"/>
              </a:rPr>
              <a:t>decision-making process</a:t>
            </a:r>
            <a:r>
              <a:rPr lang="en-US" sz="1200" dirty="0">
                <a:solidFill>
                  <a:srgbClr val="E0E2E5"/>
                </a:solidFill>
                <a:latin typeface="Quattrocento Sans" pitchFamily="34" charset="0"/>
                <a:ea typeface="Quattrocento Sans" pitchFamily="34" charset="-122"/>
                <a:cs typeface="Quattrocento Sans" pitchFamily="34" charset="-120"/>
              </a:rPr>
              <a:t> to reduce confusion and conflict later on.</a:t>
            </a:r>
            <a:endParaRPr lang="en-US" sz="1600" dirty="0"/>
          </a:p>
        </p:txBody>
      </p:sp>
      <p:sp>
        <p:nvSpPr>
          <p:cNvPr id="11" name="Shape 9"/>
          <p:cNvSpPr/>
          <p:nvPr/>
        </p:nvSpPr>
        <p:spPr>
          <a:xfrm>
            <a:off x="4241721" y="2069306"/>
            <a:ext cx="3705225" cy="2124075"/>
          </a:xfrm>
          <a:custGeom>
            <a:avLst/>
            <a:gdLst/>
            <a:ahLst/>
            <a:cxnLst/>
            <a:rect l="l" t="t" r="r" b="b"/>
            <a:pathLst>
              <a:path w="3705225" h="2124075">
                <a:moveTo>
                  <a:pt x="38106" y="0"/>
                </a:moveTo>
                <a:lnTo>
                  <a:pt x="3667119" y="0"/>
                </a:lnTo>
                <a:cubicBezTo>
                  <a:pt x="3688164" y="0"/>
                  <a:pt x="3705225" y="17061"/>
                  <a:pt x="3705225" y="38106"/>
                </a:cubicBezTo>
                <a:lnTo>
                  <a:pt x="3705225" y="2085969"/>
                </a:lnTo>
                <a:cubicBezTo>
                  <a:pt x="3705225" y="2107014"/>
                  <a:pt x="3688164" y="2124075"/>
                  <a:pt x="3667119" y="2124075"/>
                </a:cubicBezTo>
                <a:lnTo>
                  <a:pt x="38106" y="2124075"/>
                </a:lnTo>
                <a:cubicBezTo>
                  <a:pt x="17061" y="2124075"/>
                  <a:pt x="0" y="2107014"/>
                  <a:pt x="0" y="2085969"/>
                </a:cubicBezTo>
                <a:lnTo>
                  <a:pt x="0" y="38106"/>
                </a:lnTo>
                <a:cubicBezTo>
                  <a:pt x="0" y="17075"/>
                  <a:pt x="17075" y="0"/>
                  <a:pt x="38106" y="0"/>
                </a:cubicBezTo>
                <a:close/>
              </a:path>
            </a:pathLst>
          </a:custGeom>
          <a:solidFill>
            <a:srgbClr val="3D4F5F"/>
          </a:solidFill>
          <a:ln/>
        </p:spPr>
        <p:txBody>
          <a:bodyPr/>
          <a:lstStyle/>
          <a:p>
            <a:endParaRPr lang="en-US"/>
          </a:p>
        </p:txBody>
      </p:sp>
      <p:sp>
        <p:nvSpPr>
          <p:cNvPr id="12" name="Shape 10"/>
          <p:cNvSpPr/>
          <p:nvPr/>
        </p:nvSpPr>
        <p:spPr>
          <a:xfrm>
            <a:off x="4394121" y="2221706"/>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13" name="Shape 11"/>
          <p:cNvSpPr/>
          <p:nvPr/>
        </p:nvSpPr>
        <p:spPr>
          <a:xfrm>
            <a:off x="4503658" y="2355056"/>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1A1D21"/>
          </a:solidFill>
          <a:ln/>
        </p:spPr>
        <p:txBody>
          <a:bodyPr/>
          <a:lstStyle/>
          <a:p>
            <a:endParaRPr lang="en-US"/>
          </a:p>
        </p:txBody>
      </p:sp>
      <p:sp>
        <p:nvSpPr>
          <p:cNvPr id="14" name="Text 12"/>
          <p:cNvSpPr/>
          <p:nvPr/>
        </p:nvSpPr>
        <p:spPr>
          <a:xfrm>
            <a:off x="4965621" y="2316956"/>
            <a:ext cx="18383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Involve Stakeholders</a:t>
            </a:r>
            <a:endParaRPr lang="en-US" sz="1600" dirty="0"/>
          </a:p>
        </p:txBody>
      </p:sp>
      <p:sp>
        <p:nvSpPr>
          <p:cNvPr id="15" name="Text 13"/>
          <p:cNvSpPr/>
          <p:nvPr/>
        </p:nvSpPr>
        <p:spPr>
          <a:xfrm>
            <a:off x="4394121" y="2793206"/>
            <a:ext cx="3476625" cy="12477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Include </a:t>
            </a:r>
            <a:r>
              <a:rPr lang="en-US" sz="1200" b="1" dirty="0">
                <a:solidFill>
                  <a:srgbClr val="4A9D9C"/>
                </a:solidFill>
                <a:latin typeface="Quattrocento Sans" pitchFamily="34" charset="0"/>
                <a:ea typeface="Quattrocento Sans" pitchFamily="34" charset="-122"/>
                <a:cs typeface="Quattrocento Sans" pitchFamily="34" charset="-120"/>
              </a:rPr>
              <a:t>investors, directors, and key team members</a:t>
            </a:r>
            <a:r>
              <a:rPr lang="en-US" sz="1200" dirty="0">
                <a:solidFill>
                  <a:srgbClr val="E0E2E5"/>
                </a:solidFill>
                <a:latin typeface="Quattrocento Sans" pitchFamily="34" charset="0"/>
                <a:ea typeface="Quattrocento Sans" pitchFamily="34" charset="-122"/>
                <a:cs typeface="Quattrocento Sans" pitchFamily="34" charset="-120"/>
              </a:rPr>
              <a:t> in the decision-making process. Make a list of important stakeholders and ensure their opinions and concerns are heard.</a:t>
            </a:r>
            <a:endParaRPr lang="en-US" sz="1600" dirty="0"/>
          </a:p>
        </p:txBody>
      </p:sp>
      <p:sp>
        <p:nvSpPr>
          <p:cNvPr id="16" name="Shape 14"/>
          <p:cNvSpPr/>
          <p:nvPr/>
        </p:nvSpPr>
        <p:spPr>
          <a:xfrm>
            <a:off x="8102561" y="2069306"/>
            <a:ext cx="3705225" cy="2124075"/>
          </a:xfrm>
          <a:custGeom>
            <a:avLst/>
            <a:gdLst/>
            <a:ahLst/>
            <a:cxnLst/>
            <a:rect l="l" t="t" r="r" b="b"/>
            <a:pathLst>
              <a:path w="3705225" h="2124075">
                <a:moveTo>
                  <a:pt x="38106" y="0"/>
                </a:moveTo>
                <a:lnTo>
                  <a:pt x="3667119" y="0"/>
                </a:lnTo>
                <a:cubicBezTo>
                  <a:pt x="3688164" y="0"/>
                  <a:pt x="3705225" y="17061"/>
                  <a:pt x="3705225" y="38106"/>
                </a:cubicBezTo>
                <a:lnTo>
                  <a:pt x="3705225" y="2085969"/>
                </a:lnTo>
                <a:cubicBezTo>
                  <a:pt x="3705225" y="2107014"/>
                  <a:pt x="3688164" y="2124075"/>
                  <a:pt x="3667119" y="2124075"/>
                </a:cubicBezTo>
                <a:lnTo>
                  <a:pt x="38106" y="2124075"/>
                </a:lnTo>
                <a:cubicBezTo>
                  <a:pt x="17061" y="2124075"/>
                  <a:pt x="0" y="2107014"/>
                  <a:pt x="0" y="2085969"/>
                </a:cubicBezTo>
                <a:lnTo>
                  <a:pt x="0" y="38106"/>
                </a:lnTo>
                <a:cubicBezTo>
                  <a:pt x="0" y="17075"/>
                  <a:pt x="17075" y="0"/>
                  <a:pt x="38106" y="0"/>
                </a:cubicBezTo>
                <a:close/>
              </a:path>
            </a:pathLst>
          </a:custGeom>
          <a:solidFill>
            <a:srgbClr val="3D4F5F"/>
          </a:solidFill>
          <a:ln/>
        </p:spPr>
        <p:txBody>
          <a:bodyPr/>
          <a:lstStyle/>
          <a:p>
            <a:endParaRPr lang="en-US"/>
          </a:p>
        </p:txBody>
      </p:sp>
      <p:sp>
        <p:nvSpPr>
          <p:cNvPr id="17" name="Shape 15"/>
          <p:cNvSpPr/>
          <p:nvPr/>
        </p:nvSpPr>
        <p:spPr>
          <a:xfrm>
            <a:off x="8254961" y="2221706"/>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18" name="Shape 16"/>
          <p:cNvSpPr/>
          <p:nvPr/>
        </p:nvSpPr>
        <p:spPr>
          <a:xfrm>
            <a:off x="8364498" y="2355056"/>
            <a:ext cx="238125" cy="190500"/>
          </a:xfrm>
          <a:custGeom>
            <a:avLst/>
            <a:gdLst/>
            <a:ahLst/>
            <a:cxnLst/>
            <a:rect l="l" t="t" r="r" b="b"/>
            <a:pathLst>
              <a:path w="238125" h="190500">
                <a:moveTo>
                  <a:pt x="95287" y="2977"/>
                </a:moveTo>
                <a:cubicBezTo>
                  <a:pt x="119929" y="2977"/>
                  <a:pt x="139936" y="22983"/>
                  <a:pt x="139936" y="47625"/>
                </a:cubicBezTo>
                <a:cubicBezTo>
                  <a:pt x="139936" y="72267"/>
                  <a:pt x="119929" y="92273"/>
                  <a:pt x="95287" y="92273"/>
                </a:cubicBezTo>
                <a:cubicBezTo>
                  <a:pt x="70645" y="92273"/>
                  <a:pt x="50639" y="72267"/>
                  <a:pt x="50639" y="47625"/>
                </a:cubicBezTo>
                <a:cubicBezTo>
                  <a:pt x="50639" y="22983"/>
                  <a:pt x="70645" y="2977"/>
                  <a:pt x="95287" y="2977"/>
                </a:cubicBezTo>
                <a:close/>
                <a:moveTo>
                  <a:pt x="84237" y="113109"/>
                </a:moveTo>
                <a:lnTo>
                  <a:pt x="106338" y="113109"/>
                </a:lnTo>
                <a:cubicBezTo>
                  <a:pt x="108831" y="113109"/>
                  <a:pt x="111249" y="113258"/>
                  <a:pt x="113667" y="113519"/>
                </a:cubicBezTo>
                <a:cubicBezTo>
                  <a:pt x="113333" y="115342"/>
                  <a:pt x="113147" y="117202"/>
                  <a:pt x="113147" y="119100"/>
                </a:cubicBezTo>
                <a:lnTo>
                  <a:pt x="113147" y="153367"/>
                </a:lnTo>
                <a:cubicBezTo>
                  <a:pt x="113147" y="162855"/>
                  <a:pt x="116904" y="171934"/>
                  <a:pt x="123602" y="178631"/>
                </a:cubicBezTo>
                <a:lnTo>
                  <a:pt x="135471" y="190500"/>
                </a:lnTo>
                <a:lnTo>
                  <a:pt x="28947" y="190500"/>
                </a:lnTo>
                <a:cubicBezTo>
                  <a:pt x="22845" y="190500"/>
                  <a:pt x="17897" y="185551"/>
                  <a:pt x="17897" y="179450"/>
                </a:cubicBezTo>
                <a:cubicBezTo>
                  <a:pt x="17897" y="142801"/>
                  <a:pt x="47588" y="113109"/>
                  <a:pt x="84237" y="113109"/>
                </a:cubicBezTo>
                <a:close/>
                <a:moveTo>
                  <a:pt x="131006" y="153367"/>
                </a:moveTo>
                <a:lnTo>
                  <a:pt x="131006" y="119100"/>
                </a:lnTo>
                <a:cubicBezTo>
                  <a:pt x="131006" y="112514"/>
                  <a:pt x="136327" y="107193"/>
                  <a:pt x="142912" y="107193"/>
                </a:cubicBezTo>
                <a:lnTo>
                  <a:pt x="177180" y="107193"/>
                </a:lnTo>
                <a:cubicBezTo>
                  <a:pt x="181905" y="107193"/>
                  <a:pt x="186444" y="109091"/>
                  <a:pt x="189793" y="112440"/>
                </a:cubicBezTo>
                <a:lnTo>
                  <a:pt x="225512" y="148158"/>
                </a:lnTo>
                <a:cubicBezTo>
                  <a:pt x="232470" y="155116"/>
                  <a:pt x="232470" y="166427"/>
                  <a:pt x="225512" y="173422"/>
                </a:cubicBezTo>
                <a:lnTo>
                  <a:pt x="197197" y="201737"/>
                </a:lnTo>
                <a:cubicBezTo>
                  <a:pt x="190240" y="208694"/>
                  <a:pt x="178929" y="208694"/>
                  <a:pt x="171934" y="201737"/>
                </a:cubicBezTo>
                <a:lnTo>
                  <a:pt x="136215" y="166018"/>
                </a:lnTo>
                <a:cubicBezTo>
                  <a:pt x="132866" y="162669"/>
                  <a:pt x="130969" y="158130"/>
                  <a:pt x="130969" y="153405"/>
                </a:cubicBezTo>
                <a:close/>
                <a:moveTo>
                  <a:pt x="169701" y="136922"/>
                </a:moveTo>
                <a:cubicBezTo>
                  <a:pt x="169701" y="131993"/>
                  <a:pt x="165700" y="127992"/>
                  <a:pt x="160772" y="127992"/>
                </a:cubicBezTo>
                <a:cubicBezTo>
                  <a:pt x="155843" y="127992"/>
                  <a:pt x="151842" y="131993"/>
                  <a:pt x="151842" y="136922"/>
                </a:cubicBezTo>
                <a:cubicBezTo>
                  <a:pt x="151842" y="141850"/>
                  <a:pt x="155843" y="145852"/>
                  <a:pt x="160772" y="145852"/>
                </a:cubicBezTo>
                <a:cubicBezTo>
                  <a:pt x="165700" y="145852"/>
                  <a:pt x="169701" y="141850"/>
                  <a:pt x="169701" y="136922"/>
                </a:cubicBezTo>
                <a:close/>
              </a:path>
            </a:pathLst>
          </a:custGeom>
          <a:solidFill>
            <a:srgbClr val="1A1D21"/>
          </a:solidFill>
          <a:ln/>
        </p:spPr>
        <p:txBody>
          <a:bodyPr/>
          <a:lstStyle/>
          <a:p>
            <a:endParaRPr lang="en-US"/>
          </a:p>
        </p:txBody>
      </p:sp>
      <p:sp>
        <p:nvSpPr>
          <p:cNvPr id="19" name="Text 17"/>
          <p:cNvSpPr/>
          <p:nvPr/>
        </p:nvSpPr>
        <p:spPr>
          <a:xfrm>
            <a:off x="8826461" y="2316956"/>
            <a:ext cx="1152525"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Define Roles</a:t>
            </a:r>
            <a:endParaRPr lang="en-US" sz="1600" dirty="0"/>
          </a:p>
        </p:txBody>
      </p:sp>
      <p:sp>
        <p:nvSpPr>
          <p:cNvPr id="20" name="Text 18"/>
          <p:cNvSpPr/>
          <p:nvPr/>
        </p:nvSpPr>
        <p:spPr>
          <a:xfrm>
            <a:off x="8254961" y="2793206"/>
            <a:ext cx="3476625" cy="12477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Clearly define and communicate each </a:t>
            </a:r>
            <a:r>
              <a:rPr lang="en-US" sz="1200" b="1" dirty="0">
                <a:solidFill>
                  <a:srgbClr val="4A9D9C"/>
                </a:solidFill>
                <a:latin typeface="Quattrocento Sans" pitchFamily="34" charset="0"/>
                <a:ea typeface="Quattrocento Sans" pitchFamily="34" charset="-122"/>
                <a:cs typeface="Quattrocento Sans" pitchFamily="34" charset="-120"/>
              </a:rPr>
              <a:t>department and team member's roles</a:t>
            </a:r>
            <a:r>
              <a:rPr lang="en-US" sz="1200" dirty="0">
                <a:solidFill>
                  <a:srgbClr val="E0E2E5"/>
                </a:solidFill>
                <a:latin typeface="Quattrocento Sans" pitchFamily="34" charset="0"/>
                <a:ea typeface="Quattrocento Sans" pitchFamily="34" charset="-122"/>
                <a:cs typeface="Quattrocento Sans" pitchFamily="34" charset="-120"/>
              </a:rPr>
              <a:t> and responsibilities. This allows for consistency, transparency, and understanding.</a:t>
            </a:r>
            <a:endParaRPr lang="en-US" sz="1600" dirty="0"/>
          </a:p>
        </p:txBody>
      </p:sp>
      <p:sp>
        <p:nvSpPr>
          <p:cNvPr id="21" name="Shape 19"/>
          <p:cNvSpPr/>
          <p:nvPr/>
        </p:nvSpPr>
        <p:spPr>
          <a:xfrm>
            <a:off x="381000" y="4349353"/>
            <a:ext cx="3705225" cy="2124075"/>
          </a:xfrm>
          <a:custGeom>
            <a:avLst/>
            <a:gdLst/>
            <a:ahLst/>
            <a:cxnLst/>
            <a:rect l="l" t="t" r="r" b="b"/>
            <a:pathLst>
              <a:path w="3705225" h="2124075">
                <a:moveTo>
                  <a:pt x="38106" y="0"/>
                </a:moveTo>
                <a:lnTo>
                  <a:pt x="3667119" y="0"/>
                </a:lnTo>
                <a:cubicBezTo>
                  <a:pt x="3688164" y="0"/>
                  <a:pt x="3705225" y="17061"/>
                  <a:pt x="3705225" y="38106"/>
                </a:cubicBezTo>
                <a:lnTo>
                  <a:pt x="3705225" y="2085969"/>
                </a:lnTo>
                <a:cubicBezTo>
                  <a:pt x="3705225" y="2107014"/>
                  <a:pt x="3688164" y="2124075"/>
                  <a:pt x="3667119" y="2124075"/>
                </a:cubicBezTo>
                <a:lnTo>
                  <a:pt x="38106" y="2124075"/>
                </a:lnTo>
                <a:cubicBezTo>
                  <a:pt x="17061" y="2124075"/>
                  <a:pt x="0" y="2107014"/>
                  <a:pt x="0" y="2085969"/>
                </a:cubicBezTo>
                <a:lnTo>
                  <a:pt x="0" y="38106"/>
                </a:lnTo>
                <a:cubicBezTo>
                  <a:pt x="0" y="17075"/>
                  <a:pt x="17075" y="0"/>
                  <a:pt x="38106" y="0"/>
                </a:cubicBezTo>
                <a:close/>
              </a:path>
            </a:pathLst>
          </a:custGeom>
          <a:solidFill>
            <a:srgbClr val="3D4F5F"/>
          </a:solidFill>
          <a:ln/>
        </p:spPr>
        <p:txBody>
          <a:bodyPr/>
          <a:lstStyle/>
          <a:p>
            <a:endParaRPr lang="en-US"/>
          </a:p>
        </p:txBody>
      </p:sp>
      <p:sp>
        <p:nvSpPr>
          <p:cNvPr id="22" name="Shape 20"/>
          <p:cNvSpPr/>
          <p:nvPr/>
        </p:nvSpPr>
        <p:spPr>
          <a:xfrm>
            <a:off x="533400" y="450175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23" name="Shape 21"/>
          <p:cNvSpPr/>
          <p:nvPr/>
        </p:nvSpPr>
        <p:spPr>
          <a:xfrm>
            <a:off x="654844" y="4635103"/>
            <a:ext cx="214313" cy="190500"/>
          </a:xfrm>
          <a:custGeom>
            <a:avLst/>
            <a:gdLst/>
            <a:ahLst/>
            <a:cxnLst/>
            <a:rect l="l" t="t" r="r" b="b"/>
            <a:pathLst>
              <a:path w="214313" h="190500">
                <a:moveTo>
                  <a:pt x="107156" y="-5953"/>
                </a:moveTo>
                <a:cubicBezTo>
                  <a:pt x="113742" y="-5953"/>
                  <a:pt x="119063" y="-633"/>
                  <a:pt x="119063" y="5953"/>
                </a:cubicBezTo>
                <a:lnTo>
                  <a:pt x="119063" y="12762"/>
                </a:lnTo>
                <a:cubicBezTo>
                  <a:pt x="155563" y="17971"/>
                  <a:pt x="184435" y="46844"/>
                  <a:pt x="189644" y="83344"/>
                </a:cubicBezTo>
                <a:lnTo>
                  <a:pt x="196453" y="83344"/>
                </a:lnTo>
                <a:cubicBezTo>
                  <a:pt x="203039" y="83344"/>
                  <a:pt x="208359" y="88664"/>
                  <a:pt x="208359" y="95250"/>
                </a:cubicBezTo>
                <a:cubicBezTo>
                  <a:pt x="208359" y="101836"/>
                  <a:pt x="203039" y="107156"/>
                  <a:pt x="196453" y="107156"/>
                </a:cubicBezTo>
                <a:lnTo>
                  <a:pt x="189644" y="107156"/>
                </a:lnTo>
                <a:cubicBezTo>
                  <a:pt x="184435" y="143656"/>
                  <a:pt x="155563" y="172529"/>
                  <a:pt x="119063" y="177738"/>
                </a:cubicBezTo>
                <a:lnTo>
                  <a:pt x="119063" y="184547"/>
                </a:lnTo>
                <a:cubicBezTo>
                  <a:pt x="119063" y="191133"/>
                  <a:pt x="113742" y="196453"/>
                  <a:pt x="107156" y="196453"/>
                </a:cubicBezTo>
                <a:cubicBezTo>
                  <a:pt x="100571" y="196453"/>
                  <a:pt x="95250" y="191133"/>
                  <a:pt x="95250" y="184547"/>
                </a:cubicBezTo>
                <a:lnTo>
                  <a:pt x="95250" y="177738"/>
                </a:lnTo>
                <a:cubicBezTo>
                  <a:pt x="58750" y="172529"/>
                  <a:pt x="29877" y="143656"/>
                  <a:pt x="24668" y="107156"/>
                </a:cubicBezTo>
                <a:lnTo>
                  <a:pt x="17859" y="107156"/>
                </a:lnTo>
                <a:cubicBezTo>
                  <a:pt x="11274" y="107156"/>
                  <a:pt x="5953" y="101836"/>
                  <a:pt x="5953" y="95250"/>
                </a:cubicBezTo>
                <a:cubicBezTo>
                  <a:pt x="5953" y="88664"/>
                  <a:pt x="11274" y="83344"/>
                  <a:pt x="17859" y="83344"/>
                </a:cubicBezTo>
                <a:lnTo>
                  <a:pt x="24668" y="83344"/>
                </a:lnTo>
                <a:cubicBezTo>
                  <a:pt x="29877" y="46844"/>
                  <a:pt x="58750" y="17971"/>
                  <a:pt x="95250" y="12762"/>
                </a:cubicBezTo>
                <a:lnTo>
                  <a:pt x="95250" y="5953"/>
                </a:lnTo>
                <a:cubicBezTo>
                  <a:pt x="95250" y="-633"/>
                  <a:pt x="100571" y="-5953"/>
                  <a:pt x="107156" y="-5953"/>
                </a:cubicBezTo>
                <a:close/>
                <a:moveTo>
                  <a:pt x="48816" y="107156"/>
                </a:moveTo>
                <a:cubicBezTo>
                  <a:pt x="53541" y="130485"/>
                  <a:pt x="71921" y="148865"/>
                  <a:pt x="95250" y="153591"/>
                </a:cubicBezTo>
                <a:lnTo>
                  <a:pt x="95250" y="148828"/>
                </a:lnTo>
                <a:cubicBezTo>
                  <a:pt x="95250" y="142242"/>
                  <a:pt x="100571" y="136922"/>
                  <a:pt x="107156" y="136922"/>
                </a:cubicBezTo>
                <a:cubicBezTo>
                  <a:pt x="113742" y="136922"/>
                  <a:pt x="119063" y="142242"/>
                  <a:pt x="119063" y="148828"/>
                </a:cubicBezTo>
                <a:lnTo>
                  <a:pt x="119063" y="153591"/>
                </a:lnTo>
                <a:cubicBezTo>
                  <a:pt x="142391" y="148865"/>
                  <a:pt x="160772" y="130485"/>
                  <a:pt x="165497" y="107156"/>
                </a:cubicBezTo>
                <a:lnTo>
                  <a:pt x="160734" y="107156"/>
                </a:lnTo>
                <a:cubicBezTo>
                  <a:pt x="154149" y="107156"/>
                  <a:pt x="148828" y="101836"/>
                  <a:pt x="148828" y="95250"/>
                </a:cubicBezTo>
                <a:cubicBezTo>
                  <a:pt x="148828" y="88664"/>
                  <a:pt x="154149" y="83344"/>
                  <a:pt x="160734" y="83344"/>
                </a:cubicBezTo>
                <a:lnTo>
                  <a:pt x="165497" y="83344"/>
                </a:lnTo>
                <a:cubicBezTo>
                  <a:pt x="160772" y="60015"/>
                  <a:pt x="142391" y="41635"/>
                  <a:pt x="119063" y="36909"/>
                </a:cubicBezTo>
                <a:lnTo>
                  <a:pt x="119063" y="41672"/>
                </a:lnTo>
                <a:cubicBezTo>
                  <a:pt x="119063" y="48258"/>
                  <a:pt x="113742" y="53578"/>
                  <a:pt x="107156" y="53578"/>
                </a:cubicBezTo>
                <a:cubicBezTo>
                  <a:pt x="100571" y="53578"/>
                  <a:pt x="95250" y="48258"/>
                  <a:pt x="95250" y="41672"/>
                </a:cubicBezTo>
                <a:lnTo>
                  <a:pt x="95250" y="36909"/>
                </a:lnTo>
                <a:cubicBezTo>
                  <a:pt x="71921" y="41635"/>
                  <a:pt x="53541" y="60015"/>
                  <a:pt x="48816" y="83344"/>
                </a:cubicBezTo>
                <a:lnTo>
                  <a:pt x="53578" y="83344"/>
                </a:lnTo>
                <a:cubicBezTo>
                  <a:pt x="60164" y="83344"/>
                  <a:pt x="65484" y="88664"/>
                  <a:pt x="65484" y="95250"/>
                </a:cubicBezTo>
                <a:cubicBezTo>
                  <a:pt x="65484" y="101836"/>
                  <a:pt x="60164" y="107156"/>
                  <a:pt x="53578" y="107156"/>
                </a:cubicBezTo>
                <a:lnTo>
                  <a:pt x="48816" y="107156"/>
                </a:lnTo>
                <a:close/>
                <a:moveTo>
                  <a:pt x="107156" y="77391"/>
                </a:moveTo>
                <a:cubicBezTo>
                  <a:pt x="117013" y="77391"/>
                  <a:pt x="125016" y="85393"/>
                  <a:pt x="125016" y="95250"/>
                </a:cubicBezTo>
                <a:cubicBezTo>
                  <a:pt x="125016" y="105107"/>
                  <a:pt x="117013" y="113109"/>
                  <a:pt x="107156" y="113109"/>
                </a:cubicBezTo>
                <a:cubicBezTo>
                  <a:pt x="97299" y="113109"/>
                  <a:pt x="89297" y="105107"/>
                  <a:pt x="89297" y="95250"/>
                </a:cubicBezTo>
                <a:cubicBezTo>
                  <a:pt x="89297" y="85393"/>
                  <a:pt x="97299" y="77391"/>
                  <a:pt x="107156" y="77391"/>
                </a:cubicBezTo>
                <a:close/>
              </a:path>
            </a:pathLst>
          </a:custGeom>
          <a:solidFill>
            <a:srgbClr val="1A1D21"/>
          </a:solidFill>
          <a:ln/>
        </p:spPr>
        <p:txBody>
          <a:bodyPr/>
          <a:lstStyle/>
          <a:p>
            <a:endParaRPr lang="en-US"/>
          </a:p>
        </p:txBody>
      </p:sp>
      <p:sp>
        <p:nvSpPr>
          <p:cNvPr id="24" name="Text 22"/>
          <p:cNvSpPr/>
          <p:nvPr/>
        </p:nvSpPr>
        <p:spPr>
          <a:xfrm>
            <a:off x="1104900" y="4597003"/>
            <a:ext cx="13525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Define Context</a:t>
            </a:r>
            <a:endParaRPr lang="en-US" sz="1600" dirty="0"/>
          </a:p>
        </p:txBody>
      </p:sp>
      <p:sp>
        <p:nvSpPr>
          <p:cNvPr id="25" name="Text 23"/>
          <p:cNvSpPr/>
          <p:nvPr/>
        </p:nvSpPr>
        <p:spPr>
          <a:xfrm>
            <a:off x="533400" y="5073253"/>
            <a:ext cx="3476625" cy="12477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Take time to understand the decision, relevant data, analysis results, and </a:t>
            </a:r>
            <a:r>
              <a:rPr lang="en-US" sz="1200" b="1" dirty="0">
                <a:solidFill>
                  <a:srgbClr val="4A9D9C"/>
                </a:solidFill>
                <a:latin typeface="Quattrocento Sans" pitchFamily="34" charset="0"/>
                <a:ea typeface="Quattrocento Sans" pitchFamily="34" charset="-122"/>
                <a:cs typeface="Quattrocento Sans" pitchFamily="34" charset="-120"/>
              </a:rPr>
              <a:t>criteria for making a decision</a:t>
            </a:r>
            <a:r>
              <a:rPr lang="en-US" sz="1200" dirty="0">
                <a:solidFill>
                  <a:srgbClr val="E0E2E5"/>
                </a:solidFill>
                <a:latin typeface="Quattrocento Sans" pitchFamily="34" charset="0"/>
                <a:ea typeface="Quattrocento Sans" pitchFamily="34" charset="-122"/>
                <a:cs typeface="Quattrocento Sans" pitchFamily="34" charset="-120"/>
              </a:rPr>
              <a:t>. Avoid costly mistakes made without proper context.</a:t>
            </a:r>
            <a:endParaRPr lang="en-US" sz="1600" dirty="0"/>
          </a:p>
        </p:txBody>
      </p:sp>
      <p:sp>
        <p:nvSpPr>
          <p:cNvPr id="26" name="Shape 24"/>
          <p:cNvSpPr/>
          <p:nvPr/>
        </p:nvSpPr>
        <p:spPr>
          <a:xfrm>
            <a:off x="4241721" y="4349353"/>
            <a:ext cx="3705225" cy="2124075"/>
          </a:xfrm>
          <a:custGeom>
            <a:avLst/>
            <a:gdLst/>
            <a:ahLst/>
            <a:cxnLst/>
            <a:rect l="l" t="t" r="r" b="b"/>
            <a:pathLst>
              <a:path w="3705225" h="2124075">
                <a:moveTo>
                  <a:pt x="38106" y="0"/>
                </a:moveTo>
                <a:lnTo>
                  <a:pt x="3667119" y="0"/>
                </a:lnTo>
                <a:cubicBezTo>
                  <a:pt x="3688164" y="0"/>
                  <a:pt x="3705225" y="17061"/>
                  <a:pt x="3705225" y="38106"/>
                </a:cubicBezTo>
                <a:lnTo>
                  <a:pt x="3705225" y="2085969"/>
                </a:lnTo>
                <a:cubicBezTo>
                  <a:pt x="3705225" y="2107014"/>
                  <a:pt x="3688164" y="2124075"/>
                  <a:pt x="3667119" y="2124075"/>
                </a:cubicBezTo>
                <a:lnTo>
                  <a:pt x="38106" y="2124075"/>
                </a:lnTo>
                <a:cubicBezTo>
                  <a:pt x="17061" y="2124075"/>
                  <a:pt x="0" y="2107014"/>
                  <a:pt x="0" y="2085969"/>
                </a:cubicBezTo>
                <a:lnTo>
                  <a:pt x="0" y="38106"/>
                </a:lnTo>
                <a:cubicBezTo>
                  <a:pt x="0" y="17075"/>
                  <a:pt x="17075" y="0"/>
                  <a:pt x="38106" y="0"/>
                </a:cubicBezTo>
                <a:close/>
              </a:path>
            </a:pathLst>
          </a:custGeom>
          <a:solidFill>
            <a:srgbClr val="3D4F5F"/>
          </a:solidFill>
          <a:ln/>
        </p:spPr>
        <p:txBody>
          <a:bodyPr/>
          <a:lstStyle/>
          <a:p>
            <a:endParaRPr lang="en-US"/>
          </a:p>
        </p:txBody>
      </p:sp>
      <p:sp>
        <p:nvSpPr>
          <p:cNvPr id="27" name="Shape 25"/>
          <p:cNvSpPr/>
          <p:nvPr/>
        </p:nvSpPr>
        <p:spPr>
          <a:xfrm>
            <a:off x="4394121" y="4501753"/>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4A9D9C"/>
          </a:solidFill>
          <a:ln/>
        </p:spPr>
        <p:txBody>
          <a:bodyPr/>
          <a:lstStyle/>
          <a:p>
            <a:endParaRPr lang="en-US"/>
          </a:p>
        </p:txBody>
      </p:sp>
      <p:sp>
        <p:nvSpPr>
          <p:cNvPr id="28" name="Shape 26"/>
          <p:cNvSpPr/>
          <p:nvPr/>
        </p:nvSpPr>
        <p:spPr>
          <a:xfrm>
            <a:off x="4551283" y="4635103"/>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2" y="6958"/>
                </a:cubicBezTo>
                <a:lnTo>
                  <a:pt x="135917" y="46620"/>
                </a:lnTo>
                <a:cubicBezTo>
                  <a:pt x="140382" y="51085"/>
                  <a:pt x="142875" y="57150"/>
                  <a:pt x="142875" y="63475"/>
                </a:cubicBezTo>
                <a:lnTo>
                  <a:pt x="142875" y="166688"/>
                </a:lnTo>
                <a:cubicBezTo>
                  <a:pt x="142875" y="179822"/>
                  <a:pt x="132197" y="190500"/>
                  <a:pt x="119063" y="190500"/>
                </a:cubicBezTo>
                <a:lnTo>
                  <a:pt x="23812" y="190500"/>
                </a:lnTo>
                <a:cubicBezTo>
                  <a:pt x="10678" y="190500"/>
                  <a:pt x="0" y="179822"/>
                  <a:pt x="0" y="166688"/>
                </a:cubicBezTo>
                <a:lnTo>
                  <a:pt x="0" y="23812"/>
                </a:lnTo>
                <a:close/>
                <a:moveTo>
                  <a:pt x="77391" y="21766"/>
                </a:moveTo>
                <a:lnTo>
                  <a:pt x="77391" y="56555"/>
                </a:lnTo>
                <a:cubicBezTo>
                  <a:pt x="77391" y="61503"/>
                  <a:pt x="81372" y="65484"/>
                  <a:pt x="86320" y="65484"/>
                </a:cubicBezTo>
                <a:lnTo>
                  <a:pt x="121109" y="65484"/>
                </a:lnTo>
                <a:lnTo>
                  <a:pt x="77391" y="21766"/>
                </a:lnTo>
                <a:close/>
                <a:moveTo>
                  <a:pt x="44648" y="95250"/>
                </a:moveTo>
                <a:cubicBezTo>
                  <a:pt x="39700" y="95250"/>
                  <a:pt x="35719" y="99231"/>
                  <a:pt x="35719" y="104180"/>
                </a:cubicBezTo>
                <a:cubicBezTo>
                  <a:pt x="35719" y="109128"/>
                  <a:pt x="39700" y="113109"/>
                  <a:pt x="44648" y="113109"/>
                </a:cubicBezTo>
                <a:lnTo>
                  <a:pt x="98227" y="113109"/>
                </a:lnTo>
                <a:cubicBezTo>
                  <a:pt x="103175" y="113109"/>
                  <a:pt x="107156" y="109128"/>
                  <a:pt x="107156" y="104180"/>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8"/>
                  <a:pt x="44648" y="148828"/>
                </a:cubicBezTo>
                <a:lnTo>
                  <a:pt x="98227" y="148828"/>
                </a:lnTo>
                <a:cubicBezTo>
                  <a:pt x="103175" y="148828"/>
                  <a:pt x="107156" y="144847"/>
                  <a:pt x="107156" y="139898"/>
                </a:cubicBezTo>
                <a:cubicBezTo>
                  <a:pt x="107156" y="134950"/>
                  <a:pt x="103175" y="130969"/>
                  <a:pt x="98227" y="130969"/>
                </a:cubicBezTo>
                <a:lnTo>
                  <a:pt x="44648" y="130969"/>
                </a:lnTo>
                <a:close/>
              </a:path>
            </a:pathLst>
          </a:custGeom>
          <a:solidFill>
            <a:srgbClr val="1A1D21"/>
          </a:solidFill>
          <a:ln/>
        </p:spPr>
        <p:txBody>
          <a:bodyPr/>
          <a:lstStyle/>
          <a:p>
            <a:endParaRPr lang="en-US"/>
          </a:p>
        </p:txBody>
      </p:sp>
      <p:sp>
        <p:nvSpPr>
          <p:cNvPr id="29" name="Text 27"/>
          <p:cNvSpPr/>
          <p:nvPr/>
        </p:nvSpPr>
        <p:spPr>
          <a:xfrm>
            <a:off x="4965621" y="4597003"/>
            <a:ext cx="182880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Document Decisions</a:t>
            </a:r>
            <a:endParaRPr lang="en-US" sz="1600" dirty="0"/>
          </a:p>
        </p:txBody>
      </p:sp>
      <p:sp>
        <p:nvSpPr>
          <p:cNvPr id="30" name="Text 28"/>
          <p:cNvSpPr/>
          <p:nvPr/>
        </p:nvSpPr>
        <p:spPr>
          <a:xfrm>
            <a:off x="4394121" y="5073253"/>
            <a:ext cx="3476625" cy="12477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Maintain records including </a:t>
            </a:r>
            <a:r>
              <a:rPr lang="en-US" sz="1200" b="1" dirty="0">
                <a:solidFill>
                  <a:srgbClr val="4A9D9C"/>
                </a:solidFill>
                <a:latin typeface="Quattrocento Sans" pitchFamily="34" charset="0"/>
                <a:ea typeface="Quattrocento Sans" pitchFamily="34" charset="-122"/>
                <a:cs typeface="Quattrocento Sans" pitchFamily="34" charset="-120"/>
              </a:rPr>
              <a:t>initial question, data processing, potential outcomes, decision made, and key people</a:t>
            </a:r>
            <a:r>
              <a:rPr lang="en-US" sz="1200" dirty="0">
                <a:solidFill>
                  <a:srgbClr val="E0E2E5"/>
                </a:solidFill>
                <a:latin typeface="Quattrocento Sans" pitchFamily="34" charset="0"/>
                <a:ea typeface="Quattrocento Sans" pitchFamily="34" charset="-122"/>
                <a:cs typeface="Quattrocento Sans" pitchFamily="34" charset="-120"/>
              </a:rPr>
              <a:t> involved.</a:t>
            </a:r>
            <a:endParaRPr lang="en-US" sz="1600" dirty="0"/>
          </a:p>
        </p:txBody>
      </p:sp>
      <p:sp>
        <p:nvSpPr>
          <p:cNvPr id="31" name="Shape 29"/>
          <p:cNvSpPr/>
          <p:nvPr/>
        </p:nvSpPr>
        <p:spPr>
          <a:xfrm>
            <a:off x="8102561" y="4349353"/>
            <a:ext cx="3705225" cy="2124075"/>
          </a:xfrm>
          <a:custGeom>
            <a:avLst/>
            <a:gdLst/>
            <a:ahLst/>
            <a:cxnLst/>
            <a:rect l="l" t="t" r="r" b="b"/>
            <a:pathLst>
              <a:path w="3705225" h="2124075">
                <a:moveTo>
                  <a:pt x="38106" y="0"/>
                </a:moveTo>
                <a:lnTo>
                  <a:pt x="3667119" y="0"/>
                </a:lnTo>
                <a:cubicBezTo>
                  <a:pt x="3688164" y="0"/>
                  <a:pt x="3705225" y="17061"/>
                  <a:pt x="3705225" y="38106"/>
                </a:cubicBezTo>
                <a:lnTo>
                  <a:pt x="3705225" y="2085969"/>
                </a:lnTo>
                <a:cubicBezTo>
                  <a:pt x="3705225" y="2107014"/>
                  <a:pt x="3688164" y="2124075"/>
                  <a:pt x="3667119" y="2124075"/>
                </a:cubicBezTo>
                <a:lnTo>
                  <a:pt x="38106" y="2124075"/>
                </a:lnTo>
                <a:cubicBezTo>
                  <a:pt x="17061" y="2124075"/>
                  <a:pt x="0" y="2107014"/>
                  <a:pt x="0" y="2085969"/>
                </a:cubicBezTo>
                <a:lnTo>
                  <a:pt x="0" y="38106"/>
                </a:lnTo>
                <a:cubicBezTo>
                  <a:pt x="0" y="17075"/>
                  <a:pt x="17075" y="0"/>
                  <a:pt x="38106" y="0"/>
                </a:cubicBezTo>
                <a:close/>
              </a:path>
            </a:pathLst>
          </a:custGeom>
          <a:solidFill>
            <a:srgbClr val="4A9D9C"/>
          </a:solidFill>
          <a:ln/>
        </p:spPr>
        <p:txBody>
          <a:bodyPr/>
          <a:lstStyle/>
          <a:p>
            <a:endParaRPr lang="en-US"/>
          </a:p>
        </p:txBody>
      </p:sp>
      <p:sp>
        <p:nvSpPr>
          <p:cNvPr id="32" name="Shape 30"/>
          <p:cNvSpPr/>
          <p:nvPr/>
        </p:nvSpPr>
        <p:spPr>
          <a:xfrm>
            <a:off x="8278773" y="453985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50602"/>
                </a:moveTo>
                <a:cubicBezTo>
                  <a:pt x="100199" y="50602"/>
                  <a:pt x="104180" y="54583"/>
                  <a:pt x="104180" y="59531"/>
                </a:cubicBezTo>
                <a:lnTo>
                  <a:pt x="104180" y="101203"/>
                </a:lnTo>
                <a:cubicBezTo>
                  <a:pt x="104180" y="106152"/>
                  <a:pt x="100199" y="110133"/>
                  <a:pt x="95250" y="110133"/>
                </a:cubicBezTo>
                <a:cubicBezTo>
                  <a:pt x="90301" y="110133"/>
                  <a:pt x="86320" y="106152"/>
                  <a:pt x="86320" y="101203"/>
                </a:cubicBezTo>
                <a:lnTo>
                  <a:pt x="86320" y="59531"/>
                </a:lnTo>
                <a:cubicBezTo>
                  <a:pt x="86320" y="54583"/>
                  <a:pt x="90301" y="50602"/>
                  <a:pt x="95250" y="50602"/>
                </a:cubicBezTo>
                <a:close/>
                <a:moveTo>
                  <a:pt x="85316" y="130969"/>
                </a:moveTo>
                <a:cubicBezTo>
                  <a:pt x="85090" y="127281"/>
                  <a:pt x="86929" y="123773"/>
                  <a:pt x="90090" y="121861"/>
                </a:cubicBezTo>
                <a:cubicBezTo>
                  <a:pt x="93251" y="119949"/>
                  <a:pt x="97212" y="119949"/>
                  <a:pt x="100373" y="121861"/>
                </a:cubicBezTo>
                <a:cubicBezTo>
                  <a:pt x="103534" y="123773"/>
                  <a:pt x="105373" y="127281"/>
                  <a:pt x="105147" y="130969"/>
                </a:cubicBezTo>
                <a:cubicBezTo>
                  <a:pt x="105373" y="134656"/>
                  <a:pt x="103534" y="138165"/>
                  <a:pt x="100373" y="140077"/>
                </a:cubicBezTo>
                <a:cubicBezTo>
                  <a:pt x="97212" y="141989"/>
                  <a:pt x="93251" y="141989"/>
                  <a:pt x="90090" y="140077"/>
                </a:cubicBezTo>
                <a:cubicBezTo>
                  <a:pt x="86929" y="138165"/>
                  <a:pt x="85090" y="134656"/>
                  <a:pt x="85316" y="130969"/>
                </a:cubicBezTo>
                <a:close/>
              </a:path>
            </a:pathLst>
          </a:custGeom>
          <a:solidFill>
            <a:srgbClr val="1A1D21"/>
          </a:solidFill>
          <a:ln/>
        </p:spPr>
        <p:txBody>
          <a:bodyPr/>
          <a:lstStyle/>
          <a:p>
            <a:endParaRPr lang="en-US"/>
          </a:p>
        </p:txBody>
      </p:sp>
      <p:sp>
        <p:nvSpPr>
          <p:cNvPr id="33" name="Text 31"/>
          <p:cNvSpPr/>
          <p:nvPr/>
        </p:nvSpPr>
        <p:spPr>
          <a:xfrm>
            <a:off x="8607386" y="4501753"/>
            <a:ext cx="1533525" cy="266700"/>
          </a:xfrm>
          <a:prstGeom prst="rect">
            <a:avLst/>
          </a:prstGeom>
          <a:noFill/>
          <a:ln/>
        </p:spPr>
        <p:txBody>
          <a:bodyPr wrap="square" lIns="0" tIns="0" rIns="0" bIns="0" rtlCol="0" anchor="ctr"/>
          <a:lstStyle/>
          <a:p>
            <a:pPr>
              <a:lnSpc>
                <a:spcPct val="120000"/>
              </a:lnSpc>
            </a:pPr>
            <a:r>
              <a:rPr lang="en-US" sz="1500" b="1" dirty="0">
                <a:solidFill>
                  <a:srgbClr val="1A1D21"/>
                </a:solidFill>
                <a:latin typeface="Liter" pitchFamily="34" charset="0"/>
                <a:ea typeface="Liter" pitchFamily="34" charset="-122"/>
                <a:cs typeface="Liter" pitchFamily="34" charset="-120"/>
              </a:rPr>
              <a:t>Critical Reminder</a:t>
            </a:r>
            <a:endParaRPr lang="en-US" sz="1600" dirty="0"/>
          </a:p>
        </p:txBody>
      </p:sp>
      <p:sp>
        <p:nvSpPr>
          <p:cNvPr id="34" name="Text 32"/>
          <p:cNvSpPr/>
          <p:nvPr/>
        </p:nvSpPr>
        <p:spPr>
          <a:xfrm>
            <a:off x="8254961" y="4882753"/>
            <a:ext cx="3476625" cy="1438275"/>
          </a:xfrm>
          <a:prstGeom prst="rect">
            <a:avLst/>
          </a:prstGeom>
          <a:noFill/>
          <a:ln/>
        </p:spPr>
        <p:txBody>
          <a:bodyPr wrap="square" lIns="0" tIns="0" rIns="0" bIns="0" rtlCol="0" anchor="ctr"/>
          <a:lstStyle/>
          <a:p>
            <a:pPr>
              <a:lnSpc>
                <a:spcPct val="140000"/>
              </a:lnSpc>
            </a:pPr>
            <a:r>
              <a:rPr lang="en-US" sz="1200" dirty="0">
                <a:solidFill>
                  <a:srgbClr val="1A1D21"/>
                </a:solidFill>
                <a:latin typeface="Quattrocento Sans" pitchFamily="34" charset="0"/>
                <a:ea typeface="Quattrocento Sans" pitchFamily="34" charset="-122"/>
                <a:cs typeface="Quattrocento Sans" pitchFamily="34" charset="-120"/>
              </a:rPr>
              <a:t>Data represents individuals. Handle your data carefully and maintain ethical standards throughout the entire analytics process.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3143250"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Measurement &amp; Communication</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Best Practices: KPIs and Visualization</a:t>
            </a:r>
            <a:endParaRPr lang="en-US" sz="1600" dirty="0"/>
          </a:p>
        </p:txBody>
      </p:sp>
      <p:sp>
        <p:nvSpPr>
          <p:cNvPr id="5" name="Shape 3"/>
          <p:cNvSpPr/>
          <p:nvPr/>
        </p:nvSpPr>
        <p:spPr>
          <a:xfrm>
            <a:off x="381000" y="1638300"/>
            <a:ext cx="5600700" cy="2133600"/>
          </a:xfrm>
          <a:custGeom>
            <a:avLst/>
            <a:gdLst/>
            <a:ahLst/>
            <a:cxnLst/>
            <a:rect l="l" t="t" r="r" b="b"/>
            <a:pathLst>
              <a:path w="5600700" h="2133600">
                <a:moveTo>
                  <a:pt x="38106" y="0"/>
                </a:moveTo>
                <a:lnTo>
                  <a:pt x="5562594" y="0"/>
                </a:lnTo>
                <a:cubicBezTo>
                  <a:pt x="5583639" y="0"/>
                  <a:pt x="5600700" y="17061"/>
                  <a:pt x="5600700" y="38106"/>
                </a:cubicBezTo>
                <a:lnTo>
                  <a:pt x="5600700" y="2095494"/>
                </a:lnTo>
                <a:cubicBezTo>
                  <a:pt x="5600700" y="2116539"/>
                  <a:pt x="5583639" y="2133600"/>
                  <a:pt x="5562594" y="2133600"/>
                </a:cubicBezTo>
                <a:lnTo>
                  <a:pt x="38106" y="2133600"/>
                </a:lnTo>
                <a:cubicBezTo>
                  <a:pt x="17061" y="2133600"/>
                  <a:pt x="0" y="2116539"/>
                  <a:pt x="0" y="2095494"/>
                </a:cubicBezTo>
                <a:lnTo>
                  <a:pt x="0" y="38106"/>
                </a:lnTo>
                <a:cubicBezTo>
                  <a:pt x="0" y="17075"/>
                  <a:pt x="17075" y="0"/>
                  <a:pt x="38106" y="0"/>
                </a:cubicBezTo>
                <a:close/>
              </a:path>
            </a:pathLst>
          </a:custGeom>
          <a:solidFill>
            <a:srgbClr val="3D4F5F"/>
          </a:solidFill>
          <a:ln/>
        </p:spPr>
        <p:txBody>
          <a:bodyPr/>
          <a:lstStyle/>
          <a:p>
            <a:endParaRPr lang="en-US"/>
          </a:p>
        </p:txBody>
      </p:sp>
      <p:sp>
        <p:nvSpPr>
          <p:cNvPr id="6" name="Text 4"/>
          <p:cNvSpPr/>
          <p:nvPr/>
        </p:nvSpPr>
        <p:spPr>
          <a:xfrm>
            <a:off x="533400" y="1790700"/>
            <a:ext cx="53911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Defining Clear KPIs</a:t>
            </a:r>
            <a:endParaRPr lang="en-US" sz="1600" dirty="0"/>
          </a:p>
        </p:txBody>
      </p:sp>
      <p:sp>
        <p:nvSpPr>
          <p:cNvPr id="7" name="Text 5"/>
          <p:cNvSpPr/>
          <p:nvPr/>
        </p:nvSpPr>
        <p:spPr>
          <a:xfrm>
            <a:off x="533400" y="2171700"/>
            <a:ext cx="5372100" cy="49530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It's difficult to track data analytics without understanding what you're measuring. Determine </a:t>
            </a:r>
            <a:r>
              <a:rPr lang="en-US" sz="1200" b="1" dirty="0">
                <a:solidFill>
                  <a:srgbClr val="4A9D9C"/>
                </a:solidFill>
                <a:latin typeface="Quattrocento Sans" pitchFamily="34" charset="0"/>
                <a:ea typeface="Quattrocento Sans" pitchFamily="34" charset="-122"/>
                <a:cs typeface="Quattrocento Sans" pitchFamily="34" charset="-120"/>
              </a:rPr>
              <a:t>key performance indicators (KPIs)</a:t>
            </a:r>
            <a:r>
              <a:rPr lang="en-US" sz="1200" dirty="0">
                <a:solidFill>
                  <a:srgbClr val="E0E2E5"/>
                </a:solidFill>
                <a:latin typeface="Quattrocento Sans" pitchFamily="34" charset="0"/>
                <a:ea typeface="Quattrocento Sans" pitchFamily="34" charset="-122"/>
                <a:cs typeface="Quattrocento Sans" pitchFamily="34" charset="-120"/>
              </a:rPr>
              <a:t> before beginning any analysis.</a:t>
            </a:r>
            <a:endParaRPr lang="en-US" sz="1600" dirty="0"/>
          </a:p>
        </p:txBody>
      </p:sp>
      <p:sp>
        <p:nvSpPr>
          <p:cNvPr id="8" name="Shape 6"/>
          <p:cNvSpPr/>
          <p:nvPr/>
        </p:nvSpPr>
        <p:spPr>
          <a:xfrm>
            <a:off x="561975" y="2819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A9D9C"/>
          </a:solidFill>
          <a:ln/>
        </p:spPr>
        <p:txBody>
          <a:bodyPr/>
          <a:lstStyle/>
          <a:p>
            <a:endParaRPr lang="en-US"/>
          </a:p>
        </p:txBody>
      </p:sp>
      <p:sp>
        <p:nvSpPr>
          <p:cNvPr id="9" name="Text 7"/>
          <p:cNvSpPr/>
          <p:nvPr/>
        </p:nvSpPr>
        <p:spPr>
          <a:xfrm>
            <a:off x="800100" y="2781300"/>
            <a:ext cx="3343275" cy="228600"/>
          </a:xfrm>
          <a:prstGeom prst="rect">
            <a:avLst/>
          </a:prstGeom>
          <a:noFill/>
          <a:ln/>
        </p:spPr>
        <p:txBody>
          <a:bodyPr wrap="square" lIns="0" tIns="0" rIns="0" bIns="0" rtlCol="0" anchor="ctr"/>
          <a:lstStyle/>
          <a:p>
            <a:pPr>
              <a:lnSpc>
                <a:spcPct val="130000"/>
              </a:lnSpc>
            </a:pPr>
            <a:r>
              <a:rPr lang="en-US" sz="1200" b="1" dirty="0">
                <a:solidFill>
                  <a:srgbClr val="4A9D9C"/>
                </a:solidFill>
                <a:latin typeface="Quattrocento Sans" pitchFamily="34" charset="0"/>
                <a:ea typeface="Quattrocento Sans" pitchFamily="34" charset="-122"/>
                <a:cs typeface="Quattrocento Sans" pitchFamily="34" charset="-120"/>
              </a:rPr>
              <a:t>Choose relevant KPIs:</a:t>
            </a:r>
            <a:r>
              <a:rPr lang="en-US" sz="1200" dirty="0">
                <a:solidFill>
                  <a:srgbClr val="E0E2E5"/>
                </a:solidFill>
                <a:latin typeface="Quattrocento Sans" pitchFamily="34" charset="0"/>
                <a:ea typeface="Quattrocento Sans" pitchFamily="34" charset="-122"/>
                <a:cs typeface="Quattrocento Sans" pitchFamily="34" charset="-120"/>
              </a:rPr>
              <a:t> Not all metrics are essential</a:t>
            </a:r>
            <a:endParaRPr lang="en-US" sz="1600" dirty="0"/>
          </a:p>
        </p:txBody>
      </p:sp>
      <p:sp>
        <p:nvSpPr>
          <p:cNvPr id="10" name="Shape 8"/>
          <p:cNvSpPr/>
          <p:nvPr/>
        </p:nvSpPr>
        <p:spPr>
          <a:xfrm>
            <a:off x="561975" y="31242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A9D9C"/>
          </a:solidFill>
          <a:ln/>
        </p:spPr>
        <p:txBody>
          <a:bodyPr/>
          <a:lstStyle/>
          <a:p>
            <a:endParaRPr lang="en-US"/>
          </a:p>
        </p:txBody>
      </p:sp>
      <p:sp>
        <p:nvSpPr>
          <p:cNvPr id="11" name="Text 9"/>
          <p:cNvSpPr/>
          <p:nvPr/>
        </p:nvSpPr>
        <p:spPr>
          <a:xfrm>
            <a:off x="800100" y="3086100"/>
            <a:ext cx="5095875" cy="228600"/>
          </a:xfrm>
          <a:prstGeom prst="rect">
            <a:avLst/>
          </a:prstGeom>
          <a:noFill/>
          <a:ln/>
        </p:spPr>
        <p:txBody>
          <a:bodyPr wrap="square" lIns="0" tIns="0" rIns="0" bIns="0" rtlCol="0" anchor="ctr"/>
          <a:lstStyle/>
          <a:p>
            <a:pPr>
              <a:lnSpc>
                <a:spcPct val="130000"/>
              </a:lnSpc>
            </a:pPr>
            <a:r>
              <a:rPr lang="en-US" sz="1200" b="1" dirty="0">
                <a:solidFill>
                  <a:srgbClr val="4A9D9C"/>
                </a:solidFill>
                <a:latin typeface="Quattrocento Sans" pitchFamily="34" charset="0"/>
                <a:ea typeface="Quattrocento Sans" pitchFamily="34" charset="-122"/>
                <a:cs typeface="Quattrocento Sans" pitchFamily="34" charset="-120"/>
              </a:rPr>
              <a:t>SMART indicators:</a:t>
            </a:r>
            <a:r>
              <a:rPr lang="en-US" sz="1200" dirty="0">
                <a:solidFill>
                  <a:srgbClr val="E0E2E5"/>
                </a:solidFill>
                <a:latin typeface="Quattrocento Sans" pitchFamily="34" charset="0"/>
                <a:ea typeface="Quattrocento Sans" pitchFamily="34" charset="-122"/>
                <a:cs typeface="Quattrocento Sans" pitchFamily="34" charset="-120"/>
              </a:rPr>
              <a:t> Specific, Measurable, Achievable, Relevant, Time-specific</a:t>
            </a:r>
            <a:endParaRPr lang="en-US" sz="1600" dirty="0"/>
          </a:p>
        </p:txBody>
      </p:sp>
      <p:sp>
        <p:nvSpPr>
          <p:cNvPr id="12" name="Shape 10"/>
          <p:cNvSpPr/>
          <p:nvPr/>
        </p:nvSpPr>
        <p:spPr>
          <a:xfrm>
            <a:off x="561975" y="34290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A9D9C"/>
          </a:solidFill>
          <a:ln/>
        </p:spPr>
        <p:txBody>
          <a:bodyPr/>
          <a:lstStyle/>
          <a:p>
            <a:endParaRPr lang="en-US"/>
          </a:p>
        </p:txBody>
      </p:sp>
      <p:sp>
        <p:nvSpPr>
          <p:cNvPr id="13" name="Text 11"/>
          <p:cNvSpPr/>
          <p:nvPr/>
        </p:nvSpPr>
        <p:spPr>
          <a:xfrm>
            <a:off x="800100" y="3390900"/>
            <a:ext cx="4867275" cy="228600"/>
          </a:xfrm>
          <a:prstGeom prst="rect">
            <a:avLst/>
          </a:prstGeom>
          <a:noFill/>
          <a:ln/>
        </p:spPr>
        <p:txBody>
          <a:bodyPr wrap="square" lIns="0" tIns="0" rIns="0" bIns="0" rtlCol="0" anchor="ctr"/>
          <a:lstStyle/>
          <a:p>
            <a:pPr>
              <a:lnSpc>
                <a:spcPct val="130000"/>
              </a:lnSpc>
            </a:pPr>
            <a:r>
              <a:rPr lang="en-US" sz="1200" b="1" dirty="0">
                <a:solidFill>
                  <a:srgbClr val="4A9D9C"/>
                </a:solidFill>
                <a:latin typeface="Quattrocento Sans" pitchFamily="34" charset="0"/>
                <a:ea typeface="Quattrocento Sans" pitchFamily="34" charset="-122"/>
                <a:cs typeface="Quattrocento Sans" pitchFamily="34" charset="-120"/>
              </a:rPr>
              <a:t>Balance indicators:</a:t>
            </a:r>
            <a:r>
              <a:rPr lang="en-US" sz="1200" dirty="0">
                <a:solidFill>
                  <a:srgbClr val="E0E2E5"/>
                </a:solidFill>
                <a:latin typeface="Quattrocento Sans" pitchFamily="34" charset="0"/>
                <a:ea typeface="Quattrocento Sans" pitchFamily="34" charset="-122"/>
                <a:cs typeface="Quattrocento Sans" pitchFamily="34" charset="-120"/>
              </a:rPr>
              <a:t> Leading (predict future) and lagging (understand past)</a:t>
            </a:r>
            <a:endParaRPr lang="en-US" sz="1600" dirty="0"/>
          </a:p>
        </p:txBody>
      </p:sp>
      <p:sp>
        <p:nvSpPr>
          <p:cNvPr id="14" name="Shape 12"/>
          <p:cNvSpPr/>
          <p:nvPr/>
        </p:nvSpPr>
        <p:spPr>
          <a:xfrm>
            <a:off x="381000" y="3924300"/>
            <a:ext cx="5600700" cy="1428750"/>
          </a:xfrm>
          <a:custGeom>
            <a:avLst/>
            <a:gdLst/>
            <a:ahLst/>
            <a:cxnLst/>
            <a:rect l="l" t="t" r="r" b="b"/>
            <a:pathLst>
              <a:path w="5600700" h="1428750">
                <a:moveTo>
                  <a:pt x="38105" y="0"/>
                </a:moveTo>
                <a:lnTo>
                  <a:pt x="5562595" y="0"/>
                </a:lnTo>
                <a:cubicBezTo>
                  <a:pt x="5583640" y="0"/>
                  <a:pt x="5600700" y="17060"/>
                  <a:pt x="5600700" y="38105"/>
                </a:cubicBezTo>
                <a:lnTo>
                  <a:pt x="5600700" y="1390645"/>
                </a:lnTo>
                <a:cubicBezTo>
                  <a:pt x="5600700" y="1411690"/>
                  <a:pt x="5583640" y="1428750"/>
                  <a:pt x="5562595" y="1428750"/>
                </a:cubicBezTo>
                <a:lnTo>
                  <a:pt x="38105" y="1428750"/>
                </a:lnTo>
                <a:cubicBezTo>
                  <a:pt x="17060" y="1428750"/>
                  <a:pt x="0" y="1411690"/>
                  <a:pt x="0" y="1390645"/>
                </a:cubicBezTo>
                <a:lnTo>
                  <a:pt x="0" y="38105"/>
                </a:lnTo>
                <a:cubicBezTo>
                  <a:pt x="0" y="17074"/>
                  <a:pt x="17074" y="0"/>
                  <a:pt x="38105" y="0"/>
                </a:cubicBezTo>
                <a:close/>
              </a:path>
            </a:pathLst>
          </a:custGeom>
          <a:solidFill>
            <a:srgbClr val="3D4F5F"/>
          </a:solidFill>
          <a:ln/>
        </p:spPr>
        <p:txBody>
          <a:bodyPr/>
          <a:lstStyle/>
          <a:p>
            <a:endParaRPr lang="en-US"/>
          </a:p>
        </p:txBody>
      </p:sp>
      <p:sp>
        <p:nvSpPr>
          <p:cNvPr id="15" name="Text 13"/>
          <p:cNvSpPr/>
          <p:nvPr/>
        </p:nvSpPr>
        <p:spPr>
          <a:xfrm>
            <a:off x="533400" y="4076700"/>
            <a:ext cx="53911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Conducting Regular Audits</a:t>
            </a:r>
            <a:endParaRPr lang="en-US" sz="1600" dirty="0"/>
          </a:p>
        </p:txBody>
      </p:sp>
      <p:sp>
        <p:nvSpPr>
          <p:cNvPr id="16" name="Text 14"/>
          <p:cNvSpPr/>
          <p:nvPr/>
        </p:nvSpPr>
        <p:spPr>
          <a:xfrm>
            <a:off x="533400" y="4457700"/>
            <a:ext cx="5372100" cy="742950"/>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It's uncommon to discover that some metrics are less relevant than initially thought. </a:t>
            </a:r>
            <a:r>
              <a:rPr lang="en-US" sz="1200" b="1" dirty="0">
                <a:solidFill>
                  <a:srgbClr val="4A9D9C"/>
                </a:solidFill>
                <a:latin typeface="Quattrocento Sans" pitchFamily="34" charset="0"/>
                <a:ea typeface="Quattrocento Sans" pitchFamily="34" charset="-122"/>
                <a:cs typeface="Quattrocento Sans" pitchFamily="34" charset="-120"/>
              </a:rPr>
              <a:t>Continually auditing your metrics</a:t>
            </a:r>
            <a:r>
              <a:rPr lang="en-US" sz="1200" dirty="0">
                <a:solidFill>
                  <a:srgbClr val="E0E2E5"/>
                </a:solidFill>
                <a:latin typeface="Quattrocento Sans" pitchFamily="34" charset="0"/>
                <a:ea typeface="Quattrocento Sans" pitchFamily="34" charset="-122"/>
                <a:cs typeface="Quattrocento Sans" pitchFamily="34" charset="-120"/>
              </a:rPr>
              <a:t> is a good practice to ensure you have the best data at your disposal.</a:t>
            </a:r>
            <a:endParaRPr lang="en-US" sz="1600" dirty="0"/>
          </a:p>
        </p:txBody>
      </p:sp>
      <p:sp>
        <p:nvSpPr>
          <p:cNvPr id="17" name="Shape 15"/>
          <p:cNvSpPr/>
          <p:nvPr/>
        </p:nvSpPr>
        <p:spPr>
          <a:xfrm>
            <a:off x="6210300" y="1638300"/>
            <a:ext cx="5600700" cy="2324100"/>
          </a:xfrm>
          <a:custGeom>
            <a:avLst/>
            <a:gdLst/>
            <a:ahLst/>
            <a:cxnLst/>
            <a:rect l="l" t="t" r="r" b="b"/>
            <a:pathLst>
              <a:path w="5600700" h="2324100">
                <a:moveTo>
                  <a:pt x="38092" y="0"/>
                </a:moveTo>
                <a:lnTo>
                  <a:pt x="5562608" y="0"/>
                </a:lnTo>
                <a:cubicBezTo>
                  <a:pt x="5583632" y="0"/>
                  <a:pt x="5600700" y="17068"/>
                  <a:pt x="5600700" y="38092"/>
                </a:cubicBezTo>
                <a:lnTo>
                  <a:pt x="5600700" y="2286008"/>
                </a:lnTo>
                <a:cubicBezTo>
                  <a:pt x="5600700" y="2307046"/>
                  <a:pt x="5583646" y="2324100"/>
                  <a:pt x="5562608" y="2324100"/>
                </a:cubicBezTo>
                <a:lnTo>
                  <a:pt x="38092" y="2324100"/>
                </a:lnTo>
                <a:cubicBezTo>
                  <a:pt x="17068" y="2324100"/>
                  <a:pt x="0" y="2307032"/>
                  <a:pt x="0" y="2286008"/>
                </a:cubicBezTo>
                <a:lnTo>
                  <a:pt x="0" y="38092"/>
                </a:lnTo>
                <a:cubicBezTo>
                  <a:pt x="0" y="17054"/>
                  <a:pt x="17054" y="0"/>
                  <a:pt x="38092" y="0"/>
                </a:cubicBezTo>
                <a:close/>
              </a:path>
            </a:pathLst>
          </a:custGeom>
          <a:solidFill>
            <a:srgbClr val="3D4F5F"/>
          </a:solidFill>
          <a:ln/>
        </p:spPr>
        <p:txBody>
          <a:bodyPr/>
          <a:lstStyle/>
          <a:p>
            <a:endParaRPr lang="en-US"/>
          </a:p>
        </p:txBody>
      </p:sp>
      <p:sp>
        <p:nvSpPr>
          <p:cNvPr id="18" name="Text 16"/>
          <p:cNvSpPr/>
          <p:nvPr/>
        </p:nvSpPr>
        <p:spPr>
          <a:xfrm>
            <a:off x="6362700" y="1790700"/>
            <a:ext cx="53911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Effective Data Visualization</a:t>
            </a:r>
            <a:endParaRPr lang="en-US" sz="1600" dirty="0"/>
          </a:p>
        </p:txBody>
      </p:sp>
      <p:sp>
        <p:nvSpPr>
          <p:cNvPr id="19" name="Shape 17"/>
          <p:cNvSpPr/>
          <p:nvPr/>
        </p:nvSpPr>
        <p:spPr>
          <a:xfrm>
            <a:off x="6362700" y="21717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4A9D9C"/>
          </a:solidFill>
          <a:ln/>
        </p:spPr>
        <p:txBody>
          <a:bodyPr/>
          <a:lstStyle/>
          <a:p>
            <a:endParaRPr lang="en-US"/>
          </a:p>
        </p:txBody>
      </p:sp>
      <p:sp>
        <p:nvSpPr>
          <p:cNvPr id="20" name="Text 18"/>
          <p:cNvSpPr/>
          <p:nvPr/>
        </p:nvSpPr>
        <p:spPr>
          <a:xfrm>
            <a:off x="6482239" y="2190750"/>
            <a:ext cx="152400" cy="266700"/>
          </a:xfrm>
          <a:prstGeom prst="rect">
            <a:avLst/>
          </a:prstGeom>
          <a:noFill/>
          <a:ln/>
        </p:spPr>
        <p:txBody>
          <a:bodyPr wrap="square" lIns="0" tIns="0" rIns="0" bIns="0" rtlCol="0" anchor="ctr"/>
          <a:lstStyle/>
          <a:p>
            <a:pPr>
              <a:lnSpc>
                <a:spcPct val="130000"/>
              </a:lnSpc>
            </a:pPr>
            <a:r>
              <a:rPr lang="en-US" sz="1350" b="1" dirty="0">
                <a:solidFill>
                  <a:srgbClr val="1A1D21"/>
                </a:solidFill>
                <a:latin typeface="Hedvig Letters Sans" pitchFamily="34" charset="0"/>
                <a:ea typeface="Hedvig Letters Sans" pitchFamily="34" charset="-122"/>
                <a:cs typeface="Hedvig Letters Sans" pitchFamily="34" charset="-120"/>
              </a:rPr>
              <a:t>1</a:t>
            </a:r>
            <a:endParaRPr lang="en-US" sz="1600" dirty="0"/>
          </a:p>
        </p:txBody>
      </p:sp>
      <p:sp>
        <p:nvSpPr>
          <p:cNvPr id="21" name="Text 19"/>
          <p:cNvSpPr/>
          <p:nvPr/>
        </p:nvSpPr>
        <p:spPr>
          <a:xfrm>
            <a:off x="6781800" y="2171700"/>
            <a:ext cx="496252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Keep it Clear and Concise</a:t>
            </a:r>
            <a:endParaRPr lang="en-US" sz="1600" dirty="0"/>
          </a:p>
        </p:txBody>
      </p:sp>
      <p:sp>
        <p:nvSpPr>
          <p:cNvPr id="22" name="Text 20"/>
          <p:cNvSpPr/>
          <p:nvPr/>
        </p:nvSpPr>
        <p:spPr>
          <a:xfrm>
            <a:off x="6781800" y="2476500"/>
            <a:ext cx="4953000" cy="4572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Complicated visuals raise more questions than answers. Focus on answering </a:t>
            </a:r>
            <a:r>
              <a:rPr lang="en-US" sz="1200" b="1" dirty="0">
                <a:solidFill>
                  <a:srgbClr val="4A9D9C"/>
                </a:solidFill>
                <a:latin typeface="Quattrocento Sans" pitchFamily="34" charset="0"/>
                <a:ea typeface="Quattrocento Sans" pitchFamily="34" charset="-122"/>
                <a:cs typeface="Quattrocento Sans" pitchFamily="34" charset="-120"/>
              </a:rPr>
              <a:t>one specific question</a:t>
            </a:r>
            <a:r>
              <a:rPr lang="en-US" sz="1200" dirty="0">
                <a:solidFill>
                  <a:srgbClr val="E0E2E5"/>
                </a:solidFill>
                <a:latin typeface="Quattrocento Sans" pitchFamily="34" charset="0"/>
                <a:ea typeface="Quattrocento Sans" pitchFamily="34" charset="-122"/>
                <a:cs typeface="Quattrocento Sans" pitchFamily="34" charset="-120"/>
              </a:rPr>
              <a:t> and use distinct colors.</a:t>
            </a:r>
            <a:endParaRPr lang="en-US" sz="1600" dirty="0"/>
          </a:p>
        </p:txBody>
      </p:sp>
      <p:sp>
        <p:nvSpPr>
          <p:cNvPr id="23" name="Shape 21"/>
          <p:cNvSpPr/>
          <p:nvPr/>
        </p:nvSpPr>
        <p:spPr>
          <a:xfrm>
            <a:off x="6362700" y="3048000"/>
            <a:ext cx="304800" cy="304800"/>
          </a:xfrm>
          <a:custGeom>
            <a:avLst/>
            <a:gdLst/>
            <a:ahLst/>
            <a:cxnLst/>
            <a:rect l="l" t="t" r="r" b="b"/>
            <a:pathLst>
              <a:path w="304800" h="304800">
                <a:moveTo>
                  <a:pt x="0" y="0"/>
                </a:moveTo>
                <a:lnTo>
                  <a:pt x="304800" y="0"/>
                </a:lnTo>
                <a:lnTo>
                  <a:pt x="304800" y="304800"/>
                </a:lnTo>
                <a:lnTo>
                  <a:pt x="0" y="304800"/>
                </a:lnTo>
                <a:lnTo>
                  <a:pt x="0" y="0"/>
                </a:lnTo>
                <a:close/>
              </a:path>
            </a:pathLst>
          </a:custGeom>
          <a:solidFill>
            <a:srgbClr val="4A9D9C"/>
          </a:solidFill>
          <a:ln/>
        </p:spPr>
        <p:txBody>
          <a:bodyPr/>
          <a:lstStyle/>
          <a:p>
            <a:endParaRPr lang="en-US"/>
          </a:p>
        </p:txBody>
      </p:sp>
      <p:sp>
        <p:nvSpPr>
          <p:cNvPr id="24" name="Text 22"/>
          <p:cNvSpPr/>
          <p:nvPr/>
        </p:nvSpPr>
        <p:spPr>
          <a:xfrm>
            <a:off x="6469975" y="3067050"/>
            <a:ext cx="171450" cy="266700"/>
          </a:xfrm>
          <a:prstGeom prst="rect">
            <a:avLst/>
          </a:prstGeom>
          <a:noFill/>
          <a:ln/>
        </p:spPr>
        <p:txBody>
          <a:bodyPr wrap="square" lIns="0" tIns="0" rIns="0" bIns="0" rtlCol="0" anchor="ctr"/>
          <a:lstStyle/>
          <a:p>
            <a:pPr>
              <a:lnSpc>
                <a:spcPct val="130000"/>
              </a:lnSpc>
            </a:pPr>
            <a:r>
              <a:rPr lang="en-US" sz="1350" b="1" dirty="0">
                <a:solidFill>
                  <a:srgbClr val="1A1D21"/>
                </a:solidFill>
                <a:latin typeface="Hedvig Letters Sans" pitchFamily="34" charset="0"/>
                <a:ea typeface="Hedvig Letters Sans" pitchFamily="34" charset="-122"/>
                <a:cs typeface="Hedvig Letters Sans" pitchFamily="34" charset="-120"/>
              </a:rPr>
              <a:t>2</a:t>
            </a:r>
            <a:endParaRPr lang="en-US" sz="1600" dirty="0"/>
          </a:p>
        </p:txBody>
      </p:sp>
      <p:sp>
        <p:nvSpPr>
          <p:cNvPr id="25" name="Text 23"/>
          <p:cNvSpPr/>
          <p:nvPr/>
        </p:nvSpPr>
        <p:spPr>
          <a:xfrm>
            <a:off x="6781800" y="3048000"/>
            <a:ext cx="4962525" cy="266700"/>
          </a:xfrm>
          <a:prstGeom prst="rect">
            <a:avLst/>
          </a:prstGeom>
          <a:noFill/>
          <a:ln/>
        </p:spPr>
        <p:txBody>
          <a:bodyPr wrap="square" lIns="0" tIns="0" rIns="0" bIns="0" rtlCol="0" anchor="ctr"/>
          <a:lstStyle/>
          <a:p>
            <a:pPr>
              <a:lnSpc>
                <a:spcPct val="130000"/>
              </a:lnSpc>
            </a:pPr>
            <a:r>
              <a:rPr lang="en-US" sz="1350" b="1" dirty="0">
                <a:solidFill>
                  <a:srgbClr val="E0E2E5"/>
                </a:solidFill>
                <a:latin typeface="Quattrocento Sans" pitchFamily="34" charset="0"/>
                <a:ea typeface="Quattrocento Sans" pitchFamily="34" charset="-122"/>
                <a:cs typeface="Quattrocento Sans" pitchFamily="34" charset="-120"/>
              </a:rPr>
              <a:t>Choose Appropriate Visuals</a:t>
            </a:r>
            <a:endParaRPr lang="en-US" sz="1600" dirty="0"/>
          </a:p>
        </p:txBody>
      </p:sp>
      <p:sp>
        <p:nvSpPr>
          <p:cNvPr id="26" name="Text 24"/>
          <p:cNvSpPr/>
          <p:nvPr/>
        </p:nvSpPr>
        <p:spPr>
          <a:xfrm>
            <a:off x="6781800" y="3352800"/>
            <a:ext cx="4953000" cy="4572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Not every chart is appropriate for every data type. Choose the </a:t>
            </a:r>
            <a:r>
              <a:rPr lang="en-US" sz="1200" b="1" dirty="0">
                <a:solidFill>
                  <a:srgbClr val="4A9D9C"/>
                </a:solidFill>
                <a:latin typeface="Quattrocento Sans" pitchFamily="34" charset="0"/>
                <a:ea typeface="Quattrocento Sans" pitchFamily="34" charset="-122"/>
                <a:cs typeface="Quattrocento Sans" pitchFamily="34" charset="-120"/>
              </a:rPr>
              <a:t>right type of chart or graph</a:t>
            </a:r>
            <a:r>
              <a:rPr lang="en-US" sz="1200" dirty="0">
                <a:solidFill>
                  <a:srgbClr val="E0E2E5"/>
                </a:solidFill>
                <a:latin typeface="Quattrocento Sans" pitchFamily="34" charset="0"/>
                <a:ea typeface="Quattrocento Sans" pitchFamily="34" charset="-122"/>
                <a:cs typeface="Quattrocento Sans" pitchFamily="34" charset="-120"/>
              </a:rPr>
              <a:t> for your information.</a:t>
            </a:r>
            <a:endParaRPr lang="en-US" sz="1600" dirty="0"/>
          </a:p>
        </p:txBody>
      </p:sp>
      <p:sp>
        <p:nvSpPr>
          <p:cNvPr id="27" name="Shape 25"/>
          <p:cNvSpPr/>
          <p:nvPr/>
        </p:nvSpPr>
        <p:spPr>
          <a:xfrm>
            <a:off x="6210300" y="4114800"/>
            <a:ext cx="5600700" cy="1428750"/>
          </a:xfrm>
          <a:custGeom>
            <a:avLst/>
            <a:gdLst/>
            <a:ahLst/>
            <a:cxnLst/>
            <a:rect l="l" t="t" r="r" b="b"/>
            <a:pathLst>
              <a:path w="5600700" h="1428750">
                <a:moveTo>
                  <a:pt x="38105" y="0"/>
                </a:moveTo>
                <a:lnTo>
                  <a:pt x="5562595" y="0"/>
                </a:lnTo>
                <a:cubicBezTo>
                  <a:pt x="5583640" y="0"/>
                  <a:pt x="5600700" y="17060"/>
                  <a:pt x="5600700" y="38105"/>
                </a:cubicBezTo>
                <a:lnTo>
                  <a:pt x="5600700" y="1390645"/>
                </a:lnTo>
                <a:cubicBezTo>
                  <a:pt x="5600700" y="1411690"/>
                  <a:pt x="5583640" y="1428750"/>
                  <a:pt x="5562595" y="1428750"/>
                </a:cubicBezTo>
                <a:lnTo>
                  <a:pt x="38105" y="1428750"/>
                </a:lnTo>
                <a:cubicBezTo>
                  <a:pt x="17060" y="1428750"/>
                  <a:pt x="0" y="1411690"/>
                  <a:pt x="0" y="1390645"/>
                </a:cubicBezTo>
                <a:lnTo>
                  <a:pt x="0" y="38105"/>
                </a:lnTo>
                <a:cubicBezTo>
                  <a:pt x="0" y="17074"/>
                  <a:pt x="17074" y="0"/>
                  <a:pt x="38105" y="0"/>
                </a:cubicBezTo>
                <a:close/>
              </a:path>
            </a:pathLst>
          </a:custGeom>
          <a:solidFill>
            <a:srgbClr val="3D4F5F"/>
          </a:solidFill>
          <a:ln/>
        </p:spPr>
        <p:txBody>
          <a:bodyPr/>
          <a:lstStyle/>
          <a:p>
            <a:endParaRPr lang="en-US"/>
          </a:p>
        </p:txBody>
      </p:sp>
      <p:sp>
        <p:nvSpPr>
          <p:cNvPr id="28" name="Text 26"/>
          <p:cNvSpPr/>
          <p:nvPr/>
        </p:nvSpPr>
        <p:spPr>
          <a:xfrm>
            <a:off x="6362700" y="4267200"/>
            <a:ext cx="5391150" cy="266700"/>
          </a:xfrm>
          <a:prstGeom prst="rect">
            <a:avLst/>
          </a:prstGeom>
          <a:noFill/>
          <a:ln/>
        </p:spPr>
        <p:txBody>
          <a:bodyPr wrap="square" lIns="0" tIns="0" rIns="0" bIns="0" rtlCol="0" anchor="ctr"/>
          <a:lstStyle/>
          <a:p>
            <a:pPr>
              <a:lnSpc>
                <a:spcPct val="120000"/>
              </a:lnSpc>
            </a:pPr>
            <a:r>
              <a:rPr lang="en-US" sz="1500" b="1" dirty="0">
                <a:solidFill>
                  <a:srgbClr val="4A9D9C"/>
                </a:solidFill>
                <a:latin typeface="Liter" pitchFamily="34" charset="0"/>
                <a:ea typeface="Liter" pitchFamily="34" charset="-122"/>
                <a:cs typeface="Liter" pitchFamily="34" charset="-120"/>
              </a:rPr>
              <a:t>Communicating KPIs</a:t>
            </a:r>
            <a:endParaRPr lang="en-US" sz="1600" dirty="0"/>
          </a:p>
        </p:txBody>
      </p:sp>
      <p:sp>
        <p:nvSpPr>
          <p:cNvPr id="29" name="Text 27"/>
          <p:cNvSpPr/>
          <p:nvPr/>
        </p:nvSpPr>
        <p:spPr>
          <a:xfrm>
            <a:off x="6362700" y="4648200"/>
            <a:ext cx="5372100" cy="742950"/>
          </a:xfrm>
          <a:prstGeom prst="rect">
            <a:avLst/>
          </a:prstGeom>
          <a:noFill/>
          <a:ln/>
        </p:spPr>
        <p:txBody>
          <a:bodyPr wrap="square" lIns="0" tIns="0" rIns="0" bIns="0" rtlCol="0" anchor="ctr"/>
          <a:lstStyle/>
          <a:p>
            <a:pPr>
              <a:lnSpc>
                <a:spcPct val="140000"/>
              </a:lnSpc>
            </a:pPr>
            <a:r>
              <a:rPr lang="en-US" sz="1200" b="1" dirty="0">
                <a:solidFill>
                  <a:srgbClr val="4A9D9C"/>
                </a:solidFill>
                <a:latin typeface="Quattrocento Sans" pitchFamily="34" charset="0"/>
                <a:ea typeface="Quattrocento Sans" pitchFamily="34" charset="-122"/>
                <a:cs typeface="Quattrocento Sans" pitchFamily="34" charset="-120"/>
              </a:rPr>
              <a:t>Communicate which KPIs you're tracking</a:t>
            </a:r>
            <a:r>
              <a:rPr lang="en-US" sz="1200" dirty="0">
                <a:solidFill>
                  <a:srgbClr val="E0E2E5"/>
                </a:solidFill>
                <a:latin typeface="Quattrocento Sans" pitchFamily="34" charset="0"/>
                <a:ea typeface="Quattrocento Sans" pitchFamily="34" charset="-122"/>
                <a:cs typeface="Quattrocento Sans" pitchFamily="34" charset="-120"/>
              </a:rPr>
              <a:t> to ensure everyone is on the same page. This helps stakeholders make sense of the metrics and enables teams to influence KPIs effectively.</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sp>
        <p:nvSpPr>
          <p:cNvPr id="2" name="Shape 0"/>
          <p:cNvSpPr/>
          <p:nvPr/>
        </p:nvSpPr>
        <p:spPr>
          <a:xfrm>
            <a:off x="381000" y="381000"/>
            <a:ext cx="38100" cy="457200"/>
          </a:xfrm>
          <a:custGeom>
            <a:avLst/>
            <a:gdLst/>
            <a:ahLst/>
            <a:cxnLst/>
            <a:rect l="l" t="t" r="r" b="b"/>
            <a:pathLst>
              <a:path w="38100" h="457200">
                <a:moveTo>
                  <a:pt x="0" y="0"/>
                </a:moveTo>
                <a:lnTo>
                  <a:pt x="38100" y="0"/>
                </a:lnTo>
                <a:lnTo>
                  <a:pt x="38100" y="457200"/>
                </a:lnTo>
                <a:lnTo>
                  <a:pt x="0" y="457200"/>
                </a:lnTo>
                <a:lnTo>
                  <a:pt x="0" y="0"/>
                </a:lnTo>
                <a:close/>
              </a:path>
            </a:pathLst>
          </a:custGeom>
          <a:solidFill>
            <a:srgbClr val="4A9D9C"/>
          </a:solidFill>
          <a:ln/>
        </p:spPr>
        <p:txBody>
          <a:bodyPr/>
          <a:lstStyle/>
          <a:p>
            <a:endParaRPr lang="en-US"/>
          </a:p>
        </p:txBody>
      </p:sp>
      <p:sp>
        <p:nvSpPr>
          <p:cNvPr id="3" name="Text 1"/>
          <p:cNvSpPr/>
          <p:nvPr/>
        </p:nvSpPr>
        <p:spPr>
          <a:xfrm>
            <a:off x="533400" y="476250"/>
            <a:ext cx="1609725" cy="266700"/>
          </a:xfrm>
          <a:prstGeom prst="rect">
            <a:avLst/>
          </a:prstGeom>
          <a:noFill/>
          <a:ln/>
        </p:spPr>
        <p:txBody>
          <a:bodyPr wrap="square" lIns="0" tIns="0" rIns="0" bIns="0" rtlCol="0" anchor="ctr"/>
          <a:lstStyle/>
          <a:p>
            <a:pPr>
              <a:lnSpc>
                <a:spcPct val="130000"/>
              </a:lnSpc>
            </a:pPr>
            <a:r>
              <a:rPr lang="en-US" sz="1350" b="1" kern="0" spc="68" dirty="0">
                <a:solidFill>
                  <a:srgbClr val="4A9D9C"/>
                </a:solidFill>
                <a:latin typeface="Quattrocento Sans" pitchFamily="34" charset="0"/>
                <a:ea typeface="Quattrocento Sans" pitchFamily="34" charset="-122"/>
                <a:cs typeface="Quattrocento Sans" pitchFamily="34" charset="-120"/>
              </a:rPr>
              <a:t>Implementation</a:t>
            </a:r>
            <a:endParaRPr lang="en-US" sz="1600" dirty="0"/>
          </a:p>
        </p:txBody>
      </p:sp>
      <p:sp>
        <p:nvSpPr>
          <p:cNvPr id="4" name="Text 2"/>
          <p:cNvSpPr/>
          <p:nvPr/>
        </p:nvSpPr>
        <p:spPr>
          <a:xfrm>
            <a:off x="647700" y="914400"/>
            <a:ext cx="11391900" cy="571500"/>
          </a:xfrm>
          <a:prstGeom prst="rect">
            <a:avLst/>
          </a:prstGeom>
          <a:noFill/>
          <a:ln/>
        </p:spPr>
        <p:txBody>
          <a:bodyPr wrap="square" lIns="0" tIns="0" rIns="0" bIns="0" rtlCol="0" anchor="ctr"/>
          <a:lstStyle/>
          <a:p>
            <a:pPr>
              <a:lnSpc>
                <a:spcPct val="100000"/>
              </a:lnSpc>
            </a:pPr>
            <a:r>
              <a:rPr lang="en-US" sz="3600" b="1" dirty="0">
                <a:solidFill>
                  <a:srgbClr val="E0E2E5"/>
                </a:solidFill>
                <a:latin typeface="Hedvig Letters Sans" pitchFamily="34" charset="0"/>
                <a:ea typeface="Hedvig Letters Sans" pitchFamily="34" charset="-122"/>
                <a:cs typeface="Hedvig Letters Sans" pitchFamily="34" charset="-120"/>
              </a:rPr>
              <a:t>Tools and Techniques</a:t>
            </a:r>
            <a:endParaRPr lang="en-US" sz="1600" dirty="0"/>
          </a:p>
        </p:txBody>
      </p:sp>
      <p:sp>
        <p:nvSpPr>
          <p:cNvPr id="5" name="Text 3"/>
          <p:cNvSpPr/>
          <p:nvPr/>
        </p:nvSpPr>
        <p:spPr>
          <a:xfrm>
            <a:off x="381000" y="1638300"/>
            <a:ext cx="11515725" cy="276225"/>
          </a:xfrm>
          <a:prstGeom prst="rect">
            <a:avLst/>
          </a:prstGeom>
          <a:noFill/>
          <a:ln/>
        </p:spPr>
        <p:txBody>
          <a:bodyPr wrap="square" lIns="266700" tIns="0" rIns="0" bIns="0" rtlCol="0" anchor="ctr"/>
          <a:lstStyle/>
          <a:p>
            <a:pPr>
              <a:lnSpc>
                <a:spcPct val="140000"/>
              </a:lnSpc>
            </a:pPr>
            <a:r>
              <a:rPr lang="en-US" sz="1350" dirty="0">
                <a:solidFill>
                  <a:srgbClr val="E0E2E5"/>
                </a:solidFill>
                <a:latin typeface="Quattrocento Sans" pitchFamily="34" charset="0"/>
                <a:ea typeface="Quattrocento Sans" pitchFamily="34" charset="-122"/>
                <a:cs typeface="Quattrocento Sans" pitchFamily="34" charset="-120"/>
              </a:rPr>
              <a:t>If you're worried about visualizing data manually, don't be. There are </a:t>
            </a:r>
            <a:r>
              <a:rPr lang="en-US" sz="1350" b="1" dirty="0">
                <a:solidFill>
                  <a:srgbClr val="4A9D9C"/>
                </a:solidFill>
                <a:latin typeface="Quattrocento Sans" pitchFamily="34" charset="0"/>
                <a:ea typeface="Quattrocento Sans" pitchFamily="34" charset="-122"/>
                <a:cs typeface="Quattrocento Sans" pitchFamily="34" charset="-120"/>
              </a:rPr>
              <a:t>numerous techniques and tools</a:t>
            </a:r>
            <a:r>
              <a:rPr lang="en-US" sz="1350" dirty="0">
                <a:solidFill>
                  <a:srgbClr val="E0E2E5"/>
                </a:solidFill>
                <a:latin typeface="Quattrocento Sans" pitchFamily="34" charset="0"/>
                <a:ea typeface="Quattrocento Sans" pitchFamily="34" charset="-122"/>
                <a:cs typeface="Quattrocento Sans" pitchFamily="34" charset="-120"/>
              </a:rPr>
              <a:t> to make data visualization easier.</a:t>
            </a:r>
            <a:endParaRPr lang="en-US" sz="1600" dirty="0"/>
          </a:p>
        </p:txBody>
      </p:sp>
      <p:sp>
        <p:nvSpPr>
          <p:cNvPr id="6" name="Shape 4"/>
          <p:cNvSpPr/>
          <p:nvPr/>
        </p:nvSpPr>
        <p:spPr>
          <a:xfrm>
            <a:off x="381000" y="2069306"/>
            <a:ext cx="3657600" cy="3571875"/>
          </a:xfrm>
          <a:custGeom>
            <a:avLst/>
            <a:gdLst/>
            <a:ahLst/>
            <a:cxnLst/>
            <a:rect l="l" t="t" r="r" b="b"/>
            <a:pathLst>
              <a:path w="3657600" h="3571875">
                <a:moveTo>
                  <a:pt x="38112" y="0"/>
                </a:moveTo>
                <a:lnTo>
                  <a:pt x="3619488" y="0"/>
                </a:lnTo>
                <a:cubicBezTo>
                  <a:pt x="3640537" y="0"/>
                  <a:pt x="3657600" y="17063"/>
                  <a:pt x="3657600" y="38112"/>
                </a:cubicBezTo>
                <a:lnTo>
                  <a:pt x="3657600" y="3533763"/>
                </a:lnTo>
                <a:cubicBezTo>
                  <a:pt x="3657600" y="3554812"/>
                  <a:pt x="3640537" y="3571875"/>
                  <a:pt x="3619488" y="3571875"/>
                </a:cubicBezTo>
                <a:lnTo>
                  <a:pt x="38112" y="3571875"/>
                </a:lnTo>
                <a:cubicBezTo>
                  <a:pt x="17063" y="3571875"/>
                  <a:pt x="0" y="3554812"/>
                  <a:pt x="0" y="3533763"/>
                </a:cubicBezTo>
                <a:lnTo>
                  <a:pt x="0" y="38112"/>
                </a:lnTo>
                <a:cubicBezTo>
                  <a:pt x="0" y="17077"/>
                  <a:pt x="17077" y="0"/>
                  <a:pt x="38112" y="0"/>
                </a:cubicBezTo>
                <a:close/>
              </a:path>
            </a:pathLst>
          </a:custGeom>
          <a:solidFill>
            <a:srgbClr val="3D4F5F"/>
          </a:solidFill>
          <a:ln/>
        </p:spPr>
        <p:txBody>
          <a:bodyPr/>
          <a:lstStyle/>
          <a:p>
            <a:endParaRPr lang="en-US"/>
          </a:p>
        </p:txBody>
      </p:sp>
      <p:sp>
        <p:nvSpPr>
          <p:cNvPr id="7" name="Shape 5"/>
          <p:cNvSpPr/>
          <p:nvPr/>
        </p:nvSpPr>
        <p:spPr>
          <a:xfrm>
            <a:off x="533400" y="2221706"/>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4A9D9C"/>
          </a:solidFill>
          <a:ln/>
        </p:spPr>
        <p:txBody>
          <a:bodyPr/>
          <a:lstStyle/>
          <a:p>
            <a:endParaRPr lang="en-US"/>
          </a:p>
        </p:txBody>
      </p:sp>
      <p:sp>
        <p:nvSpPr>
          <p:cNvPr id="8" name="Shape 6"/>
          <p:cNvSpPr/>
          <p:nvPr/>
        </p:nvSpPr>
        <p:spPr>
          <a:xfrm>
            <a:off x="700088" y="2374106"/>
            <a:ext cx="200025" cy="228600"/>
          </a:xfrm>
          <a:custGeom>
            <a:avLst/>
            <a:gdLst/>
            <a:ahLst/>
            <a:cxnLst/>
            <a:rect l="l" t="t" r="r" b="b"/>
            <a:pathLst>
              <a:path w="200025" h="228600">
                <a:moveTo>
                  <a:pt x="114300" y="71438"/>
                </a:moveTo>
                <a:lnTo>
                  <a:pt x="114300" y="114300"/>
                </a:lnTo>
                <a:lnTo>
                  <a:pt x="171450" y="114300"/>
                </a:lnTo>
                <a:lnTo>
                  <a:pt x="171450" y="71438"/>
                </a:lnTo>
                <a:lnTo>
                  <a:pt x="114300" y="71438"/>
                </a:lnTo>
                <a:close/>
                <a:moveTo>
                  <a:pt x="85725" y="71438"/>
                </a:moveTo>
                <a:lnTo>
                  <a:pt x="28575" y="71438"/>
                </a:lnTo>
                <a:lnTo>
                  <a:pt x="28575" y="114300"/>
                </a:lnTo>
                <a:lnTo>
                  <a:pt x="85725" y="114300"/>
                </a:lnTo>
                <a:lnTo>
                  <a:pt x="85725" y="71438"/>
                </a:lnTo>
                <a:close/>
                <a:moveTo>
                  <a:pt x="0" y="142875"/>
                </a:moveTo>
                <a:lnTo>
                  <a:pt x="0" y="42863"/>
                </a:lnTo>
                <a:cubicBezTo>
                  <a:pt x="0" y="27102"/>
                  <a:pt x="12814" y="14288"/>
                  <a:pt x="28575" y="14288"/>
                </a:cubicBezTo>
                <a:lnTo>
                  <a:pt x="171450" y="14288"/>
                </a:lnTo>
                <a:cubicBezTo>
                  <a:pt x="187211" y="14288"/>
                  <a:pt x="200025" y="27102"/>
                  <a:pt x="200025" y="42863"/>
                </a:cubicBezTo>
                <a:lnTo>
                  <a:pt x="200025" y="185738"/>
                </a:lnTo>
                <a:cubicBezTo>
                  <a:pt x="200025" y="201498"/>
                  <a:pt x="187211" y="214313"/>
                  <a:pt x="171450" y="214313"/>
                </a:cubicBezTo>
                <a:lnTo>
                  <a:pt x="28575" y="214313"/>
                </a:lnTo>
                <a:cubicBezTo>
                  <a:pt x="12814" y="214313"/>
                  <a:pt x="0" y="201498"/>
                  <a:pt x="0" y="185738"/>
                </a:cubicBezTo>
                <a:lnTo>
                  <a:pt x="0" y="142875"/>
                </a:lnTo>
                <a:close/>
                <a:moveTo>
                  <a:pt x="171450" y="142875"/>
                </a:moveTo>
                <a:lnTo>
                  <a:pt x="114300" y="142875"/>
                </a:lnTo>
                <a:lnTo>
                  <a:pt x="114300" y="185738"/>
                </a:lnTo>
                <a:lnTo>
                  <a:pt x="171450" y="185738"/>
                </a:lnTo>
                <a:lnTo>
                  <a:pt x="171450" y="142875"/>
                </a:lnTo>
                <a:close/>
                <a:moveTo>
                  <a:pt x="85725" y="185738"/>
                </a:moveTo>
                <a:lnTo>
                  <a:pt x="85725" y="142875"/>
                </a:lnTo>
                <a:lnTo>
                  <a:pt x="28575" y="142875"/>
                </a:lnTo>
                <a:lnTo>
                  <a:pt x="28575" y="185738"/>
                </a:lnTo>
                <a:lnTo>
                  <a:pt x="85725" y="185738"/>
                </a:lnTo>
                <a:close/>
              </a:path>
            </a:pathLst>
          </a:custGeom>
          <a:solidFill>
            <a:srgbClr val="1A1D21"/>
          </a:solidFill>
          <a:ln/>
        </p:spPr>
        <p:txBody>
          <a:bodyPr/>
          <a:lstStyle/>
          <a:p>
            <a:endParaRPr lang="en-US"/>
          </a:p>
        </p:txBody>
      </p:sp>
      <p:sp>
        <p:nvSpPr>
          <p:cNvPr id="9" name="Text 7"/>
          <p:cNvSpPr/>
          <p:nvPr/>
        </p:nvSpPr>
        <p:spPr>
          <a:xfrm>
            <a:off x="1181100" y="2336006"/>
            <a:ext cx="2000250"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Spreadsheet Tools</a:t>
            </a:r>
            <a:endParaRPr lang="en-US" sz="1600" dirty="0"/>
          </a:p>
        </p:txBody>
      </p:sp>
      <p:sp>
        <p:nvSpPr>
          <p:cNvPr id="10" name="Text 8"/>
          <p:cNvSpPr/>
          <p:nvPr/>
        </p:nvSpPr>
        <p:spPr>
          <a:xfrm>
            <a:off x="533400" y="2869406"/>
            <a:ext cx="3429000" cy="17430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Import prepared data into </a:t>
            </a:r>
            <a:r>
              <a:rPr lang="en-US" sz="1200" b="1" dirty="0">
                <a:solidFill>
                  <a:srgbClr val="4A9D9C"/>
                </a:solidFill>
                <a:latin typeface="Quattrocento Sans" pitchFamily="34" charset="0"/>
                <a:ea typeface="Quattrocento Sans" pitchFamily="34" charset="-122"/>
                <a:cs typeface="Quattrocento Sans" pitchFamily="34" charset="-120"/>
              </a:rPr>
              <a:t>Google Sheets or Microsoft Excel</a:t>
            </a:r>
            <a:r>
              <a:rPr lang="en-US" sz="1200" dirty="0">
                <a:solidFill>
                  <a:srgbClr val="E0E2E5"/>
                </a:solidFill>
                <a:latin typeface="Quattrocento Sans" pitchFamily="34" charset="0"/>
                <a:ea typeface="Quattrocento Sans" pitchFamily="34" charset="-122"/>
                <a:cs typeface="Quattrocento Sans" pitchFamily="34" charset="-120"/>
              </a:rPr>
              <a:t> and use built-in functions to create charts or graphs. Excel even offers templates to simplify this process.</a:t>
            </a:r>
            <a:endParaRPr lang="en-US" sz="1600" dirty="0"/>
          </a:p>
        </p:txBody>
      </p:sp>
      <p:sp>
        <p:nvSpPr>
          <p:cNvPr id="11" name="Shape 9"/>
          <p:cNvSpPr/>
          <p:nvPr/>
        </p:nvSpPr>
        <p:spPr>
          <a:xfrm>
            <a:off x="560784" y="47720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12" name="Text 10"/>
          <p:cNvSpPr/>
          <p:nvPr/>
        </p:nvSpPr>
        <p:spPr>
          <a:xfrm>
            <a:off x="776288" y="4724400"/>
            <a:ext cx="15049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Built-in chart creation</a:t>
            </a:r>
            <a:endParaRPr lang="en-US" sz="1600" dirty="0"/>
          </a:p>
        </p:txBody>
      </p:sp>
      <p:sp>
        <p:nvSpPr>
          <p:cNvPr id="13" name="Shape 11"/>
          <p:cNvSpPr/>
          <p:nvPr/>
        </p:nvSpPr>
        <p:spPr>
          <a:xfrm>
            <a:off x="560784" y="5038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14" name="Text 12"/>
          <p:cNvSpPr/>
          <p:nvPr/>
        </p:nvSpPr>
        <p:spPr>
          <a:xfrm>
            <a:off x="776288" y="4991100"/>
            <a:ext cx="17335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Excel templates available</a:t>
            </a:r>
            <a:endParaRPr lang="en-US" sz="1600" dirty="0"/>
          </a:p>
        </p:txBody>
      </p:sp>
      <p:sp>
        <p:nvSpPr>
          <p:cNvPr id="15" name="Shape 13"/>
          <p:cNvSpPr/>
          <p:nvPr/>
        </p:nvSpPr>
        <p:spPr>
          <a:xfrm>
            <a:off x="560784" y="53054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16" name="Text 14"/>
          <p:cNvSpPr/>
          <p:nvPr/>
        </p:nvSpPr>
        <p:spPr>
          <a:xfrm>
            <a:off x="776288" y="5257800"/>
            <a:ext cx="125730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Quick data import</a:t>
            </a:r>
            <a:endParaRPr lang="en-US" sz="1600" dirty="0"/>
          </a:p>
        </p:txBody>
      </p:sp>
      <p:sp>
        <p:nvSpPr>
          <p:cNvPr id="17" name="Shape 15"/>
          <p:cNvSpPr/>
          <p:nvPr/>
        </p:nvSpPr>
        <p:spPr>
          <a:xfrm>
            <a:off x="4267200" y="2069306"/>
            <a:ext cx="3657600" cy="3571875"/>
          </a:xfrm>
          <a:custGeom>
            <a:avLst/>
            <a:gdLst/>
            <a:ahLst/>
            <a:cxnLst/>
            <a:rect l="l" t="t" r="r" b="b"/>
            <a:pathLst>
              <a:path w="3657600" h="3571875">
                <a:moveTo>
                  <a:pt x="38112" y="0"/>
                </a:moveTo>
                <a:lnTo>
                  <a:pt x="3619488" y="0"/>
                </a:lnTo>
                <a:cubicBezTo>
                  <a:pt x="3640537" y="0"/>
                  <a:pt x="3657600" y="17063"/>
                  <a:pt x="3657600" y="38112"/>
                </a:cubicBezTo>
                <a:lnTo>
                  <a:pt x="3657600" y="3533763"/>
                </a:lnTo>
                <a:cubicBezTo>
                  <a:pt x="3657600" y="3554812"/>
                  <a:pt x="3640537" y="3571875"/>
                  <a:pt x="3619488" y="3571875"/>
                </a:cubicBezTo>
                <a:lnTo>
                  <a:pt x="38112" y="3571875"/>
                </a:lnTo>
                <a:cubicBezTo>
                  <a:pt x="17063" y="3571875"/>
                  <a:pt x="0" y="3554812"/>
                  <a:pt x="0" y="3533763"/>
                </a:cubicBezTo>
                <a:lnTo>
                  <a:pt x="0" y="38112"/>
                </a:lnTo>
                <a:cubicBezTo>
                  <a:pt x="0" y="17077"/>
                  <a:pt x="17077" y="0"/>
                  <a:pt x="38112" y="0"/>
                </a:cubicBezTo>
                <a:close/>
              </a:path>
            </a:pathLst>
          </a:custGeom>
          <a:solidFill>
            <a:srgbClr val="3D4F5F"/>
          </a:solidFill>
          <a:ln/>
        </p:spPr>
        <p:txBody>
          <a:bodyPr/>
          <a:lstStyle/>
          <a:p>
            <a:endParaRPr lang="en-US"/>
          </a:p>
        </p:txBody>
      </p:sp>
      <p:sp>
        <p:nvSpPr>
          <p:cNvPr id="18" name="Shape 16"/>
          <p:cNvSpPr/>
          <p:nvPr/>
        </p:nvSpPr>
        <p:spPr>
          <a:xfrm>
            <a:off x="4419600" y="2221706"/>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4A9D9C"/>
          </a:solidFill>
          <a:ln/>
        </p:spPr>
        <p:txBody>
          <a:bodyPr/>
          <a:lstStyle/>
          <a:p>
            <a:endParaRPr lang="en-US"/>
          </a:p>
        </p:txBody>
      </p:sp>
      <p:sp>
        <p:nvSpPr>
          <p:cNvPr id="19" name="Shape 17"/>
          <p:cNvSpPr/>
          <p:nvPr/>
        </p:nvSpPr>
        <p:spPr>
          <a:xfrm>
            <a:off x="4572000" y="2374106"/>
            <a:ext cx="228600" cy="228600"/>
          </a:xfrm>
          <a:custGeom>
            <a:avLst/>
            <a:gdLst/>
            <a:ahLst/>
            <a:cxnLst/>
            <a:rect l="l" t="t" r="r" b="b"/>
            <a:pathLst>
              <a:path w="228600" h="228600">
                <a:moveTo>
                  <a:pt x="228600" y="114300"/>
                </a:moveTo>
                <a:cubicBezTo>
                  <a:pt x="228600" y="114702"/>
                  <a:pt x="228600" y="115104"/>
                  <a:pt x="228600" y="115506"/>
                </a:cubicBezTo>
                <a:cubicBezTo>
                  <a:pt x="228421" y="131802"/>
                  <a:pt x="213598" y="142875"/>
                  <a:pt x="197301" y="142875"/>
                </a:cubicBezTo>
                <a:lnTo>
                  <a:pt x="153591" y="142875"/>
                </a:lnTo>
                <a:cubicBezTo>
                  <a:pt x="141759" y="142875"/>
                  <a:pt x="132159" y="152474"/>
                  <a:pt x="132159" y="164306"/>
                </a:cubicBezTo>
                <a:cubicBezTo>
                  <a:pt x="132159" y="165824"/>
                  <a:pt x="132338" y="167298"/>
                  <a:pt x="132606" y="168726"/>
                </a:cubicBezTo>
                <a:cubicBezTo>
                  <a:pt x="133543" y="173281"/>
                  <a:pt x="135508" y="177656"/>
                  <a:pt x="137428" y="182076"/>
                </a:cubicBezTo>
                <a:cubicBezTo>
                  <a:pt x="140151" y="188238"/>
                  <a:pt x="142830" y="194355"/>
                  <a:pt x="142830" y="200829"/>
                </a:cubicBezTo>
                <a:cubicBezTo>
                  <a:pt x="142830" y="215027"/>
                  <a:pt x="133186" y="227930"/>
                  <a:pt x="118988" y="228511"/>
                </a:cubicBezTo>
                <a:cubicBezTo>
                  <a:pt x="117425" y="228555"/>
                  <a:pt x="115863" y="228600"/>
                  <a:pt x="114255" y="228600"/>
                </a:cubicBezTo>
                <a:cubicBezTo>
                  <a:pt x="51122" y="228600"/>
                  <a:pt x="-45" y="177433"/>
                  <a:pt x="-45" y="114300"/>
                </a:cubicBezTo>
                <a:cubicBezTo>
                  <a:pt x="-45" y="51167"/>
                  <a:pt x="51167" y="0"/>
                  <a:pt x="114300" y="0"/>
                </a:cubicBezTo>
                <a:cubicBezTo>
                  <a:pt x="177433" y="0"/>
                  <a:pt x="228600" y="51167"/>
                  <a:pt x="228600" y="114300"/>
                </a:cubicBezTo>
                <a:close/>
                <a:moveTo>
                  <a:pt x="57150" y="128588"/>
                </a:moveTo>
                <a:cubicBezTo>
                  <a:pt x="57150" y="120702"/>
                  <a:pt x="50748" y="114300"/>
                  <a:pt x="42863" y="114300"/>
                </a:cubicBezTo>
                <a:cubicBezTo>
                  <a:pt x="34977" y="114300"/>
                  <a:pt x="28575" y="120702"/>
                  <a:pt x="28575" y="128588"/>
                </a:cubicBezTo>
                <a:cubicBezTo>
                  <a:pt x="28575" y="136473"/>
                  <a:pt x="34977" y="142875"/>
                  <a:pt x="42863" y="142875"/>
                </a:cubicBezTo>
                <a:cubicBezTo>
                  <a:pt x="50748" y="142875"/>
                  <a:pt x="57150" y="136473"/>
                  <a:pt x="57150" y="128588"/>
                </a:cubicBezTo>
                <a:close/>
                <a:moveTo>
                  <a:pt x="57150" y="85725"/>
                </a:moveTo>
                <a:cubicBezTo>
                  <a:pt x="65035" y="85725"/>
                  <a:pt x="71438" y="79323"/>
                  <a:pt x="71438" y="71438"/>
                </a:cubicBezTo>
                <a:cubicBezTo>
                  <a:pt x="71438" y="63552"/>
                  <a:pt x="65035" y="57150"/>
                  <a:pt x="57150" y="57150"/>
                </a:cubicBezTo>
                <a:cubicBezTo>
                  <a:pt x="49265" y="57150"/>
                  <a:pt x="42863" y="63552"/>
                  <a:pt x="42863" y="71438"/>
                </a:cubicBezTo>
                <a:cubicBezTo>
                  <a:pt x="42863" y="79323"/>
                  <a:pt x="49265" y="85725"/>
                  <a:pt x="57150" y="85725"/>
                </a:cubicBezTo>
                <a:close/>
                <a:moveTo>
                  <a:pt x="128588" y="42863"/>
                </a:moveTo>
                <a:cubicBezTo>
                  <a:pt x="128588" y="34977"/>
                  <a:pt x="122185" y="28575"/>
                  <a:pt x="114300" y="28575"/>
                </a:cubicBezTo>
                <a:cubicBezTo>
                  <a:pt x="106415" y="28575"/>
                  <a:pt x="100013" y="34977"/>
                  <a:pt x="100013" y="42863"/>
                </a:cubicBezTo>
                <a:cubicBezTo>
                  <a:pt x="100013" y="50748"/>
                  <a:pt x="106415" y="57150"/>
                  <a:pt x="114300" y="57150"/>
                </a:cubicBezTo>
                <a:cubicBezTo>
                  <a:pt x="122185" y="57150"/>
                  <a:pt x="128588" y="50748"/>
                  <a:pt x="128588" y="42863"/>
                </a:cubicBezTo>
                <a:close/>
                <a:moveTo>
                  <a:pt x="171450" y="85725"/>
                </a:moveTo>
                <a:cubicBezTo>
                  <a:pt x="179335" y="85725"/>
                  <a:pt x="185738" y="79323"/>
                  <a:pt x="185738" y="71438"/>
                </a:cubicBezTo>
                <a:cubicBezTo>
                  <a:pt x="185738" y="63552"/>
                  <a:pt x="179335" y="57150"/>
                  <a:pt x="171450" y="57150"/>
                </a:cubicBezTo>
                <a:cubicBezTo>
                  <a:pt x="163565" y="57150"/>
                  <a:pt x="157163" y="63552"/>
                  <a:pt x="157163" y="71438"/>
                </a:cubicBezTo>
                <a:cubicBezTo>
                  <a:pt x="157163" y="79323"/>
                  <a:pt x="163565" y="85725"/>
                  <a:pt x="171450" y="85725"/>
                </a:cubicBezTo>
                <a:close/>
              </a:path>
            </a:pathLst>
          </a:custGeom>
          <a:solidFill>
            <a:srgbClr val="1A1D21"/>
          </a:solidFill>
          <a:ln/>
        </p:spPr>
        <p:txBody>
          <a:bodyPr/>
          <a:lstStyle/>
          <a:p>
            <a:endParaRPr lang="en-US"/>
          </a:p>
        </p:txBody>
      </p:sp>
      <p:sp>
        <p:nvSpPr>
          <p:cNvPr id="20" name="Text 18"/>
          <p:cNvSpPr/>
          <p:nvPr/>
        </p:nvSpPr>
        <p:spPr>
          <a:xfrm>
            <a:off x="5067300" y="2336006"/>
            <a:ext cx="1419225"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Design Tools</a:t>
            </a:r>
            <a:endParaRPr lang="en-US" sz="1600" dirty="0"/>
          </a:p>
        </p:txBody>
      </p:sp>
      <p:sp>
        <p:nvSpPr>
          <p:cNvPr id="21" name="Text 19"/>
          <p:cNvSpPr/>
          <p:nvPr/>
        </p:nvSpPr>
        <p:spPr>
          <a:xfrm>
            <a:off x="4419600" y="2869406"/>
            <a:ext cx="3429000" cy="17430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Programs like </a:t>
            </a:r>
            <a:r>
              <a:rPr lang="en-US" sz="1200" b="1" dirty="0">
                <a:solidFill>
                  <a:srgbClr val="4A9D9C"/>
                </a:solidFill>
                <a:latin typeface="Quattrocento Sans" pitchFamily="34" charset="0"/>
                <a:ea typeface="Quattrocento Sans" pitchFamily="34" charset="-122"/>
                <a:cs typeface="Quattrocento Sans" pitchFamily="34" charset="-120"/>
              </a:rPr>
              <a:t>Canva</a:t>
            </a:r>
            <a:r>
              <a:rPr lang="en-US" sz="1200" dirty="0">
                <a:solidFill>
                  <a:srgbClr val="E0E2E5"/>
                </a:solidFill>
                <a:latin typeface="Quattrocento Sans" pitchFamily="34" charset="0"/>
                <a:ea typeface="Quattrocento Sans" pitchFamily="34" charset="-122"/>
                <a:cs typeface="Quattrocento Sans" pitchFamily="34" charset="-120"/>
              </a:rPr>
              <a:t> allow you to create customizable charts and graphs. You can not only visualize your data but also brand the visuals in your company's colors.</a:t>
            </a:r>
            <a:endParaRPr lang="en-US" sz="1600" dirty="0"/>
          </a:p>
        </p:txBody>
      </p:sp>
      <p:sp>
        <p:nvSpPr>
          <p:cNvPr id="22" name="Shape 20"/>
          <p:cNvSpPr/>
          <p:nvPr/>
        </p:nvSpPr>
        <p:spPr>
          <a:xfrm>
            <a:off x="4446984" y="47720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23" name="Text 21"/>
          <p:cNvSpPr/>
          <p:nvPr/>
        </p:nvSpPr>
        <p:spPr>
          <a:xfrm>
            <a:off x="4662488" y="4724400"/>
            <a:ext cx="144780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Customizable visuals</a:t>
            </a:r>
            <a:endParaRPr lang="en-US" sz="1600" dirty="0"/>
          </a:p>
        </p:txBody>
      </p:sp>
      <p:sp>
        <p:nvSpPr>
          <p:cNvPr id="24" name="Shape 22"/>
          <p:cNvSpPr/>
          <p:nvPr/>
        </p:nvSpPr>
        <p:spPr>
          <a:xfrm>
            <a:off x="4446984" y="5038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25" name="Text 23"/>
          <p:cNvSpPr/>
          <p:nvPr/>
        </p:nvSpPr>
        <p:spPr>
          <a:xfrm>
            <a:off x="4662488" y="4991100"/>
            <a:ext cx="120015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Brand integration</a:t>
            </a:r>
            <a:endParaRPr lang="en-US" sz="1600" dirty="0"/>
          </a:p>
        </p:txBody>
      </p:sp>
      <p:sp>
        <p:nvSpPr>
          <p:cNvPr id="26" name="Shape 24"/>
          <p:cNvSpPr/>
          <p:nvPr/>
        </p:nvSpPr>
        <p:spPr>
          <a:xfrm>
            <a:off x="4446984" y="53054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27" name="Text 25"/>
          <p:cNvSpPr/>
          <p:nvPr/>
        </p:nvSpPr>
        <p:spPr>
          <a:xfrm>
            <a:off x="4662488" y="5257800"/>
            <a:ext cx="1562100"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User-friendly interface</a:t>
            </a:r>
            <a:endParaRPr lang="en-US" sz="1600" dirty="0"/>
          </a:p>
        </p:txBody>
      </p:sp>
      <p:sp>
        <p:nvSpPr>
          <p:cNvPr id="28" name="Shape 26"/>
          <p:cNvSpPr/>
          <p:nvPr/>
        </p:nvSpPr>
        <p:spPr>
          <a:xfrm>
            <a:off x="8153400" y="2069306"/>
            <a:ext cx="3657600" cy="3571875"/>
          </a:xfrm>
          <a:custGeom>
            <a:avLst/>
            <a:gdLst/>
            <a:ahLst/>
            <a:cxnLst/>
            <a:rect l="l" t="t" r="r" b="b"/>
            <a:pathLst>
              <a:path w="3657600" h="3571875">
                <a:moveTo>
                  <a:pt x="38112" y="0"/>
                </a:moveTo>
                <a:lnTo>
                  <a:pt x="3619488" y="0"/>
                </a:lnTo>
                <a:cubicBezTo>
                  <a:pt x="3640537" y="0"/>
                  <a:pt x="3657600" y="17063"/>
                  <a:pt x="3657600" y="38112"/>
                </a:cubicBezTo>
                <a:lnTo>
                  <a:pt x="3657600" y="3533763"/>
                </a:lnTo>
                <a:cubicBezTo>
                  <a:pt x="3657600" y="3554812"/>
                  <a:pt x="3640537" y="3571875"/>
                  <a:pt x="3619488" y="3571875"/>
                </a:cubicBezTo>
                <a:lnTo>
                  <a:pt x="38112" y="3571875"/>
                </a:lnTo>
                <a:cubicBezTo>
                  <a:pt x="17063" y="3571875"/>
                  <a:pt x="0" y="3554812"/>
                  <a:pt x="0" y="3533763"/>
                </a:cubicBezTo>
                <a:lnTo>
                  <a:pt x="0" y="38112"/>
                </a:lnTo>
                <a:cubicBezTo>
                  <a:pt x="0" y="17077"/>
                  <a:pt x="17077" y="0"/>
                  <a:pt x="38112" y="0"/>
                </a:cubicBezTo>
                <a:close/>
              </a:path>
            </a:pathLst>
          </a:custGeom>
          <a:solidFill>
            <a:srgbClr val="3D4F5F"/>
          </a:solidFill>
          <a:ln/>
        </p:spPr>
        <p:txBody>
          <a:bodyPr/>
          <a:lstStyle/>
          <a:p>
            <a:endParaRPr lang="en-US"/>
          </a:p>
        </p:txBody>
      </p:sp>
      <p:sp>
        <p:nvSpPr>
          <p:cNvPr id="29" name="Shape 27"/>
          <p:cNvSpPr/>
          <p:nvPr/>
        </p:nvSpPr>
        <p:spPr>
          <a:xfrm>
            <a:off x="8305800" y="2221706"/>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4A9D9C"/>
          </a:solidFill>
          <a:ln/>
        </p:spPr>
        <p:txBody>
          <a:bodyPr/>
          <a:lstStyle/>
          <a:p>
            <a:endParaRPr lang="en-US"/>
          </a:p>
        </p:txBody>
      </p:sp>
      <p:sp>
        <p:nvSpPr>
          <p:cNvPr id="30" name="Shape 28"/>
          <p:cNvSpPr/>
          <p:nvPr/>
        </p:nvSpPr>
        <p:spPr>
          <a:xfrm>
            <a:off x="8458200" y="2374106"/>
            <a:ext cx="228600" cy="228600"/>
          </a:xfrm>
          <a:custGeom>
            <a:avLst/>
            <a:gdLst/>
            <a:ahLst/>
            <a:cxnLst/>
            <a:rect l="l" t="t" r="r" b="b"/>
            <a:pathLst>
              <a:path w="228600" h="228600">
                <a:moveTo>
                  <a:pt x="14288" y="14288"/>
                </a:moveTo>
                <a:cubicBezTo>
                  <a:pt x="22190" y="14288"/>
                  <a:pt x="28575" y="20672"/>
                  <a:pt x="28575" y="28575"/>
                </a:cubicBezTo>
                <a:lnTo>
                  <a:pt x="28575" y="178594"/>
                </a:lnTo>
                <a:cubicBezTo>
                  <a:pt x="28575" y="182523"/>
                  <a:pt x="31790" y="185738"/>
                  <a:pt x="35719" y="185738"/>
                </a:cubicBezTo>
                <a:lnTo>
                  <a:pt x="214313" y="185738"/>
                </a:lnTo>
                <a:cubicBezTo>
                  <a:pt x="222215" y="185738"/>
                  <a:pt x="228600" y="192122"/>
                  <a:pt x="228600" y="200025"/>
                </a:cubicBezTo>
                <a:cubicBezTo>
                  <a:pt x="228600" y="207928"/>
                  <a:pt x="222215" y="214313"/>
                  <a:pt x="214313" y="214313"/>
                </a:cubicBezTo>
                <a:lnTo>
                  <a:pt x="35719" y="214313"/>
                </a:lnTo>
                <a:cubicBezTo>
                  <a:pt x="15984" y="214313"/>
                  <a:pt x="0" y="198328"/>
                  <a:pt x="0" y="178594"/>
                </a:cubicBezTo>
                <a:lnTo>
                  <a:pt x="0" y="28575"/>
                </a:lnTo>
                <a:cubicBezTo>
                  <a:pt x="0" y="20672"/>
                  <a:pt x="6385" y="14288"/>
                  <a:pt x="14288" y="14288"/>
                </a:cubicBezTo>
                <a:close/>
                <a:moveTo>
                  <a:pt x="107156" y="42863"/>
                </a:moveTo>
                <a:cubicBezTo>
                  <a:pt x="110148" y="42863"/>
                  <a:pt x="113005" y="44113"/>
                  <a:pt x="115059" y="46345"/>
                </a:cubicBezTo>
                <a:lnTo>
                  <a:pt x="146804" y="80948"/>
                </a:lnTo>
                <a:lnTo>
                  <a:pt x="167432" y="60275"/>
                </a:lnTo>
                <a:cubicBezTo>
                  <a:pt x="171629" y="56078"/>
                  <a:pt x="178415" y="56078"/>
                  <a:pt x="182567" y="60275"/>
                </a:cubicBezTo>
                <a:lnTo>
                  <a:pt x="211142" y="88850"/>
                </a:lnTo>
                <a:cubicBezTo>
                  <a:pt x="213152" y="90860"/>
                  <a:pt x="214268" y="93583"/>
                  <a:pt x="214268" y="96441"/>
                </a:cubicBezTo>
                <a:lnTo>
                  <a:pt x="214268" y="146447"/>
                </a:lnTo>
                <a:cubicBezTo>
                  <a:pt x="214268" y="152385"/>
                  <a:pt x="209490" y="157163"/>
                  <a:pt x="203552" y="157163"/>
                </a:cubicBezTo>
                <a:lnTo>
                  <a:pt x="67821" y="157163"/>
                </a:lnTo>
                <a:cubicBezTo>
                  <a:pt x="61883" y="157163"/>
                  <a:pt x="57105" y="152385"/>
                  <a:pt x="57105" y="146447"/>
                </a:cubicBezTo>
                <a:lnTo>
                  <a:pt x="57105" y="96441"/>
                </a:lnTo>
                <a:cubicBezTo>
                  <a:pt x="57105" y="93762"/>
                  <a:pt x="58132" y="91172"/>
                  <a:pt x="59918" y="89208"/>
                </a:cubicBezTo>
                <a:lnTo>
                  <a:pt x="99209" y="46345"/>
                </a:lnTo>
                <a:cubicBezTo>
                  <a:pt x="101218" y="44113"/>
                  <a:pt x="104120" y="42863"/>
                  <a:pt x="107112" y="42863"/>
                </a:cubicBezTo>
                <a:close/>
              </a:path>
            </a:pathLst>
          </a:custGeom>
          <a:solidFill>
            <a:srgbClr val="1A1D21"/>
          </a:solidFill>
          <a:ln/>
        </p:spPr>
        <p:txBody>
          <a:bodyPr/>
          <a:lstStyle/>
          <a:p>
            <a:endParaRPr lang="en-US"/>
          </a:p>
        </p:txBody>
      </p:sp>
      <p:sp>
        <p:nvSpPr>
          <p:cNvPr id="31" name="Text 29"/>
          <p:cNvSpPr/>
          <p:nvPr/>
        </p:nvSpPr>
        <p:spPr>
          <a:xfrm>
            <a:off x="8953500" y="2336006"/>
            <a:ext cx="1876425" cy="304800"/>
          </a:xfrm>
          <a:prstGeom prst="rect">
            <a:avLst/>
          </a:prstGeom>
          <a:noFill/>
          <a:ln/>
        </p:spPr>
        <p:txBody>
          <a:bodyPr wrap="square" lIns="0" tIns="0" rIns="0" bIns="0" rtlCol="0" anchor="ctr"/>
          <a:lstStyle/>
          <a:p>
            <a:pPr>
              <a:lnSpc>
                <a:spcPct val="110000"/>
              </a:lnSpc>
            </a:pPr>
            <a:r>
              <a:rPr lang="en-US" sz="1800" b="1" dirty="0">
                <a:solidFill>
                  <a:srgbClr val="4A9D9C"/>
                </a:solidFill>
                <a:latin typeface="Liter" pitchFamily="34" charset="0"/>
                <a:ea typeface="Liter" pitchFamily="34" charset="-122"/>
                <a:cs typeface="Liter" pitchFamily="34" charset="-120"/>
              </a:rPr>
              <a:t>Specialized Tools</a:t>
            </a:r>
            <a:endParaRPr lang="en-US" sz="1600" dirty="0"/>
          </a:p>
        </p:txBody>
      </p:sp>
      <p:sp>
        <p:nvSpPr>
          <p:cNvPr id="32" name="Text 30"/>
          <p:cNvSpPr/>
          <p:nvPr/>
        </p:nvSpPr>
        <p:spPr>
          <a:xfrm>
            <a:off x="8305800" y="2869406"/>
            <a:ext cx="3429000" cy="1743075"/>
          </a:xfrm>
          <a:prstGeom prst="rect">
            <a:avLst/>
          </a:prstGeom>
          <a:noFill/>
          <a:ln/>
        </p:spPr>
        <p:txBody>
          <a:bodyPr wrap="square" lIns="0" tIns="0" rIns="0" bIns="0" rtlCol="0" anchor="ctr"/>
          <a:lstStyle/>
          <a:p>
            <a:pPr>
              <a:lnSpc>
                <a:spcPct val="140000"/>
              </a:lnSpc>
            </a:pPr>
            <a:r>
              <a:rPr lang="en-US" sz="1200" dirty="0">
                <a:solidFill>
                  <a:srgbClr val="E0E2E5"/>
                </a:solidFill>
                <a:latin typeface="Quattrocento Sans" pitchFamily="34" charset="0"/>
                <a:ea typeface="Quattrocento Sans" pitchFamily="34" charset="-122"/>
                <a:cs typeface="Quattrocento Sans" pitchFamily="34" charset="-120"/>
              </a:rPr>
              <a:t>For advanced visualization needs, such as </a:t>
            </a:r>
            <a:r>
              <a:rPr lang="en-US" sz="1200" b="1" dirty="0">
                <a:solidFill>
                  <a:srgbClr val="4A9D9C"/>
                </a:solidFill>
                <a:latin typeface="Quattrocento Sans" pitchFamily="34" charset="0"/>
                <a:ea typeface="Quattrocento Sans" pitchFamily="34" charset="-122"/>
                <a:cs typeface="Quattrocento Sans" pitchFamily="34" charset="-120"/>
              </a:rPr>
              <a:t>heat maps</a:t>
            </a:r>
            <a:r>
              <a:rPr lang="en-US" sz="1200" dirty="0">
                <a:solidFill>
                  <a:srgbClr val="E0E2E5"/>
                </a:solidFill>
                <a:latin typeface="Quattrocento Sans" pitchFamily="34" charset="0"/>
                <a:ea typeface="Quattrocento Sans" pitchFamily="34" charset="-122"/>
                <a:cs typeface="Quattrocento Sans" pitchFamily="34" charset="-120"/>
              </a:rPr>
              <a:t>, these tools allow you to input your data and automatically generate results. Ideal for visually intensive data presentations.</a:t>
            </a:r>
            <a:endParaRPr lang="en-US" sz="1600" dirty="0"/>
          </a:p>
        </p:txBody>
      </p:sp>
      <p:sp>
        <p:nvSpPr>
          <p:cNvPr id="33" name="Shape 31"/>
          <p:cNvSpPr/>
          <p:nvPr/>
        </p:nvSpPr>
        <p:spPr>
          <a:xfrm>
            <a:off x="8333184" y="47720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34" name="Text 32"/>
          <p:cNvSpPr/>
          <p:nvPr/>
        </p:nvSpPr>
        <p:spPr>
          <a:xfrm>
            <a:off x="8548688" y="4724400"/>
            <a:ext cx="1647825"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Advanced visualizations</a:t>
            </a:r>
            <a:endParaRPr lang="en-US" sz="1600" dirty="0"/>
          </a:p>
        </p:txBody>
      </p:sp>
      <p:sp>
        <p:nvSpPr>
          <p:cNvPr id="35" name="Shape 33"/>
          <p:cNvSpPr/>
          <p:nvPr/>
        </p:nvSpPr>
        <p:spPr>
          <a:xfrm>
            <a:off x="8333184" y="5038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36" name="Text 34"/>
          <p:cNvSpPr/>
          <p:nvPr/>
        </p:nvSpPr>
        <p:spPr>
          <a:xfrm>
            <a:off x="8548688" y="4991100"/>
            <a:ext cx="1495425"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Automatic generation</a:t>
            </a:r>
            <a:endParaRPr lang="en-US" sz="1600" dirty="0"/>
          </a:p>
        </p:txBody>
      </p:sp>
      <p:sp>
        <p:nvSpPr>
          <p:cNvPr id="37" name="Shape 35"/>
          <p:cNvSpPr/>
          <p:nvPr/>
        </p:nvSpPr>
        <p:spPr>
          <a:xfrm>
            <a:off x="8333184" y="53054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4A9D9C"/>
          </a:solidFill>
          <a:ln/>
        </p:spPr>
        <p:txBody>
          <a:bodyPr/>
          <a:lstStyle/>
          <a:p>
            <a:endParaRPr lang="en-US"/>
          </a:p>
        </p:txBody>
      </p:sp>
      <p:sp>
        <p:nvSpPr>
          <p:cNvPr id="38" name="Text 36"/>
          <p:cNvSpPr/>
          <p:nvPr/>
        </p:nvSpPr>
        <p:spPr>
          <a:xfrm>
            <a:off x="8548688" y="5257800"/>
            <a:ext cx="1381125" cy="228600"/>
          </a:xfrm>
          <a:prstGeom prst="rect">
            <a:avLst/>
          </a:prstGeom>
          <a:noFill/>
          <a:ln/>
        </p:spPr>
        <p:txBody>
          <a:bodyPr wrap="square" lIns="0" tIns="0" rIns="0" bIns="0" rtlCol="0" anchor="ctr"/>
          <a:lstStyle/>
          <a:p>
            <a:pPr>
              <a:lnSpc>
                <a:spcPct val="130000"/>
              </a:lnSpc>
            </a:pPr>
            <a:r>
              <a:rPr lang="en-US" sz="1200" dirty="0">
                <a:solidFill>
                  <a:srgbClr val="E0E2E5"/>
                </a:solidFill>
                <a:latin typeface="Quattrocento Sans" pitchFamily="34" charset="0"/>
                <a:ea typeface="Quattrocento Sans" pitchFamily="34" charset="-122"/>
                <a:cs typeface="Quattrocento Sans" pitchFamily="34" charset="-120"/>
              </a:rPr>
              <a:t>Professional reports</a:t>
            </a:r>
            <a:endParaRPr lang="en-US" sz="1600" dirty="0"/>
          </a:p>
        </p:txBody>
      </p:sp>
      <p:sp>
        <p:nvSpPr>
          <p:cNvPr id="39" name="Shape 37"/>
          <p:cNvSpPr/>
          <p:nvPr/>
        </p:nvSpPr>
        <p:spPr>
          <a:xfrm>
            <a:off x="381000" y="5791200"/>
            <a:ext cx="3705225" cy="685800"/>
          </a:xfrm>
          <a:custGeom>
            <a:avLst/>
            <a:gdLst/>
            <a:ahLst/>
            <a:cxnLst/>
            <a:rect l="l" t="t" r="r" b="b"/>
            <a:pathLst>
              <a:path w="3705225" h="685800">
                <a:moveTo>
                  <a:pt x="38103" y="0"/>
                </a:moveTo>
                <a:lnTo>
                  <a:pt x="3667122" y="0"/>
                </a:lnTo>
                <a:cubicBezTo>
                  <a:pt x="3688166" y="0"/>
                  <a:pt x="3705225" y="17059"/>
                  <a:pt x="3705225" y="38103"/>
                </a:cubicBezTo>
                <a:lnTo>
                  <a:pt x="3705225" y="647697"/>
                </a:lnTo>
                <a:cubicBezTo>
                  <a:pt x="3705225" y="668741"/>
                  <a:pt x="3688166" y="685800"/>
                  <a:pt x="3667122" y="685800"/>
                </a:cubicBezTo>
                <a:lnTo>
                  <a:pt x="38103" y="685800"/>
                </a:lnTo>
                <a:cubicBezTo>
                  <a:pt x="17059" y="685800"/>
                  <a:pt x="0" y="668741"/>
                  <a:pt x="0" y="647697"/>
                </a:cubicBezTo>
                <a:lnTo>
                  <a:pt x="0" y="38103"/>
                </a:lnTo>
                <a:cubicBezTo>
                  <a:pt x="0" y="17073"/>
                  <a:pt x="17073" y="0"/>
                  <a:pt x="38103" y="0"/>
                </a:cubicBezTo>
                <a:close/>
              </a:path>
            </a:pathLst>
          </a:custGeom>
          <a:solidFill>
            <a:srgbClr val="4A9D9C">
              <a:alpha val="20000"/>
            </a:srgbClr>
          </a:solidFill>
          <a:ln/>
        </p:spPr>
        <p:txBody>
          <a:bodyPr/>
          <a:lstStyle/>
          <a:p>
            <a:endParaRPr lang="en-US"/>
          </a:p>
        </p:txBody>
      </p:sp>
      <p:sp>
        <p:nvSpPr>
          <p:cNvPr id="40" name="Shape 38"/>
          <p:cNvSpPr/>
          <p:nvPr/>
        </p:nvSpPr>
        <p:spPr>
          <a:xfrm>
            <a:off x="495300" y="603885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4A9D9C"/>
          </a:solidFill>
          <a:ln/>
        </p:spPr>
        <p:txBody>
          <a:bodyPr/>
          <a:lstStyle/>
          <a:p>
            <a:endParaRPr lang="en-US"/>
          </a:p>
        </p:txBody>
      </p:sp>
      <p:sp>
        <p:nvSpPr>
          <p:cNvPr id="41" name="Text 39"/>
          <p:cNvSpPr/>
          <p:nvPr/>
        </p:nvSpPr>
        <p:spPr>
          <a:xfrm>
            <a:off x="797600" y="5905500"/>
            <a:ext cx="3257550" cy="4572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Remember:</a:t>
            </a:r>
            <a:r>
              <a:rPr lang="en-US" sz="1200" dirty="0">
                <a:solidFill>
                  <a:srgbClr val="E0E2E5"/>
                </a:solidFill>
                <a:latin typeface="Quattrocento Sans" pitchFamily="34" charset="0"/>
                <a:ea typeface="Quattrocento Sans" pitchFamily="34" charset="-122"/>
                <a:cs typeface="Quattrocento Sans" pitchFamily="34" charset="-120"/>
              </a:rPr>
              <a:t> Choose the most appropriate visual for your data</a:t>
            </a:r>
            <a:endParaRPr lang="en-US" sz="1600" dirty="0"/>
          </a:p>
        </p:txBody>
      </p:sp>
      <p:sp>
        <p:nvSpPr>
          <p:cNvPr id="42" name="Shape 40"/>
          <p:cNvSpPr/>
          <p:nvPr/>
        </p:nvSpPr>
        <p:spPr>
          <a:xfrm>
            <a:off x="4241721" y="5791200"/>
            <a:ext cx="3705225" cy="685800"/>
          </a:xfrm>
          <a:custGeom>
            <a:avLst/>
            <a:gdLst/>
            <a:ahLst/>
            <a:cxnLst/>
            <a:rect l="l" t="t" r="r" b="b"/>
            <a:pathLst>
              <a:path w="3705225" h="685800">
                <a:moveTo>
                  <a:pt x="38103" y="0"/>
                </a:moveTo>
                <a:lnTo>
                  <a:pt x="3667122" y="0"/>
                </a:lnTo>
                <a:cubicBezTo>
                  <a:pt x="3688166" y="0"/>
                  <a:pt x="3705225" y="17059"/>
                  <a:pt x="3705225" y="38103"/>
                </a:cubicBezTo>
                <a:lnTo>
                  <a:pt x="3705225" y="647697"/>
                </a:lnTo>
                <a:cubicBezTo>
                  <a:pt x="3705225" y="668741"/>
                  <a:pt x="3688166" y="685800"/>
                  <a:pt x="3667122" y="685800"/>
                </a:cubicBezTo>
                <a:lnTo>
                  <a:pt x="38103" y="685800"/>
                </a:lnTo>
                <a:cubicBezTo>
                  <a:pt x="17059" y="685800"/>
                  <a:pt x="0" y="668741"/>
                  <a:pt x="0" y="647697"/>
                </a:cubicBezTo>
                <a:lnTo>
                  <a:pt x="0" y="38103"/>
                </a:lnTo>
                <a:cubicBezTo>
                  <a:pt x="0" y="17073"/>
                  <a:pt x="17073" y="0"/>
                  <a:pt x="38103" y="0"/>
                </a:cubicBezTo>
                <a:close/>
              </a:path>
            </a:pathLst>
          </a:custGeom>
          <a:solidFill>
            <a:srgbClr val="4A9D9C">
              <a:alpha val="20000"/>
            </a:srgbClr>
          </a:solidFill>
          <a:ln/>
        </p:spPr>
        <p:txBody>
          <a:bodyPr/>
          <a:lstStyle/>
          <a:p>
            <a:endParaRPr lang="en-US"/>
          </a:p>
        </p:txBody>
      </p:sp>
      <p:sp>
        <p:nvSpPr>
          <p:cNvPr id="43" name="Shape 41"/>
          <p:cNvSpPr/>
          <p:nvPr/>
        </p:nvSpPr>
        <p:spPr>
          <a:xfrm>
            <a:off x="4356021" y="6038850"/>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4A9D9C"/>
          </a:solidFill>
          <a:ln/>
        </p:spPr>
        <p:txBody>
          <a:bodyPr/>
          <a:lstStyle/>
          <a:p>
            <a:endParaRPr lang="en-US"/>
          </a:p>
        </p:txBody>
      </p:sp>
      <p:sp>
        <p:nvSpPr>
          <p:cNvPr id="44" name="Text 42"/>
          <p:cNvSpPr/>
          <p:nvPr/>
        </p:nvSpPr>
        <p:spPr>
          <a:xfrm>
            <a:off x="4708446" y="6019800"/>
            <a:ext cx="2590800"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Consider:</a:t>
            </a:r>
            <a:r>
              <a:rPr lang="en-US" sz="1200" dirty="0">
                <a:solidFill>
                  <a:srgbClr val="E0E2E5"/>
                </a:solidFill>
                <a:latin typeface="Quattrocento Sans" pitchFamily="34" charset="0"/>
                <a:ea typeface="Quattrocento Sans" pitchFamily="34" charset="-122"/>
                <a:cs typeface="Quattrocento Sans" pitchFamily="34" charset="-120"/>
              </a:rPr>
              <a:t> Your audience's perspective</a:t>
            </a:r>
            <a:endParaRPr lang="en-US" sz="1600" dirty="0"/>
          </a:p>
        </p:txBody>
      </p:sp>
      <p:sp>
        <p:nvSpPr>
          <p:cNvPr id="45" name="Shape 43"/>
          <p:cNvSpPr/>
          <p:nvPr/>
        </p:nvSpPr>
        <p:spPr>
          <a:xfrm>
            <a:off x="8102561" y="5791200"/>
            <a:ext cx="3705225" cy="685800"/>
          </a:xfrm>
          <a:custGeom>
            <a:avLst/>
            <a:gdLst/>
            <a:ahLst/>
            <a:cxnLst/>
            <a:rect l="l" t="t" r="r" b="b"/>
            <a:pathLst>
              <a:path w="3705225" h="685800">
                <a:moveTo>
                  <a:pt x="38103" y="0"/>
                </a:moveTo>
                <a:lnTo>
                  <a:pt x="3667122" y="0"/>
                </a:lnTo>
                <a:cubicBezTo>
                  <a:pt x="3688166" y="0"/>
                  <a:pt x="3705225" y="17059"/>
                  <a:pt x="3705225" y="38103"/>
                </a:cubicBezTo>
                <a:lnTo>
                  <a:pt x="3705225" y="647697"/>
                </a:lnTo>
                <a:cubicBezTo>
                  <a:pt x="3705225" y="668741"/>
                  <a:pt x="3688166" y="685800"/>
                  <a:pt x="3667122" y="685800"/>
                </a:cubicBezTo>
                <a:lnTo>
                  <a:pt x="38103" y="685800"/>
                </a:lnTo>
                <a:cubicBezTo>
                  <a:pt x="17059" y="685800"/>
                  <a:pt x="0" y="668741"/>
                  <a:pt x="0" y="647697"/>
                </a:cubicBezTo>
                <a:lnTo>
                  <a:pt x="0" y="38103"/>
                </a:lnTo>
                <a:cubicBezTo>
                  <a:pt x="0" y="17073"/>
                  <a:pt x="17073" y="0"/>
                  <a:pt x="38103" y="0"/>
                </a:cubicBezTo>
                <a:close/>
              </a:path>
            </a:pathLst>
          </a:custGeom>
          <a:solidFill>
            <a:srgbClr val="4A9D9C">
              <a:alpha val="20000"/>
            </a:srgbClr>
          </a:solidFill>
          <a:ln/>
        </p:spPr>
        <p:txBody>
          <a:bodyPr/>
          <a:lstStyle/>
          <a:p>
            <a:endParaRPr lang="en-US"/>
          </a:p>
        </p:txBody>
      </p:sp>
      <p:sp>
        <p:nvSpPr>
          <p:cNvPr id="46" name="Shape 44"/>
          <p:cNvSpPr/>
          <p:nvPr/>
        </p:nvSpPr>
        <p:spPr>
          <a:xfrm>
            <a:off x="8240673" y="6038850"/>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4A9D9C"/>
          </a:solidFill>
          <a:ln/>
        </p:spPr>
        <p:txBody>
          <a:bodyPr/>
          <a:lstStyle/>
          <a:p>
            <a:endParaRPr lang="en-US"/>
          </a:p>
        </p:txBody>
      </p:sp>
      <p:sp>
        <p:nvSpPr>
          <p:cNvPr id="47" name="Text 45"/>
          <p:cNvSpPr/>
          <p:nvPr/>
        </p:nvSpPr>
        <p:spPr>
          <a:xfrm>
            <a:off x="8569286" y="6019800"/>
            <a:ext cx="2466975" cy="228600"/>
          </a:xfrm>
          <a:prstGeom prst="rect">
            <a:avLst/>
          </a:prstGeom>
          <a:noFill/>
          <a:ln/>
        </p:spPr>
        <p:txBody>
          <a:bodyPr wrap="square" lIns="0" tIns="0" rIns="0" bIns="0" rtlCol="0" anchor="ctr"/>
          <a:lstStyle/>
          <a:p>
            <a:pPr>
              <a:lnSpc>
                <a:spcPct val="130000"/>
              </a:lnSpc>
            </a:pPr>
            <a:r>
              <a:rPr lang="en-US" sz="1200" b="1" dirty="0">
                <a:solidFill>
                  <a:srgbClr val="E0E2E5"/>
                </a:solidFill>
                <a:latin typeface="Quattrocento Sans" pitchFamily="34" charset="0"/>
                <a:ea typeface="Quattrocento Sans" pitchFamily="34" charset="-122"/>
                <a:cs typeface="Quattrocento Sans" pitchFamily="34" charset="-120"/>
              </a:rPr>
              <a:t>Focus:</a:t>
            </a:r>
            <a:r>
              <a:rPr lang="en-US" sz="1200" dirty="0">
                <a:solidFill>
                  <a:srgbClr val="E0E2E5"/>
                </a:solidFill>
                <a:latin typeface="Quattrocento Sans" pitchFamily="34" charset="0"/>
                <a:ea typeface="Quattrocento Sans" pitchFamily="34" charset="-122"/>
                <a:cs typeface="Quattrocento Sans" pitchFamily="34" charset="-120"/>
              </a:rPr>
              <a:t> Answer one specific question</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elements-resized.envatousercontent.com/d8ccf11fdf9f09f52c30b74755becee7d4d0e003.jpg"/>
          <p:cNvPicPr>
            <a:picLocks noChangeAspect="1"/>
          </p:cNvPicPr>
          <p:nvPr/>
        </p:nvPicPr>
        <p:blipFill>
          <a:blip r:embed="rId3">
            <a:alphaModFix amt="30000"/>
          </a:blip>
          <a:srcRect l="44" r="44"/>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5000"/>
                </a:srgbClr>
              </a:gs>
              <a:gs pos="50000">
                <a:srgbClr val="1A1D21">
                  <a:alpha val="90000"/>
                </a:srgbClr>
              </a:gs>
              <a:gs pos="100000">
                <a:srgbClr val="4A9D9C">
                  <a:alpha val="30000"/>
                </a:srgbClr>
              </a:gs>
            </a:gsLst>
            <a:lin ang="2700000" scaled="1"/>
          </a:gradFill>
          <a:ln/>
        </p:spPr>
        <p:txBody>
          <a:bodyPr/>
          <a:lstStyle/>
          <a:p>
            <a:endParaRPr lang="en-US"/>
          </a:p>
        </p:txBody>
      </p:sp>
      <p:sp>
        <p:nvSpPr>
          <p:cNvPr id="4" name="Shape 1"/>
          <p:cNvSpPr/>
          <p:nvPr/>
        </p:nvSpPr>
        <p:spPr>
          <a:xfrm>
            <a:off x="5657850" y="390525"/>
            <a:ext cx="876300" cy="762000"/>
          </a:xfrm>
          <a:custGeom>
            <a:avLst/>
            <a:gdLst/>
            <a:ahLst/>
            <a:cxnLst/>
            <a:rect l="l" t="t" r="r" b="b"/>
            <a:pathLst>
              <a:path w="876300" h="762000">
                <a:moveTo>
                  <a:pt x="0" y="0"/>
                </a:moveTo>
                <a:lnTo>
                  <a:pt x="876300" y="0"/>
                </a:lnTo>
                <a:lnTo>
                  <a:pt x="876300" y="762000"/>
                </a:lnTo>
                <a:lnTo>
                  <a:pt x="0" y="762000"/>
                </a:lnTo>
                <a:lnTo>
                  <a:pt x="0" y="0"/>
                </a:lnTo>
                <a:close/>
              </a:path>
            </a:pathLst>
          </a:custGeom>
          <a:solidFill>
            <a:srgbClr val="4A9D9C"/>
          </a:solidFill>
          <a:ln/>
        </p:spPr>
        <p:txBody>
          <a:bodyPr/>
          <a:lstStyle/>
          <a:p>
            <a:endParaRPr lang="en-US"/>
          </a:p>
        </p:txBody>
      </p:sp>
      <p:sp>
        <p:nvSpPr>
          <p:cNvPr id="5" name="Shape 2"/>
          <p:cNvSpPr/>
          <p:nvPr/>
        </p:nvSpPr>
        <p:spPr>
          <a:xfrm>
            <a:off x="5867400" y="542925"/>
            <a:ext cx="457200" cy="457200"/>
          </a:xfrm>
          <a:custGeom>
            <a:avLst/>
            <a:gdLst/>
            <a:ahLst/>
            <a:cxnLst/>
            <a:rect l="l" t="t" r="r" b="b"/>
            <a:pathLst>
              <a:path w="457200" h="457200">
                <a:moveTo>
                  <a:pt x="114300" y="285750"/>
                </a:moveTo>
                <a:lnTo>
                  <a:pt x="21878" y="285750"/>
                </a:lnTo>
                <a:cubicBezTo>
                  <a:pt x="-357" y="285750"/>
                  <a:pt x="-14020" y="261551"/>
                  <a:pt x="-2590" y="242441"/>
                </a:cubicBezTo>
                <a:lnTo>
                  <a:pt x="44648" y="163681"/>
                </a:lnTo>
                <a:cubicBezTo>
                  <a:pt x="52417" y="150733"/>
                  <a:pt x="66348" y="142875"/>
                  <a:pt x="81439" y="142875"/>
                </a:cubicBezTo>
                <a:lnTo>
                  <a:pt x="166271" y="142875"/>
                </a:lnTo>
                <a:cubicBezTo>
                  <a:pt x="234226" y="27771"/>
                  <a:pt x="335578" y="21967"/>
                  <a:pt x="403354" y="31879"/>
                </a:cubicBezTo>
                <a:cubicBezTo>
                  <a:pt x="414784" y="33576"/>
                  <a:pt x="423714" y="42505"/>
                  <a:pt x="425321" y="53846"/>
                </a:cubicBezTo>
                <a:cubicBezTo>
                  <a:pt x="435233" y="121622"/>
                  <a:pt x="429429" y="222974"/>
                  <a:pt x="314325" y="290929"/>
                </a:cubicBezTo>
                <a:lnTo>
                  <a:pt x="314325" y="375761"/>
                </a:lnTo>
                <a:cubicBezTo>
                  <a:pt x="314325" y="390852"/>
                  <a:pt x="306467" y="404783"/>
                  <a:pt x="293519" y="412552"/>
                </a:cubicBezTo>
                <a:lnTo>
                  <a:pt x="214759" y="459790"/>
                </a:lnTo>
                <a:cubicBezTo>
                  <a:pt x="195739" y="471220"/>
                  <a:pt x="171450" y="457468"/>
                  <a:pt x="171450" y="435322"/>
                </a:cubicBezTo>
                <a:lnTo>
                  <a:pt x="171450" y="342900"/>
                </a:lnTo>
                <a:cubicBezTo>
                  <a:pt x="171450" y="311378"/>
                  <a:pt x="145822" y="285750"/>
                  <a:pt x="114300" y="285750"/>
                </a:cubicBezTo>
                <a:lnTo>
                  <a:pt x="114211" y="285750"/>
                </a:lnTo>
                <a:close/>
                <a:moveTo>
                  <a:pt x="357188" y="142875"/>
                </a:moveTo>
                <a:cubicBezTo>
                  <a:pt x="357188" y="119219"/>
                  <a:pt x="337981" y="100013"/>
                  <a:pt x="314325" y="100013"/>
                </a:cubicBezTo>
                <a:cubicBezTo>
                  <a:pt x="290669" y="100013"/>
                  <a:pt x="271463" y="119219"/>
                  <a:pt x="271463" y="142875"/>
                </a:cubicBezTo>
                <a:cubicBezTo>
                  <a:pt x="271463" y="166531"/>
                  <a:pt x="290669" y="185738"/>
                  <a:pt x="314325" y="185738"/>
                </a:cubicBezTo>
                <a:cubicBezTo>
                  <a:pt x="337981" y="185738"/>
                  <a:pt x="357188" y="166531"/>
                  <a:pt x="357188" y="142875"/>
                </a:cubicBezTo>
                <a:close/>
              </a:path>
            </a:pathLst>
          </a:custGeom>
          <a:solidFill>
            <a:srgbClr val="1A1D21"/>
          </a:solidFill>
          <a:ln/>
        </p:spPr>
        <p:txBody>
          <a:bodyPr/>
          <a:lstStyle/>
          <a:p>
            <a:endParaRPr lang="en-US"/>
          </a:p>
        </p:txBody>
      </p:sp>
      <p:sp>
        <p:nvSpPr>
          <p:cNvPr id="6" name="Text 3"/>
          <p:cNvSpPr/>
          <p:nvPr/>
        </p:nvSpPr>
        <p:spPr>
          <a:xfrm>
            <a:off x="1685925" y="1304925"/>
            <a:ext cx="8820150" cy="1428750"/>
          </a:xfrm>
          <a:prstGeom prst="rect">
            <a:avLst/>
          </a:prstGeom>
          <a:noFill/>
          <a:ln/>
        </p:spPr>
        <p:txBody>
          <a:bodyPr wrap="square" lIns="0" tIns="0" rIns="0" bIns="0" rtlCol="0" anchor="ctr"/>
          <a:lstStyle/>
          <a:p>
            <a:pPr algn="ctr">
              <a:lnSpc>
                <a:spcPct val="100000"/>
              </a:lnSpc>
            </a:pPr>
            <a:r>
              <a:rPr lang="en-US" sz="4500" b="1" dirty="0">
                <a:solidFill>
                  <a:srgbClr val="E0E2E5"/>
                </a:solidFill>
                <a:latin typeface="Hedvig Letters Sans" pitchFamily="34" charset="0"/>
                <a:ea typeface="Hedvig Letters Sans" pitchFamily="34" charset="-122"/>
                <a:cs typeface="Hedvig Letters Sans" pitchFamily="34" charset="-120"/>
              </a:rPr>
              <a:t>Embrace Data-Driven</a:t>
            </a:r>
            <a:endParaRPr lang="en-US" sz="1600" dirty="0"/>
          </a:p>
          <a:p>
            <a:pPr algn="ctr">
              <a:lnSpc>
                <a:spcPct val="100000"/>
              </a:lnSpc>
            </a:pPr>
            <a:r>
              <a:rPr lang="en-US" sz="4500" b="1" dirty="0">
                <a:solidFill>
                  <a:srgbClr val="E0E2E5"/>
                </a:solidFill>
                <a:latin typeface="Hedvig Letters Sans" pitchFamily="34" charset="0"/>
                <a:ea typeface="Hedvig Letters Sans" pitchFamily="34" charset="-122"/>
                <a:cs typeface="Hedvig Letters Sans" pitchFamily="34" charset="-120"/>
              </a:rPr>
              <a:t>Success</a:t>
            </a:r>
            <a:endParaRPr lang="en-US" sz="1600" dirty="0"/>
          </a:p>
        </p:txBody>
      </p:sp>
      <p:sp>
        <p:nvSpPr>
          <p:cNvPr id="7" name="Shape 4"/>
          <p:cNvSpPr/>
          <p:nvPr/>
        </p:nvSpPr>
        <p:spPr>
          <a:xfrm>
            <a:off x="5486400" y="288607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4A9D9C"/>
          </a:solidFill>
          <a:ln/>
        </p:spPr>
        <p:txBody>
          <a:bodyPr/>
          <a:lstStyle/>
          <a:p>
            <a:endParaRPr lang="en-US"/>
          </a:p>
        </p:txBody>
      </p:sp>
      <p:sp>
        <p:nvSpPr>
          <p:cNvPr id="8" name="Text 5"/>
          <p:cNvSpPr/>
          <p:nvPr/>
        </p:nvSpPr>
        <p:spPr>
          <a:xfrm>
            <a:off x="1771650" y="3152775"/>
            <a:ext cx="8648700" cy="742950"/>
          </a:xfrm>
          <a:prstGeom prst="rect">
            <a:avLst/>
          </a:prstGeom>
          <a:noFill/>
          <a:ln/>
        </p:spPr>
        <p:txBody>
          <a:bodyPr wrap="square" lIns="0" tIns="0" rIns="0" bIns="0" rtlCol="0" anchor="ctr"/>
          <a:lstStyle/>
          <a:p>
            <a:pPr algn="ctr">
              <a:lnSpc>
                <a:spcPct val="140000"/>
              </a:lnSpc>
            </a:pPr>
            <a:r>
              <a:rPr lang="en-US" sz="1800" dirty="0">
                <a:solidFill>
                  <a:srgbClr val="E0E2E5"/>
                </a:solidFill>
                <a:latin typeface="Quattrocento Sans" pitchFamily="34" charset="0"/>
                <a:ea typeface="Quattrocento Sans" pitchFamily="34" charset="-122"/>
                <a:cs typeface="Quattrocento Sans" pitchFamily="34" charset="-120"/>
              </a:rPr>
              <a:t>With the right </a:t>
            </a:r>
            <a:r>
              <a:rPr lang="en-US" sz="1800" b="1" dirty="0">
                <a:solidFill>
                  <a:srgbClr val="4A9D9C"/>
                </a:solidFill>
                <a:latin typeface="Quattrocento Sans" pitchFamily="34" charset="0"/>
                <a:ea typeface="Quattrocento Sans" pitchFamily="34" charset="-122"/>
                <a:cs typeface="Quattrocento Sans" pitchFamily="34" charset="-120"/>
              </a:rPr>
              <a:t>data management system, responsive algorithms, and appropriate analysis methods</a:t>
            </a:r>
            <a:r>
              <a:rPr lang="en-US" sz="1800" dirty="0">
                <a:solidFill>
                  <a:srgbClr val="E0E2E5"/>
                </a:solidFill>
                <a:latin typeface="Quattrocento Sans" pitchFamily="34" charset="0"/>
                <a:ea typeface="Quattrocento Sans" pitchFamily="34" charset="-122"/>
                <a:cs typeface="Quattrocento Sans" pitchFamily="34" charset="-120"/>
              </a:rPr>
              <a:t>, you can confidently explore the world of data analytics.</a:t>
            </a:r>
            <a:endParaRPr lang="en-US" sz="1600" dirty="0"/>
          </a:p>
        </p:txBody>
      </p:sp>
      <p:sp>
        <p:nvSpPr>
          <p:cNvPr id="9" name="Shape 6"/>
          <p:cNvSpPr/>
          <p:nvPr/>
        </p:nvSpPr>
        <p:spPr>
          <a:xfrm>
            <a:off x="1219200" y="4124325"/>
            <a:ext cx="2266950" cy="1428750"/>
          </a:xfrm>
          <a:custGeom>
            <a:avLst/>
            <a:gdLst/>
            <a:ahLst/>
            <a:cxnLst/>
            <a:rect l="l" t="t" r="r" b="b"/>
            <a:pathLst>
              <a:path w="2266950" h="1428750">
                <a:moveTo>
                  <a:pt x="38105" y="0"/>
                </a:moveTo>
                <a:lnTo>
                  <a:pt x="2228845" y="0"/>
                </a:lnTo>
                <a:cubicBezTo>
                  <a:pt x="2249890" y="0"/>
                  <a:pt x="2266950" y="17060"/>
                  <a:pt x="2266950" y="38105"/>
                </a:cubicBezTo>
                <a:lnTo>
                  <a:pt x="2266950" y="1390645"/>
                </a:lnTo>
                <a:cubicBezTo>
                  <a:pt x="2266950" y="1411690"/>
                  <a:pt x="2249890" y="1428750"/>
                  <a:pt x="2228845" y="1428750"/>
                </a:cubicBezTo>
                <a:lnTo>
                  <a:pt x="38105" y="1428750"/>
                </a:lnTo>
                <a:cubicBezTo>
                  <a:pt x="17060" y="1428750"/>
                  <a:pt x="0" y="1411690"/>
                  <a:pt x="0" y="1390645"/>
                </a:cubicBezTo>
                <a:lnTo>
                  <a:pt x="0" y="38105"/>
                </a:lnTo>
                <a:cubicBezTo>
                  <a:pt x="0" y="17074"/>
                  <a:pt x="17074" y="0"/>
                  <a:pt x="38105" y="0"/>
                </a:cubicBezTo>
                <a:close/>
              </a:path>
            </a:pathLst>
          </a:custGeom>
          <a:solidFill>
            <a:srgbClr val="3D4F5F"/>
          </a:solidFill>
          <a:ln/>
        </p:spPr>
        <p:txBody>
          <a:bodyPr/>
          <a:lstStyle/>
          <a:p>
            <a:endParaRPr lang="en-US"/>
          </a:p>
        </p:txBody>
      </p:sp>
      <p:sp>
        <p:nvSpPr>
          <p:cNvPr id="10" name="Shape 7"/>
          <p:cNvSpPr/>
          <p:nvPr/>
        </p:nvSpPr>
        <p:spPr>
          <a:xfrm>
            <a:off x="2212181" y="4276725"/>
            <a:ext cx="285750" cy="285750"/>
          </a:xfrm>
          <a:custGeom>
            <a:avLst/>
            <a:gdLst/>
            <a:ahLst/>
            <a:cxnLst/>
            <a:rect l="l" t="t" r="r" b="b"/>
            <a:pathLst>
              <a:path w="285750" h="285750">
                <a:moveTo>
                  <a:pt x="232172" y="116086"/>
                </a:moveTo>
                <a:cubicBezTo>
                  <a:pt x="232172" y="141703"/>
                  <a:pt x="223856" y="165367"/>
                  <a:pt x="209848" y="184565"/>
                </a:cubicBezTo>
                <a:lnTo>
                  <a:pt x="280504" y="255277"/>
                </a:lnTo>
                <a:cubicBezTo>
                  <a:pt x="287480" y="262254"/>
                  <a:pt x="287480" y="273583"/>
                  <a:pt x="280504" y="280560"/>
                </a:cubicBezTo>
                <a:cubicBezTo>
                  <a:pt x="273527" y="287536"/>
                  <a:pt x="262198" y="287536"/>
                  <a:pt x="255222" y="280560"/>
                </a:cubicBezTo>
                <a:lnTo>
                  <a:pt x="184565" y="209848"/>
                </a:lnTo>
                <a:cubicBezTo>
                  <a:pt x="165367" y="223856"/>
                  <a:pt x="141703" y="232172"/>
                  <a:pt x="116086" y="232172"/>
                </a:cubicBezTo>
                <a:cubicBezTo>
                  <a:pt x="51960" y="232172"/>
                  <a:pt x="0" y="180212"/>
                  <a:pt x="0" y="116086"/>
                </a:cubicBezTo>
                <a:cubicBezTo>
                  <a:pt x="0" y="51960"/>
                  <a:pt x="51960" y="0"/>
                  <a:pt x="116086" y="0"/>
                </a:cubicBezTo>
                <a:cubicBezTo>
                  <a:pt x="180212" y="0"/>
                  <a:pt x="232172" y="51960"/>
                  <a:pt x="232172" y="116086"/>
                </a:cubicBezTo>
                <a:close/>
                <a:moveTo>
                  <a:pt x="116086" y="62508"/>
                </a:moveTo>
                <a:cubicBezTo>
                  <a:pt x="108663" y="62508"/>
                  <a:pt x="102691" y="68480"/>
                  <a:pt x="102691" y="75902"/>
                </a:cubicBezTo>
                <a:lnTo>
                  <a:pt x="102691" y="102691"/>
                </a:lnTo>
                <a:lnTo>
                  <a:pt x="75902" y="102691"/>
                </a:lnTo>
                <a:cubicBezTo>
                  <a:pt x="68480" y="102691"/>
                  <a:pt x="62508" y="108663"/>
                  <a:pt x="62508" y="116086"/>
                </a:cubicBezTo>
                <a:cubicBezTo>
                  <a:pt x="62508" y="123509"/>
                  <a:pt x="68480" y="129480"/>
                  <a:pt x="75902" y="129480"/>
                </a:cubicBezTo>
                <a:lnTo>
                  <a:pt x="102691" y="129480"/>
                </a:lnTo>
                <a:lnTo>
                  <a:pt x="102691" y="156270"/>
                </a:lnTo>
                <a:cubicBezTo>
                  <a:pt x="102691" y="163692"/>
                  <a:pt x="108663" y="169664"/>
                  <a:pt x="116086" y="169664"/>
                </a:cubicBezTo>
                <a:cubicBezTo>
                  <a:pt x="123509" y="169664"/>
                  <a:pt x="129480" y="163692"/>
                  <a:pt x="129480" y="156270"/>
                </a:cubicBezTo>
                <a:lnTo>
                  <a:pt x="129480" y="129480"/>
                </a:lnTo>
                <a:lnTo>
                  <a:pt x="156270" y="129480"/>
                </a:lnTo>
                <a:cubicBezTo>
                  <a:pt x="163692" y="129480"/>
                  <a:pt x="169664" y="123509"/>
                  <a:pt x="169664" y="116086"/>
                </a:cubicBezTo>
                <a:cubicBezTo>
                  <a:pt x="169664" y="108663"/>
                  <a:pt x="163692" y="102691"/>
                  <a:pt x="156270" y="102691"/>
                </a:cubicBezTo>
                <a:lnTo>
                  <a:pt x="129480" y="102691"/>
                </a:lnTo>
                <a:lnTo>
                  <a:pt x="129480" y="75902"/>
                </a:lnTo>
                <a:cubicBezTo>
                  <a:pt x="129480" y="68480"/>
                  <a:pt x="123509" y="62508"/>
                  <a:pt x="116086" y="62508"/>
                </a:cubicBezTo>
                <a:close/>
              </a:path>
            </a:pathLst>
          </a:custGeom>
          <a:solidFill>
            <a:srgbClr val="4A9D9C"/>
          </a:solidFill>
          <a:ln/>
        </p:spPr>
        <p:txBody>
          <a:bodyPr/>
          <a:lstStyle/>
          <a:p>
            <a:endParaRPr lang="en-US"/>
          </a:p>
        </p:txBody>
      </p:sp>
      <p:sp>
        <p:nvSpPr>
          <p:cNvPr id="11" name="Text 8"/>
          <p:cNvSpPr/>
          <p:nvPr/>
        </p:nvSpPr>
        <p:spPr>
          <a:xfrm>
            <a:off x="1328738" y="4638675"/>
            <a:ext cx="2047875" cy="266700"/>
          </a:xfrm>
          <a:prstGeom prst="rect">
            <a:avLst/>
          </a:prstGeom>
          <a:noFill/>
          <a:ln/>
        </p:spPr>
        <p:txBody>
          <a:bodyPr wrap="square" lIns="0" tIns="0" rIns="0" bIns="0" rtlCol="0" anchor="ctr"/>
          <a:lstStyle/>
          <a:p>
            <a:pPr algn="ctr">
              <a:lnSpc>
                <a:spcPct val="130000"/>
              </a:lnSpc>
            </a:pPr>
            <a:r>
              <a:rPr lang="en-US" sz="1350" b="1" dirty="0">
                <a:solidFill>
                  <a:srgbClr val="E0E2E5"/>
                </a:solidFill>
                <a:latin typeface="Liter" pitchFamily="34" charset="0"/>
                <a:ea typeface="Liter" pitchFamily="34" charset="-122"/>
                <a:cs typeface="Liter" pitchFamily="34" charset="-120"/>
              </a:rPr>
              <a:t>Uncover Patterns</a:t>
            </a:r>
            <a:endParaRPr lang="en-US" sz="1600" dirty="0"/>
          </a:p>
        </p:txBody>
      </p:sp>
      <p:sp>
        <p:nvSpPr>
          <p:cNvPr id="12" name="Text 9"/>
          <p:cNvSpPr/>
          <p:nvPr/>
        </p:nvSpPr>
        <p:spPr>
          <a:xfrm>
            <a:off x="1333500" y="4943475"/>
            <a:ext cx="2038350" cy="228600"/>
          </a:xfrm>
          <a:prstGeom prst="rect">
            <a:avLst/>
          </a:prstGeom>
          <a:noFill/>
          <a:ln/>
        </p:spPr>
        <p:txBody>
          <a:bodyPr wrap="square" lIns="0" tIns="0" rIns="0" bIns="0" rtlCol="0" anchor="ctr"/>
          <a:lstStyle/>
          <a:p>
            <a:pPr algn="ct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Identify trends and insights</a:t>
            </a:r>
            <a:endParaRPr lang="en-US" sz="1600" dirty="0"/>
          </a:p>
        </p:txBody>
      </p:sp>
      <p:sp>
        <p:nvSpPr>
          <p:cNvPr id="13" name="Shape 10"/>
          <p:cNvSpPr/>
          <p:nvPr/>
        </p:nvSpPr>
        <p:spPr>
          <a:xfrm>
            <a:off x="3714750" y="4124325"/>
            <a:ext cx="2266950" cy="1428750"/>
          </a:xfrm>
          <a:custGeom>
            <a:avLst/>
            <a:gdLst/>
            <a:ahLst/>
            <a:cxnLst/>
            <a:rect l="l" t="t" r="r" b="b"/>
            <a:pathLst>
              <a:path w="2266950" h="1428750">
                <a:moveTo>
                  <a:pt x="38105" y="0"/>
                </a:moveTo>
                <a:lnTo>
                  <a:pt x="2228845" y="0"/>
                </a:lnTo>
                <a:cubicBezTo>
                  <a:pt x="2249890" y="0"/>
                  <a:pt x="2266950" y="17060"/>
                  <a:pt x="2266950" y="38105"/>
                </a:cubicBezTo>
                <a:lnTo>
                  <a:pt x="2266950" y="1390645"/>
                </a:lnTo>
                <a:cubicBezTo>
                  <a:pt x="2266950" y="1411690"/>
                  <a:pt x="2249890" y="1428750"/>
                  <a:pt x="2228845" y="1428750"/>
                </a:cubicBezTo>
                <a:lnTo>
                  <a:pt x="38105" y="1428750"/>
                </a:lnTo>
                <a:cubicBezTo>
                  <a:pt x="17060" y="1428750"/>
                  <a:pt x="0" y="1411690"/>
                  <a:pt x="0" y="1390645"/>
                </a:cubicBezTo>
                <a:lnTo>
                  <a:pt x="0" y="38105"/>
                </a:lnTo>
                <a:cubicBezTo>
                  <a:pt x="0" y="17074"/>
                  <a:pt x="17074" y="0"/>
                  <a:pt x="38105" y="0"/>
                </a:cubicBezTo>
                <a:close/>
              </a:path>
            </a:pathLst>
          </a:custGeom>
          <a:solidFill>
            <a:srgbClr val="3D4F5F"/>
          </a:solidFill>
          <a:ln/>
        </p:spPr>
        <p:txBody>
          <a:bodyPr/>
          <a:lstStyle/>
          <a:p>
            <a:endParaRPr lang="en-US"/>
          </a:p>
        </p:txBody>
      </p:sp>
      <p:sp>
        <p:nvSpPr>
          <p:cNvPr id="14" name="Shape 11"/>
          <p:cNvSpPr/>
          <p:nvPr/>
        </p:nvSpPr>
        <p:spPr>
          <a:xfrm>
            <a:off x="4743450" y="4276725"/>
            <a:ext cx="214313" cy="285750"/>
          </a:xfrm>
          <a:custGeom>
            <a:avLst/>
            <a:gdLst/>
            <a:ahLst/>
            <a:cxnLst/>
            <a:rect l="l" t="t" r="r" b="b"/>
            <a:pathLst>
              <a:path w="214313" h="285750">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4A9D9C"/>
          </a:solidFill>
          <a:ln/>
        </p:spPr>
        <p:txBody>
          <a:bodyPr/>
          <a:lstStyle/>
          <a:p>
            <a:endParaRPr lang="en-US"/>
          </a:p>
        </p:txBody>
      </p:sp>
      <p:sp>
        <p:nvSpPr>
          <p:cNvPr id="15" name="Text 12"/>
          <p:cNvSpPr/>
          <p:nvPr/>
        </p:nvSpPr>
        <p:spPr>
          <a:xfrm>
            <a:off x="3824288" y="4638675"/>
            <a:ext cx="2047875" cy="266700"/>
          </a:xfrm>
          <a:prstGeom prst="rect">
            <a:avLst/>
          </a:prstGeom>
          <a:noFill/>
          <a:ln/>
        </p:spPr>
        <p:txBody>
          <a:bodyPr wrap="square" lIns="0" tIns="0" rIns="0" bIns="0" rtlCol="0" anchor="ctr"/>
          <a:lstStyle/>
          <a:p>
            <a:pPr algn="ctr">
              <a:lnSpc>
                <a:spcPct val="130000"/>
              </a:lnSpc>
            </a:pPr>
            <a:r>
              <a:rPr lang="en-US" sz="1350" b="1" dirty="0">
                <a:solidFill>
                  <a:srgbClr val="E0E2E5"/>
                </a:solidFill>
                <a:latin typeface="Liter" pitchFamily="34" charset="0"/>
                <a:ea typeface="Liter" pitchFamily="34" charset="-122"/>
                <a:cs typeface="Liter" pitchFamily="34" charset="-120"/>
              </a:rPr>
              <a:t>Informed Decisions</a:t>
            </a:r>
            <a:endParaRPr lang="en-US" sz="1600" dirty="0"/>
          </a:p>
        </p:txBody>
      </p:sp>
      <p:sp>
        <p:nvSpPr>
          <p:cNvPr id="16" name="Text 13"/>
          <p:cNvSpPr/>
          <p:nvPr/>
        </p:nvSpPr>
        <p:spPr>
          <a:xfrm>
            <a:off x="3829050" y="4943475"/>
            <a:ext cx="2038350" cy="457200"/>
          </a:xfrm>
          <a:prstGeom prst="rect">
            <a:avLst/>
          </a:prstGeom>
          <a:noFill/>
          <a:ln/>
        </p:spPr>
        <p:txBody>
          <a:bodyPr wrap="square" lIns="0" tIns="0" rIns="0" bIns="0" rtlCol="0" anchor="ctr"/>
          <a:lstStyle/>
          <a:p>
            <a:pPr algn="ct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Make better choices with data</a:t>
            </a:r>
            <a:endParaRPr lang="en-US" sz="1600" dirty="0"/>
          </a:p>
        </p:txBody>
      </p:sp>
      <p:sp>
        <p:nvSpPr>
          <p:cNvPr id="17" name="Shape 14"/>
          <p:cNvSpPr/>
          <p:nvPr/>
        </p:nvSpPr>
        <p:spPr>
          <a:xfrm>
            <a:off x="6210300" y="4124325"/>
            <a:ext cx="2266950" cy="1428750"/>
          </a:xfrm>
          <a:custGeom>
            <a:avLst/>
            <a:gdLst/>
            <a:ahLst/>
            <a:cxnLst/>
            <a:rect l="l" t="t" r="r" b="b"/>
            <a:pathLst>
              <a:path w="2266950" h="1428750">
                <a:moveTo>
                  <a:pt x="38105" y="0"/>
                </a:moveTo>
                <a:lnTo>
                  <a:pt x="2228845" y="0"/>
                </a:lnTo>
                <a:cubicBezTo>
                  <a:pt x="2249890" y="0"/>
                  <a:pt x="2266950" y="17060"/>
                  <a:pt x="2266950" y="38105"/>
                </a:cubicBezTo>
                <a:lnTo>
                  <a:pt x="2266950" y="1390645"/>
                </a:lnTo>
                <a:cubicBezTo>
                  <a:pt x="2266950" y="1411690"/>
                  <a:pt x="2249890" y="1428750"/>
                  <a:pt x="2228845" y="1428750"/>
                </a:cubicBezTo>
                <a:lnTo>
                  <a:pt x="38105" y="1428750"/>
                </a:lnTo>
                <a:cubicBezTo>
                  <a:pt x="17060" y="1428750"/>
                  <a:pt x="0" y="1411690"/>
                  <a:pt x="0" y="1390645"/>
                </a:cubicBezTo>
                <a:lnTo>
                  <a:pt x="0" y="38105"/>
                </a:lnTo>
                <a:cubicBezTo>
                  <a:pt x="0" y="17074"/>
                  <a:pt x="17074" y="0"/>
                  <a:pt x="38105" y="0"/>
                </a:cubicBezTo>
                <a:close/>
              </a:path>
            </a:pathLst>
          </a:custGeom>
          <a:solidFill>
            <a:srgbClr val="3D4F5F"/>
          </a:solidFill>
          <a:ln/>
        </p:spPr>
        <p:txBody>
          <a:bodyPr/>
          <a:lstStyle/>
          <a:p>
            <a:endParaRPr lang="en-US"/>
          </a:p>
        </p:txBody>
      </p:sp>
      <p:sp>
        <p:nvSpPr>
          <p:cNvPr id="18" name="Shape 15"/>
          <p:cNvSpPr/>
          <p:nvPr/>
        </p:nvSpPr>
        <p:spPr>
          <a:xfrm>
            <a:off x="7203281" y="4276725"/>
            <a:ext cx="285750" cy="285750"/>
          </a:xfrm>
          <a:custGeom>
            <a:avLst/>
            <a:gdLst/>
            <a:ahLst/>
            <a:cxnLst/>
            <a:rect l="l" t="t" r="r" b="b"/>
            <a:pathLst>
              <a:path w="285750" h="285750">
                <a:moveTo>
                  <a:pt x="142875" y="0"/>
                </a:moveTo>
                <a:cubicBezTo>
                  <a:pt x="145442" y="0"/>
                  <a:pt x="148010" y="558"/>
                  <a:pt x="150354" y="1619"/>
                </a:cubicBezTo>
                <a:lnTo>
                  <a:pt x="255501" y="46211"/>
                </a:lnTo>
                <a:cubicBezTo>
                  <a:pt x="267779" y="51402"/>
                  <a:pt x="276932" y="63512"/>
                  <a:pt x="276876" y="78135"/>
                </a:cubicBezTo>
                <a:cubicBezTo>
                  <a:pt x="276597" y="133499"/>
                  <a:pt x="253826" y="234795"/>
                  <a:pt x="157665" y="280839"/>
                </a:cubicBezTo>
                <a:cubicBezTo>
                  <a:pt x="148344" y="285304"/>
                  <a:pt x="137517" y="285304"/>
                  <a:pt x="128197" y="280839"/>
                </a:cubicBezTo>
                <a:cubicBezTo>
                  <a:pt x="31979" y="234795"/>
                  <a:pt x="9265" y="133499"/>
                  <a:pt x="8985" y="78135"/>
                </a:cubicBezTo>
                <a:cubicBezTo>
                  <a:pt x="8930" y="63512"/>
                  <a:pt x="18083" y="51402"/>
                  <a:pt x="30361" y="46211"/>
                </a:cubicBezTo>
                <a:lnTo>
                  <a:pt x="135452" y="1619"/>
                </a:lnTo>
                <a:cubicBezTo>
                  <a:pt x="137796" y="558"/>
                  <a:pt x="140308" y="0"/>
                  <a:pt x="142875" y="0"/>
                </a:cubicBezTo>
                <a:close/>
                <a:moveTo>
                  <a:pt x="142875" y="37281"/>
                </a:moveTo>
                <a:lnTo>
                  <a:pt x="142875" y="248301"/>
                </a:lnTo>
                <a:cubicBezTo>
                  <a:pt x="219894" y="211020"/>
                  <a:pt x="240599" y="128420"/>
                  <a:pt x="241102" y="78972"/>
                </a:cubicBezTo>
                <a:lnTo>
                  <a:pt x="142875" y="37337"/>
                </a:lnTo>
                <a:lnTo>
                  <a:pt x="142875" y="37337"/>
                </a:lnTo>
                <a:close/>
              </a:path>
            </a:pathLst>
          </a:custGeom>
          <a:solidFill>
            <a:srgbClr val="4A9D9C"/>
          </a:solidFill>
          <a:ln/>
        </p:spPr>
        <p:txBody>
          <a:bodyPr/>
          <a:lstStyle/>
          <a:p>
            <a:endParaRPr lang="en-US"/>
          </a:p>
        </p:txBody>
      </p:sp>
      <p:sp>
        <p:nvSpPr>
          <p:cNvPr id="19" name="Text 16"/>
          <p:cNvSpPr/>
          <p:nvPr/>
        </p:nvSpPr>
        <p:spPr>
          <a:xfrm>
            <a:off x="6319838" y="4638675"/>
            <a:ext cx="2047875" cy="266700"/>
          </a:xfrm>
          <a:prstGeom prst="rect">
            <a:avLst/>
          </a:prstGeom>
          <a:noFill/>
          <a:ln/>
        </p:spPr>
        <p:txBody>
          <a:bodyPr wrap="square" lIns="0" tIns="0" rIns="0" bIns="0" rtlCol="0" anchor="ctr"/>
          <a:lstStyle/>
          <a:p>
            <a:pPr algn="ctr">
              <a:lnSpc>
                <a:spcPct val="130000"/>
              </a:lnSpc>
            </a:pPr>
            <a:r>
              <a:rPr lang="en-US" sz="1350" b="1" dirty="0">
                <a:solidFill>
                  <a:srgbClr val="E0E2E5"/>
                </a:solidFill>
                <a:latin typeface="Liter" pitchFamily="34" charset="0"/>
                <a:ea typeface="Liter" pitchFamily="34" charset="-122"/>
                <a:cs typeface="Liter" pitchFamily="34" charset="-120"/>
              </a:rPr>
              <a:t>Reduce Risks</a:t>
            </a:r>
            <a:endParaRPr lang="en-US" sz="1600" dirty="0"/>
          </a:p>
        </p:txBody>
      </p:sp>
      <p:sp>
        <p:nvSpPr>
          <p:cNvPr id="20" name="Text 17"/>
          <p:cNvSpPr/>
          <p:nvPr/>
        </p:nvSpPr>
        <p:spPr>
          <a:xfrm>
            <a:off x="6324600" y="4943475"/>
            <a:ext cx="2038350" cy="228600"/>
          </a:xfrm>
          <a:prstGeom prst="rect">
            <a:avLst/>
          </a:prstGeom>
          <a:noFill/>
          <a:ln/>
        </p:spPr>
        <p:txBody>
          <a:bodyPr wrap="square" lIns="0" tIns="0" rIns="0" bIns="0" rtlCol="0" anchor="ctr"/>
          <a:lstStyle/>
          <a:p>
            <a:pPr algn="ct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Minimize uncertainty</a:t>
            </a:r>
            <a:endParaRPr lang="en-US" sz="1600" dirty="0"/>
          </a:p>
        </p:txBody>
      </p:sp>
      <p:sp>
        <p:nvSpPr>
          <p:cNvPr id="21" name="Shape 18"/>
          <p:cNvSpPr/>
          <p:nvPr/>
        </p:nvSpPr>
        <p:spPr>
          <a:xfrm>
            <a:off x="8705850" y="4124325"/>
            <a:ext cx="2266950" cy="1428750"/>
          </a:xfrm>
          <a:custGeom>
            <a:avLst/>
            <a:gdLst/>
            <a:ahLst/>
            <a:cxnLst/>
            <a:rect l="l" t="t" r="r" b="b"/>
            <a:pathLst>
              <a:path w="2266950" h="1428750">
                <a:moveTo>
                  <a:pt x="38105" y="0"/>
                </a:moveTo>
                <a:lnTo>
                  <a:pt x="2228845" y="0"/>
                </a:lnTo>
                <a:cubicBezTo>
                  <a:pt x="2249890" y="0"/>
                  <a:pt x="2266950" y="17060"/>
                  <a:pt x="2266950" y="38105"/>
                </a:cubicBezTo>
                <a:lnTo>
                  <a:pt x="2266950" y="1390645"/>
                </a:lnTo>
                <a:cubicBezTo>
                  <a:pt x="2266950" y="1411690"/>
                  <a:pt x="2249890" y="1428750"/>
                  <a:pt x="2228845" y="1428750"/>
                </a:cubicBezTo>
                <a:lnTo>
                  <a:pt x="38105" y="1428750"/>
                </a:lnTo>
                <a:cubicBezTo>
                  <a:pt x="17060" y="1428750"/>
                  <a:pt x="0" y="1411690"/>
                  <a:pt x="0" y="1390645"/>
                </a:cubicBezTo>
                <a:lnTo>
                  <a:pt x="0" y="38105"/>
                </a:lnTo>
                <a:cubicBezTo>
                  <a:pt x="0" y="17074"/>
                  <a:pt x="17074" y="0"/>
                  <a:pt x="38105" y="0"/>
                </a:cubicBezTo>
                <a:close/>
              </a:path>
            </a:pathLst>
          </a:custGeom>
          <a:solidFill>
            <a:srgbClr val="3D4F5F"/>
          </a:solidFill>
          <a:ln/>
        </p:spPr>
        <p:txBody>
          <a:bodyPr/>
          <a:lstStyle/>
          <a:p>
            <a:endParaRPr lang="en-US"/>
          </a:p>
        </p:txBody>
      </p:sp>
      <p:sp>
        <p:nvSpPr>
          <p:cNvPr id="22" name="Shape 19"/>
          <p:cNvSpPr/>
          <p:nvPr/>
        </p:nvSpPr>
        <p:spPr>
          <a:xfrm>
            <a:off x="9698831" y="4276725"/>
            <a:ext cx="285750" cy="285750"/>
          </a:xfrm>
          <a:custGeom>
            <a:avLst/>
            <a:gdLst/>
            <a:ahLst/>
            <a:cxnLst/>
            <a:rect l="l" t="t" r="r" b="b"/>
            <a:pathLst>
              <a:path w="285750" h="285750">
                <a:moveTo>
                  <a:pt x="134503" y="48611"/>
                </a:moveTo>
                <a:lnTo>
                  <a:pt x="142875" y="60164"/>
                </a:lnTo>
                <a:lnTo>
                  <a:pt x="151247" y="48611"/>
                </a:lnTo>
                <a:cubicBezTo>
                  <a:pt x="165199" y="29301"/>
                  <a:pt x="187635" y="17859"/>
                  <a:pt x="211466" y="17859"/>
                </a:cubicBezTo>
                <a:cubicBezTo>
                  <a:pt x="252487" y="17859"/>
                  <a:pt x="285750" y="51122"/>
                  <a:pt x="285750" y="92143"/>
                </a:cubicBezTo>
                <a:lnTo>
                  <a:pt x="285750" y="93594"/>
                </a:lnTo>
                <a:cubicBezTo>
                  <a:pt x="285750" y="156214"/>
                  <a:pt x="207671" y="228935"/>
                  <a:pt x="166929" y="260021"/>
                </a:cubicBezTo>
                <a:cubicBezTo>
                  <a:pt x="160009" y="265268"/>
                  <a:pt x="151526" y="267891"/>
                  <a:pt x="142875" y="267891"/>
                </a:cubicBezTo>
                <a:cubicBezTo>
                  <a:pt x="134224" y="267891"/>
                  <a:pt x="125685" y="265323"/>
                  <a:pt x="118821" y="260021"/>
                </a:cubicBezTo>
                <a:cubicBezTo>
                  <a:pt x="78079" y="228935"/>
                  <a:pt x="0" y="156214"/>
                  <a:pt x="0" y="93594"/>
                </a:cubicBezTo>
                <a:lnTo>
                  <a:pt x="0" y="92143"/>
                </a:lnTo>
                <a:cubicBezTo>
                  <a:pt x="0" y="51122"/>
                  <a:pt x="33263" y="17859"/>
                  <a:pt x="74284" y="17859"/>
                </a:cubicBezTo>
                <a:cubicBezTo>
                  <a:pt x="98115" y="17859"/>
                  <a:pt x="120551" y="29301"/>
                  <a:pt x="134503" y="48611"/>
                </a:cubicBezTo>
                <a:close/>
              </a:path>
            </a:pathLst>
          </a:custGeom>
          <a:solidFill>
            <a:srgbClr val="4A9D9C"/>
          </a:solidFill>
          <a:ln/>
        </p:spPr>
        <p:txBody>
          <a:bodyPr/>
          <a:lstStyle/>
          <a:p>
            <a:endParaRPr lang="en-US"/>
          </a:p>
        </p:txBody>
      </p:sp>
      <p:sp>
        <p:nvSpPr>
          <p:cNvPr id="23" name="Text 20"/>
          <p:cNvSpPr/>
          <p:nvPr/>
        </p:nvSpPr>
        <p:spPr>
          <a:xfrm>
            <a:off x="8815388" y="4638675"/>
            <a:ext cx="2047875" cy="266700"/>
          </a:xfrm>
          <a:prstGeom prst="rect">
            <a:avLst/>
          </a:prstGeom>
          <a:noFill/>
          <a:ln/>
        </p:spPr>
        <p:txBody>
          <a:bodyPr wrap="square" lIns="0" tIns="0" rIns="0" bIns="0" rtlCol="0" anchor="ctr"/>
          <a:lstStyle/>
          <a:p>
            <a:pPr algn="ctr">
              <a:lnSpc>
                <a:spcPct val="130000"/>
              </a:lnSpc>
            </a:pPr>
            <a:r>
              <a:rPr lang="en-US" sz="1350" b="1" dirty="0">
                <a:solidFill>
                  <a:srgbClr val="E0E2E5"/>
                </a:solidFill>
                <a:latin typeface="Liter" pitchFamily="34" charset="0"/>
                <a:ea typeface="Liter" pitchFamily="34" charset="-122"/>
                <a:cs typeface="Liter" pitchFamily="34" charset="-120"/>
              </a:rPr>
              <a:t>Enhance Experience</a:t>
            </a:r>
            <a:endParaRPr lang="en-US" sz="1600" dirty="0"/>
          </a:p>
        </p:txBody>
      </p:sp>
      <p:sp>
        <p:nvSpPr>
          <p:cNvPr id="24" name="Text 21"/>
          <p:cNvSpPr/>
          <p:nvPr/>
        </p:nvSpPr>
        <p:spPr>
          <a:xfrm>
            <a:off x="8820150" y="4943475"/>
            <a:ext cx="2038350" cy="457200"/>
          </a:xfrm>
          <a:prstGeom prst="rect">
            <a:avLst/>
          </a:prstGeom>
          <a:noFill/>
          <a:ln/>
        </p:spPr>
        <p:txBody>
          <a:bodyPr wrap="square" lIns="0" tIns="0" rIns="0" bIns="0" rtlCol="0" anchor="ctr"/>
          <a:lstStyle/>
          <a:p>
            <a:pPr algn="ctr">
              <a:lnSpc>
                <a:spcPct val="130000"/>
              </a:lnSpc>
            </a:pPr>
            <a:r>
              <a:rPr lang="en-US" sz="1200" dirty="0">
                <a:solidFill>
                  <a:srgbClr val="6B7B83"/>
                </a:solidFill>
                <a:latin typeface="Quattrocento Sans" pitchFamily="34" charset="0"/>
                <a:ea typeface="Quattrocento Sans" pitchFamily="34" charset="-122"/>
                <a:cs typeface="Quattrocento Sans" pitchFamily="34" charset="-120"/>
              </a:rPr>
              <a:t>Improve customer satisfaction</a:t>
            </a:r>
            <a:endParaRPr lang="en-US" sz="1600" dirty="0"/>
          </a:p>
        </p:txBody>
      </p:sp>
      <p:sp>
        <p:nvSpPr>
          <p:cNvPr id="25" name="Shape 22"/>
          <p:cNvSpPr/>
          <p:nvPr/>
        </p:nvSpPr>
        <p:spPr>
          <a:xfrm>
            <a:off x="3339822" y="5857875"/>
            <a:ext cx="5514975" cy="609600"/>
          </a:xfrm>
          <a:custGeom>
            <a:avLst/>
            <a:gdLst/>
            <a:ahLst/>
            <a:cxnLst/>
            <a:rect l="l" t="t" r="r" b="b"/>
            <a:pathLst>
              <a:path w="5514975" h="609600">
                <a:moveTo>
                  <a:pt x="38100" y="0"/>
                </a:moveTo>
                <a:lnTo>
                  <a:pt x="5476875" y="0"/>
                </a:lnTo>
                <a:cubicBezTo>
                  <a:pt x="5497903" y="0"/>
                  <a:pt x="5514975" y="17072"/>
                  <a:pt x="5514975" y="38100"/>
                </a:cubicBezTo>
                <a:lnTo>
                  <a:pt x="5514975" y="571500"/>
                </a:lnTo>
                <a:cubicBezTo>
                  <a:pt x="5514975" y="592528"/>
                  <a:pt x="5497903" y="609600"/>
                  <a:pt x="5476875" y="609600"/>
                </a:cubicBezTo>
                <a:lnTo>
                  <a:pt x="38100" y="609600"/>
                </a:lnTo>
                <a:cubicBezTo>
                  <a:pt x="17072" y="609600"/>
                  <a:pt x="0" y="592528"/>
                  <a:pt x="0" y="571500"/>
                </a:cubicBezTo>
                <a:lnTo>
                  <a:pt x="0" y="38100"/>
                </a:lnTo>
                <a:cubicBezTo>
                  <a:pt x="0" y="17072"/>
                  <a:pt x="17072" y="0"/>
                  <a:pt x="38100" y="0"/>
                </a:cubicBezTo>
                <a:close/>
              </a:path>
            </a:pathLst>
          </a:custGeom>
          <a:solidFill>
            <a:srgbClr val="4A9D9C"/>
          </a:solidFill>
          <a:ln/>
        </p:spPr>
        <p:txBody>
          <a:bodyPr/>
          <a:lstStyle/>
          <a:p>
            <a:endParaRPr lang="en-US"/>
          </a:p>
        </p:txBody>
      </p:sp>
      <p:sp>
        <p:nvSpPr>
          <p:cNvPr id="26" name="Shape 23"/>
          <p:cNvSpPr/>
          <p:nvPr/>
        </p:nvSpPr>
        <p:spPr>
          <a:xfrm>
            <a:off x="3673197" y="6033139"/>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1A1D21"/>
          </a:solidFill>
          <a:ln/>
        </p:spPr>
        <p:txBody>
          <a:bodyPr/>
          <a:lstStyle/>
          <a:p>
            <a:endParaRPr lang="en-US"/>
          </a:p>
        </p:txBody>
      </p:sp>
      <p:sp>
        <p:nvSpPr>
          <p:cNvPr id="27" name="Text 24"/>
          <p:cNvSpPr/>
          <p:nvPr/>
        </p:nvSpPr>
        <p:spPr>
          <a:xfrm>
            <a:off x="3958947" y="6010275"/>
            <a:ext cx="4648200" cy="3048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Quattrocento Sans" pitchFamily="34" charset="0"/>
                <a:ea typeface="Quattrocento Sans" pitchFamily="34" charset="-122"/>
                <a:cs typeface="Quattrocento Sans" pitchFamily="34" charset="-120"/>
              </a:rPr>
              <a:t>The future belongs to data-driven businesses</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1623</Words>
  <Application>Microsoft Office PowerPoint</Application>
  <PresentationFormat>Widescreen</PresentationFormat>
  <Paragraphs>207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Quattrocento Sans</vt:lpstr>
      <vt:lpstr>Arial</vt:lpstr>
      <vt:lpstr>Liter</vt:lpstr>
      <vt:lpstr>Hedvig Letters 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Analytics</dc:title>
  <dc:subject>Introduction to Data Analytics</dc:subject>
  <dc:creator>Kimi</dc:creator>
  <cp:lastModifiedBy>Mohammad  Naser</cp:lastModifiedBy>
  <cp:revision>2</cp:revision>
  <dcterms:created xsi:type="dcterms:W3CDTF">2026-01-09T11:34:30Z</dcterms:created>
  <dcterms:modified xsi:type="dcterms:W3CDTF">2026-01-09T11:35:52Z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{"Label":"Introduction to Data Analytics","ContentProducer":"001191110108MACG2KBH8F10000","ProduceID":"19ba2861-4322-895b-8000-0000614a2fc3","ReservedCode1":"","ContentPropagator":"001191110108MACG2KBH8F20000","PropagateID":"19ba2861-4322-895b-8000-0000614a2fc3","ReservedCode2":""}</vt:lpwstr>
  </property>
</Properties>
</file>